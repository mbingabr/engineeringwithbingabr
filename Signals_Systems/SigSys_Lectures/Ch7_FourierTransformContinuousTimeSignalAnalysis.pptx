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258" r:id="rId4"/>
    <p:sldId id="261" r:id="rId5"/>
    <p:sldId id="263" r:id="rId6"/>
    <p:sldId id="28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90" r:id="rId15"/>
    <p:sldId id="291" r:id="rId16"/>
    <p:sldId id="275" r:id="rId17"/>
    <p:sldId id="276" r:id="rId18"/>
    <p:sldId id="277" r:id="rId19"/>
    <p:sldId id="292" r:id="rId20"/>
    <p:sldId id="281" r:id="rId21"/>
    <p:sldId id="311" r:id="rId22"/>
    <p:sldId id="299" r:id="rId23"/>
    <p:sldId id="293" r:id="rId24"/>
    <p:sldId id="285" r:id="rId25"/>
    <p:sldId id="286" r:id="rId26"/>
    <p:sldId id="283" r:id="rId27"/>
    <p:sldId id="280" r:id="rId28"/>
    <p:sldId id="289" r:id="rId29"/>
    <p:sldId id="295" r:id="rId30"/>
    <p:sldId id="298" r:id="rId31"/>
    <p:sldId id="296" r:id="rId32"/>
    <p:sldId id="310" r:id="rId33"/>
  </p:sldIdLst>
  <p:sldSz cx="9144000" cy="6858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50021"/>
    <a:srgbClr val="CC0000"/>
    <a:srgbClr val="FF0000"/>
    <a:srgbClr val="FBFDA1"/>
    <a:srgbClr val="84F874"/>
    <a:srgbClr val="55A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18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Bingabr" userId="00864009-1172-4536-93d5-4dbe32f81f3e" providerId="ADAL" clId="{C5338201-1EF9-4D34-8BBC-C20583EC9415}"/>
  </pc:docChgLst>
  <pc:docChgLst>
    <pc:chgData name="Mohamed Bingabr" userId="00864009-1172-4536-93d5-4dbe32f81f3e" providerId="ADAL" clId="{E3B5B0B5-53CC-4D5F-BEFD-B102D22F2B88}"/>
  </pc:docChgLst>
  <pc:docChgLst>
    <pc:chgData name="Mohamed Bingabr" userId="00864009-1172-4536-93d5-4dbe32f81f3e" providerId="ADAL" clId="{4CE41190-4A8F-485D-B201-301EE2E8B607}"/>
    <pc:docChg chg="custSel delSld modSld">
      <pc:chgData name="Mohamed Bingabr" userId="00864009-1172-4536-93d5-4dbe32f81f3e" providerId="ADAL" clId="{4CE41190-4A8F-485D-B201-301EE2E8B607}" dt="2022-04-25T05:22:27.808" v="271" actId="255"/>
      <pc:docMkLst>
        <pc:docMk/>
      </pc:docMkLst>
      <pc:sldChg chg="addSp modSp mod">
        <pc:chgData name="Mohamed Bingabr" userId="00864009-1172-4536-93d5-4dbe32f81f3e" providerId="ADAL" clId="{4CE41190-4A8F-485D-B201-301EE2E8B607}" dt="2022-04-25T05:22:27.808" v="271" actId="255"/>
        <pc:sldMkLst>
          <pc:docMk/>
          <pc:sldMk cId="0" sldId="280"/>
        </pc:sldMkLst>
        <pc:spChg chg="mod">
          <ac:chgData name="Mohamed Bingabr" userId="00864009-1172-4536-93d5-4dbe32f81f3e" providerId="ADAL" clId="{4CE41190-4A8F-485D-B201-301EE2E8B607}" dt="2022-04-25T05:22:27.808" v="271" actId="255"/>
          <ac:spMkLst>
            <pc:docMk/>
            <pc:sldMk cId="0" sldId="280"/>
            <ac:spMk id="28679" creationId="{00000000-0000-0000-0000-000000000000}"/>
          </ac:spMkLst>
        </pc:spChg>
        <pc:graphicFrameChg chg="mod">
          <ac:chgData name="Mohamed Bingabr" userId="00864009-1172-4536-93d5-4dbe32f81f3e" providerId="ADAL" clId="{4CE41190-4A8F-485D-B201-301EE2E8B607}" dt="2022-04-25T05:22:09.994" v="268" actId="14100"/>
          <ac:graphicFrameMkLst>
            <pc:docMk/>
            <pc:sldMk cId="0" sldId="280"/>
            <ac:graphicFrameMk id="28676" creationId="{00000000-0000-0000-0000-000000000000}"/>
          </ac:graphicFrameMkLst>
        </pc:graphicFrameChg>
        <pc:picChg chg="add mod">
          <ac:chgData name="Mohamed Bingabr" userId="00864009-1172-4536-93d5-4dbe32f81f3e" providerId="ADAL" clId="{4CE41190-4A8F-485D-B201-301EE2E8B607}" dt="2022-04-25T05:21:04.272" v="265" actId="14100"/>
          <ac:picMkLst>
            <pc:docMk/>
            <pc:sldMk cId="0" sldId="280"/>
            <ac:picMk id="3" creationId="{EBFB04F0-1217-40E6-B1F3-47734148BC7A}"/>
          </ac:picMkLst>
        </pc:picChg>
      </pc:sldChg>
      <pc:sldChg chg="addSp delSp modSp mod">
        <pc:chgData name="Mohamed Bingabr" userId="00864009-1172-4536-93d5-4dbe32f81f3e" providerId="ADAL" clId="{4CE41190-4A8F-485D-B201-301EE2E8B607}" dt="2022-04-25T05:07:31.952" v="144" actId="20577"/>
        <pc:sldMkLst>
          <pc:docMk/>
          <pc:sldMk cId="0" sldId="285"/>
        </pc:sldMkLst>
        <pc:spChg chg="add mod">
          <ac:chgData name="Mohamed Bingabr" userId="00864009-1172-4536-93d5-4dbe32f81f3e" providerId="ADAL" clId="{4CE41190-4A8F-485D-B201-301EE2E8B607}" dt="2022-04-25T05:07:31.952" v="144" actId="20577"/>
          <ac:spMkLst>
            <pc:docMk/>
            <pc:sldMk cId="0" sldId="285"/>
            <ac:spMk id="8" creationId="{59F3431C-956A-4796-B3D2-2EF3C3072E46}"/>
          </ac:spMkLst>
        </pc:spChg>
        <pc:spChg chg="add mod">
          <ac:chgData name="Mohamed Bingabr" userId="00864009-1172-4536-93d5-4dbe32f81f3e" providerId="ADAL" clId="{4CE41190-4A8F-485D-B201-301EE2E8B607}" dt="2022-04-25T05:06:52.055" v="141" actId="1076"/>
          <ac:spMkLst>
            <pc:docMk/>
            <pc:sldMk cId="0" sldId="285"/>
            <ac:spMk id="13" creationId="{18706BD8-EC7C-4F46-BF9C-95033DB11BF0}"/>
          </ac:spMkLst>
        </pc:spChg>
        <pc:spChg chg="del mod">
          <ac:chgData name="Mohamed Bingabr" userId="00864009-1172-4536-93d5-4dbe32f81f3e" providerId="ADAL" clId="{4CE41190-4A8F-485D-B201-301EE2E8B607}" dt="2022-04-25T05:06:17.256" v="138" actId="478"/>
          <ac:spMkLst>
            <pc:docMk/>
            <pc:sldMk cId="0" sldId="285"/>
            <ac:spMk id="25609" creationId="{00000000-0000-0000-0000-000000000000}"/>
          </ac:spMkLst>
        </pc:spChg>
        <pc:spChg chg="mod">
          <ac:chgData name="Mohamed Bingabr" userId="00864009-1172-4536-93d5-4dbe32f81f3e" providerId="ADAL" clId="{4CE41190-4A8F-485D-B201-301EE2E8B607}" dt="2022-04-25T05:06:30.129" v="139" actId="1076"/>
          <ac:spMkLst>
            <pc:docMk/>
            <pc:sldMk cId="0" sldId="285"/>
            <ac:spMk id="34822" creationId="{00000000-0000-0000-0000-000000000000}"/>
          </ac:spMkLst>
        </pc:spChg>
        <pc:spChg chg="del">
          <ac:chgData name="Mohamed Bingabr" userId="00864009-1172-4536-93d5-4dbe32f81f3e" providerId="ADAL" clId="{4CE41190-4A8F-485D-B201-301EE2E8B607}" dt="2022-04-22T03:21:29.813" v="116" actId="478"/>
          <ac:spMkLst>
            <pc:docMk/>
            <pc:sldMk cId="0" sldId="285"/>
            <ac:spMk id="34825" creationId="{00000000-0000-0000-0000-000000000000}"/>
          </ac:spMkLst>
        </pc:spChg>
        <pc:graphicFrameChg chg="add mod">
          <ac:chgData name="Mohamed Bingabr" userId="00864009-1172-4536-93d5-4dbe32f81f3e" providerId="ADAL" clId="{4CE41190-4A8F-485D-B201-301EE2E8B607}" dt="2022-04-25T05:06:52.055" v="141" actId="1076"/>
          <ac:graphicFrameMkLst>
            <pc:docMk/>
            <pc:sldMk cId="0" sldId="285"/>
            <ac:graphicFrameMk id="9" creationId="{0D0BF517-E23C-4ECB-9C2E-04E63E879A53}"/>
          </ac:graphicFrameMkLst>
        </pc:graphicFrameChg>
        <pc:graphicFrameChg chg="add mod">
          <ac:chgData name="Mohamed Bingabr" userId="00864009-1172-4536-93d5-4dbe32f81f3e" providerId="ADAL" clId="{4CE41190-4A8F-485D-B201-301EE2E8B607}" dt="2022-04-25T05:06:52.055" v="141" actId="1076"/>
          <ac:graphicFrameMkLst>
            <pc:docMk/>
            <pc:sldMk cId="0" sldId="285"/>
            <ac:graphicFrameMk id="11" creationId="{AE24F12D-EB5C-43C7-9BD2-67848A82E822}"/>
          </ac:graphicFrameMkLst>
        </pc:graphicFrameChg>
        <pc:graphicFrameChg chg="add mod">
          <ac:chgData name="Mohamed Bingabr" userId="00864009-1172-4536-93d5-4dbe32f81f3e" providerId="ADAL" clId="{4CE41190-4A8F-485D-B201-301EE2E8B607}" dt="2022-04-25T05:06:52.055" v="141" actId="1076"/>
          <ac:graphicFrameMkLst>
            <pc:docMk/>
            <pc:sldMk cId="0" sldId="285"/>
            <ac:graphicFrameMk id="12" creationId="{0F3D4DF3-DD2A-4E49-AAEB-704067ECD124}"/>
          </ac:graphicFrameMkLst>
        </pc:graphicFrameChg>
        <pc:graphicFrameChg chg="mod">
          <ac:chgData name="Mohamed Bingabr" userId="00864009-1172-4536-93d5-4dbe32f81f3e" providerId="ADAL" clId="{4CE41190-4A8F-485D-B201-301EE2E8B607}" dt="2022-04-25T05:06:30.129" v="139" actId="1076"/>
          <ac:graphicFrameMkLst>
            <pc:docMk/>
            <pc:sldMk cId="0" sldId="285"/>
            <ac:graphicFrameMk id="25604" creationId="{00000000-0000-0000-0000-000000000000}"/>
          </ac:graphicFrameMkLst>
        </pc:graphicFrameChg>
        <pc:graphicFrameChg chg="mod">
          <ac:chgData name="Mohamed Bingabr" userId="00864009-1172-4536-93d5-4dbe32f81f3e" providerId="ADAL" clId="{4CE41190-4A8F-485D-B201-301EE2E8B607}" dt="2022-04-25T05:06:30.129" v="139" actId="1076"/>
          <ac:graphicFrameMkLst>
            <pc:docMk/>
            <pc:sldMk cId="0" sldId="285"/>
            <ac:graphicFrameMk id="25605" creationId="{00000000-0000-0000-0000-000000000000}"/>
          </ac:graphicFrameMkLst>
        </pc:graphicFrameChg>
        <pc:graphicFrameChg chg="del">
          <ac:chgData name="Mohamed Bingabr" userId="00864009-1172-4536-93d5-4dbe32f81f3e" providerId="ADAL" clId="{4CE41190-4A8F-485D-B201-301EE2E8B607}" dt="2022-04-22T03:21:29.813" v="116" actId="478"/>
          <ac:graphicFrameMkLst>
            <pc:docMk/>
            <pc:sldMk cId="0" sldId="285"/>
            <ac:graphicFrameMk id="25607" creationId="{00000000-0000-0000-0000-000000000000}"/>
          </ac:graphicFrameMkLst>
        </pc:graphicFrameChg>
        <pc:graphicFrameChg chg="del">
          <ac:chgData name="Mohamed Bingabr" userId="00864009-1172-4536-93d5-4dbe32f81f3e" providerId="ADAL" clId="{4CE41190-4A8F-485D-B201-301EE2E8B607}" dt="2022-04-22T03:21:29.813" v="116" actId="478"/>
          <ac:graphicFrameMkLst>
            <pc:docMk/>
            <pc:sldMk cId="0" sldId="285"/>
            <ac:graphicFrameMk id="25608" creationId="{00000000-0000-0000-0000-000000000000}"/>
          </ac:graphicFrameMkLst>
        </pc:graphicFrameChg>
      </pc:sldChg>
      <pc:sldChg chg="addSp delSp modSp mod">
        <pc:chgData name="Mohamed Bingabr" userId="00864009-1172-4536-93d5-4dbe32f81f3e" providerId="ADAL" clId="{4CE41190-4A8F-485D-B201-301EE2E8B607}" dt="2022-04-25T05:11:01.763" v="261" actId="1076"/>
        <pc:sldMkLst>
          <pc:docMk/>
          <pc:sldMk cId="0" sldId="286"/>
        </pc:sldMkLst>
        <pc:spChg chg="add mod">
          <ac:chgData name="Mohamed Bingabr" userId="00864009-1172-4536-93d5-4dbe32f81f3e" providerId="ADAL" clId="{4CE41190-4A8F-485D-B201-301EE2E8B607}" dt="2022-04-25T05:11:01.763" v="261" actId="1076"/>
          <ac:spMkLst>
            <pc:docMk/>
            <pc:sldMk cId="0" sldId="286"/>
            <ac:spMk id="2" creationId="{8D213904-3E9A-4FCB-80F5-97386DE31EB5}"/>
          </ac:spMkLst>
        </pc:spChg>
        <pc:spChg chg="add mod">
          <ac:chgData name="Mohamed Bingabr" userId="00864009-1172-4536-93d5-4dbe32f81f3e" providerId="ADAL" clId="{4CE41190-4A8F-485D-B201-301EE2E8B607}" dt="2022-04-25T05:09:12.730" v="239" actId="20577"/>
          <ac:spMkLst>
            <pc:docMk/>
            <pc:sldMk cId="0" sldId="286"/>
            <ac:spMk id="12" creationId="{09FE6878-990F-4BDA-85F0-36783F7D6EDA}"/>
          </ac:spMkLst>
        </pc:spChg>
        <pc:spChg chg="del mod">
          <ac:chgData name="Mohamed Bingabr" userId="00864009-1172-4536-93d5-4dbe32f81f3e" providerId="ADAL" clId="{4CE41190-4A8F-485D-B201-301EE2E8B607}" dt="2022-04-25T05:07:12.219" v="142" actId="478"/>
          <ac:spMkLst>
            <pc:docMk/>
            <pc:sldMk cId="0" sldId="286"/>
            <ac:spMk id="26634" creationId="{00000000-0000-0000-0000-000000000000}"/>
          </ac:spMkLst>
        </pc:spChg>
        <pc:spChg chg="del">
          <ac:chgData name="Mohamed Bingabr" userId="00864009-1172-4536-93d5-4dbe32f81f3e" providerId="ADAL" clId="{4CE41190-4A8F-485D-B201-301EE2E8B607}" dt="2022-04-22T03:22:28.442" v="122" actId="478"/>
          <ac:spMkLst>
            <pc:docMk/>
            <pc:sldMk cId="0" sldId="286"/>
            <ac:spMk id="35843" creationId="{00000000-0000-0000-0000-000000000000}"/>
          </ac:spMkLst>
        </pc:spChg>
        <pc:spChg chg="del mod">
          <ac:chgData name="Mohamed Bingabr" userId="00864009-1172-4536-93d5-4dbe32f81f3e" providerId="ADAL" clId="{4CE41190-4A8F-485D-B201-301EE2E8B607}" dt="2022-04-25T05:07:17.208" v="143" actId="478"/>
          <ac:spMkLst>
            <pc:docMk/>
            <pc:sldMk cId="0" sldId="286"/>
            <ac:spMk id="35846" creationId="{00000000-0000-0000-0000-000000000000}"/>
          </ac:spMkLst>
        </pc:spChg>
        <pc:graphicFrameChg chg="del">
          <ac:chgData name="Mohamed Bingabr" userId="00864009-1172-4536-93d5-4dbe32f81f3e" providerId="ADAL" clId="{4CE41190-4A8F-485D-B201-301EE2E8B607}" dt="2022-04-22T03:22:20.554" v="121" actId="478"/>
          <ac:graphicFrameMkLst>
            <pc:docMk/>
            <pc:sldMk cId="0" sldId="286"/>
            <ac:graphicFrameMk id="26628" creationId="{00000000-0000-0000-0000-000000000000}"/>
          </ac:graphicFrameMkLst>
        </pc:graphicFrameChg>
        <pc:graphicFrameChg chg="del">
          <ac:chgData name="Mohamed Bingabr" userId="00864009-1172-4536-93d5-4dbe32f81f3e" providerId="ADAL" clId="{4CE41190-4A8F-485D-B201-301EE2E8B607}" dt="2022-04-22T03:22:20.554" v="121" actId="478"/>
          <ac:graphicFrameMkLst>
            <pc:docMk/>
            <pc:sldMk cId="0" sldId="286"/>
            <ac:graphicFrameMk id="26629" creationId="{00000000-0000-0000-0000-000000000000}"/>
          </ac:graphicFrameMkLst>
        </pc:graphicFrameChg>
        <pc:graphicFrameChg chg="del mod">
          <ac:chgData name="Mohamed Bingabr" userId="00864009-1172-4536-93d5-4dbe32f81f3e" providerId="ADAL" clId="{4CE41190-4A8F-485D-B201-301EE2E8B607}" dt="2022-04-25T05:07:12.219" v="142" actId="478"/>
          <ac:graphicFrameMkLst>
            <pc:docMk/>
            <pc:sldMk cId="0" sldId="286"/>
            <ac:graphicFrameMk id="26631" creationId="{00000000-0000-0000-0000-000000000000}"/>
          </ac:graphicFrameMkLst>
        </pc:graphicFrameChg>
        <pc:graphicFrameChg chg="del mod">
          <ac:chgData name="Mohamed Bingabr" userId="00864009-1172-4536-93d5-4dbe32f81f3e" providerId="ADAL" clId="{4CE41190-4A8F-485D-B201-301EE2E8B607}" dt="2022-04-25T05:07:12.219" v="142" actId="478"/>
          <ac:graphicFrameMkLst>
            <pc:docMk/>
            <pc:sldMk cId="0" sldId="286"/>
            <ac:graphicFrameMk id="26632" creationId="{00000000-0000-0000-0000-000000000000}"/>
          </ac:graphicFrameMkLst>
        </pc:graphicFrameChg>
        <pc:graphicFrameChg chg="del mod">
          <ac:chgData name="Mohamed Bingabr" userId="00864009-1172-4536-93d5-4dbe32f81f3e" providerId="ADAL" clId="{4CE41190-4A8F-485D-B201-301EE2E8B607}" dt="2022-04-25T05:07:17.208" v="143" actId="478"/>
          <ac:graphicFrameMkLst>
            <pc:docMk/>
            <pc:sldMk cId="0" sldId="286"/>
            <ac:graphicFrameMk id="26633" creationId="{00000000-0000-0000-0000-000000000000}"/>
          </ac:graphicFrameMkLst>
        </pc:graphicFrameChg>
      </pc:sldChg>
    </pc:docChg>
  </pc:docChgLst>
  <pc:docChgLst>
    <pc:chgData name="Mohamed Bingabr" userId="00864009-1172-4536-93d5-4dbe32f81f3e" providerId="ADAL" clId="{1627AE85-524A-49B3-8BDD-E2CD810DF8B1}"/>
  </pc:docChgLst>
  <pc:docChgLst>
    <pc:chgData name="Mohamed Bingabr" userId="00864009-1172-4536-93d5-4dbe32f81f3e" providerId="ADAL" clId="{55BB3678-BDAE-49AD-A41D-E0C516B9E37D}"/>
    <pc:docChg chg="modSld">
      <pc:chgData name="Mohamed Bingabr" userId="00864009-1172-4536-93d5-4dbe32f81f3e" providerId="ADAL" clId="{55BB3678-BDAE-49AD-A41D-E0C516B9E37D}" dt="2022-04-29T13:22:39.793" v="36" actId="20577"/>
      <pc:docMkLst>
        <pc:docMk/>
      </pc:docMkLst>
      <pc:sldChg chg="addSp modSp">
        <pc:chgData name="Mohamed Bingabr" userId="00864009-1172-4536-93d5-4dbe32f81f3e" providerId="ADAL" clId="{55BB3678-BDAE-49AD-A41D-E0C516B9E37D}" dt="2022-04-29T13:22:39.793" v="36" actId="20577"/>
        <pc:sldMkLst>
          <pc:docMk/>
          <pc:sldMk cId="3032324504" sldId="310"/>
        </pc:sldMkLst>
        <pc:spChg chg="add mod">
          <ac:chgData name="Mohamed Bingabr" userId="00864009-1172-4536-93d5-4dbe32f81f3e" providerId="ADAL" clId="{55BB3678-BDAE-49AD-A41D-E0C516B9E37D}" dt="2022-04-29T13:22:23.777" v="23" actId="1076"/>
          <ac:spMkLst>
            <pc:docMk/>
            <pc:sldMk cId="3032324504" sldId="310"/>
            <ac:spMk id="2" creationId="{07AFD742-6803-4C8B-9835-8A827624C38C}"/>
          </ac:spMkLst>
        </pc:spChg>
        <pc:spChg chg="add mod">
          <ac:chgData name="Mohamed Bingabr" userId="00864009-1172-4536-93d5-4dbe32f81f3e" providerId="ADAL" clId="{55BB3678-BDAE-49AD-A41D-E0C516B9E37D}" dt="2022-04-29T13:22:39.793" v="36" actId="20577"/>
          <ac:spMkLst>
            <pc:docMk/>
            <pc:sldMk cId="3032324504" sldId="310"/>
            <ac:spMk id="6" creationId="{F0149B83-049E-4316-AB11-056A28FFAD15}"/>
          </ac:spMkLst>
        </pc:spChg>
      </pc:sldChg>
    </pc:docChg>
  </pc:docChgLst>
  <pc:docChgLst>
    <pc:chgData name="Mohamed Bingabr" userId="00864009-1172-4536-93d5-4dbe32f81f3e" providerId="ADAL" clId="{55641466-29CE-4B33-8EF2-D72365466D2B}"/>
  </pc:docChgLst>
</pc:chgInfo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6.wmf"/><Relationship Id="rId1" Type="http://schemas.openxmlformats.org/officeDocument/2006/relationships/image" Target="../media/image3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4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36.wmf"/><Relationship Id="rId1" Type="http://schemas.openxmlformats.org/officeDocument/2006/relationships/image" Target="../media/image49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53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9B9DDF1-14ED-4C65-9E15-776F31C5A259}" type="datetimeFigureOut">
              <a:rPr lang="en-US"/>
              <a:pPr>
                <a:defRPr/>
              </a:pPr>
              <a:t>4/29/2022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8F13387-F088-4D37-ABF0-EF9EDBAA47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52795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F04E81-B29A-499D-B1B7-081E21E534B1}" type="datetimeFigureOut">
              <a:rPr lang="en-US" smtClean="0"/>
              <a:t>4/29/2022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382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73575"/>
            <a:ext cx="548640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675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FAA07-31CB-4C9B-A674-46320C51B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6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BFAA07-31CB-4C9B-A674-46320C51BC4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32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BFAA07-31CB-4C9B-A674-46320C51BC4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28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534060-725B-49CD-93FC-0A9FD9F0AA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190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28A745-DE3A-4494-B39D-A33527C78C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83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4CB8D-F417-48B3-8788-361F9028FB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958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7A834-27F8-42CF-8725-958A206CC7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2214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021BB-EC0A-427D-A0AD-A62BD3F6E5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7613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B0D9E-52BF-4629-8A5F-B6080DA71C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9531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60487F-72CE-425B-ACD2-49D4B84140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9202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22001-4816-4D4F-A77E-565CE4C0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3704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18A213-AC11-48A9-A172-FC9ED3EB53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9752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850DD-4138-4D13-B2AF-03930CC95A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4021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3B73B-DE98-4800-B081-575CA9EC46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8086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B86D963-8002-4A23-8A21-692C072281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3.bin"/><Relationship Id="rId7" Type="http://schemas.openxmlformats.org/officeDocument/2006/relationships/image" Target="../media/image9.png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11.png"/><Relationship Id="rId4" Type="http://schemas.openxmlformats.org/officeDocument/2006/relationships/image" Target="../media/image4.wmf"/><Relationship Id="rId9" Type="http://schemas.openxmlformats.org/officeDocument/2006/relationships/image" Target="../media/image10.png"/><Relationship Id="rId1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8.png"/><Relationship Id="rId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2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40.png"/><Relationship Id="rId4" Type="http://schemas.openxmlformats.org/officeDocument/2006/relationships/image" Target="../media/image38.wmf"/><Relationship Id="rId9" Type="http://schemas.openxmlformats.org/officeDocument/2006/relationships/image" Target="../media/image3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0.wmf"/><Relationship Id="rId9" Type="http://schemas.openxmlformats.org/officeDocument/2006/relationships/image" Target="../media/image41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2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3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46.jpeg"/><Relationship Id="rId4" Type="http://schemas.openxmlformats.org/officeDocument/2006/relationships/image" Target="../media/image45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51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2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7" Type="http://schemas.openxmlformats.org/officeDocument/2006/relationships/image" Target="../media/image54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5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7" Type="http://schemas.openxmlformats.org/officeDocument/2006/relationships/image" Target="../media/image57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55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59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130425"/>
            <a:ext cx="8458200" cy="1470025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Continuous-Time Signal Analysis: The Fourier Transform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7</a:t>
            </a:r>
          </a:p>
          <a:p>
            <a:pPr eaLnBrk="1" hangingPunct="1"/>
            <a:r>
              <a:rPr lang="en-US" altLang="en-US"/>
              <a:t>Mohamed Bingabr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Chapter Outline</a:t>
            </a:r>
          </a:p>
        </p:txBody>
      </p:sp>
      <p:sp>
        <p:nvSpPr>
          <p:cNvPr id="4099" name="Text Box 5"/>
          <p:cNvSpPr txBox="1">
            <a:spLocks noChangeArrowheads="1"/>
          </p:cNvSpPr>
          <p:nvPr/>
        </p:nvSpPr>
        <p:spPr bwMode="auto">
          <a:xfrm>
            <a:off x="288925" y="1216025"/>
            <a:ext cx="8691563" cy="518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/>
              <a:t>Aperiodic Signal Representation by Fourier Integral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/>
              <a:t>Fourier Transform of Useful Functions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/>
              <a:t>Properties of Fourier Transform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/>
              <a:t>Signal Transmission Through LTIC Systems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/>
              <a:t>Ideal and Practical Filters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/>
              <a:t>Signal Energy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/>
              <a:t>Applications to Communications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800"/>
              <a:t>Data Truncation: Window Functions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Link between FT and FS</a:t>
            </a: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304800" y="1066800"/>
            <a:ext cx="8626475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Fourier series (FS) </a:t>
            </a:r>
            <a:r>
              <a:rPr lang="en-US" altLang="en-US" sz="2800"/>
              <a:t>allows us to represent periodic signal in term of sinusoidal or exponentials 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8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jn</a:t>
            </a:r>
            <a:r>
              <a:rPr lang="en-US" altLang="en-US" sz="2800" i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en-US" sz="1600" i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800" i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800"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Fourier transform (FT) allows us to represent aperiodic (not periodic) signal in term of exponentials 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8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800" i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t</a:t>
            </a:r>
            <a:r>
              <a:rPr lang="en-US" altLang="en-US" sz="2800"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5124" name="Text Box 20"/>
          <p:cNvSpPr txBox="1">
            <a:spLocks noChangeArrowheads="1"/>
          </p:cNvSpPr>
          <p:nvPr/>
        </p:nvSpPr>
        <p:spPr bwMode="auto">
          <a:xfrm>
            <a:off x="2133600" y="4343400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5125" name="Object 35"/>
          <p:cNvGraphicFramePr>
            <a:graphicFrameLocks noChangeAspect="1"/>
          </p:cNvGraphicFramePr>
          <p:nvPr/>
        </p:nvGraphicFramePr>
        <p:xfrm>
          <a:off x="5867400" y="4419600"/>
          <a:ext cx="27432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193800" imgH="431800" progId="Equation.3">
                  <p:embed/>
                </p:oleObj>
              </mc:Choice>
              <mc:Fallback>
                <p:oleObj name="Equation" r:id="rId3" imgW="1193800" imgH="431800" progId="Equation.3">
                  <p:embed/>
                  <p:pic>
                    <p:nvPicPr>
                      <p:cNvPr id="5125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419600"/>
                        <a:ext cx="274320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39"/>
          <p:cNvGraphicFramePr>
            <a:graphicFrameLocks noChangeAspect="1"/>
          </p:cNvGraphicFramePr>
          <p:nvPr/>
        </p:nvGraphicFramePr>
        <p:xfrm>
          <a:off x="5695950" y="5641975"/>
          <a:ext cx="32385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1409088" imgH="495085" progId="Equation.3">
                  <p:embed/>
                </p:oleObj>
              </mc:Choice>
              <mc:Fallback>
                <p:oleObj name="Equation" r:id="rId5" imgW="1409088" imgH="495085" progId="Equation.3">
                  <p:embed/>
                  <p:pic>
                    <p:nvPicPr>
                      <p:cNvPr id="5126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0" y="5641975"/>
                        <a:ext cx="3238500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7" name="Picture 4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40288"/>
            <a:ext cx="5410200" cy="194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Link between FT and FS</a:t>
            </a:r>
          </a:p>
        </p:txBody>
      </p:sp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4043363" y="3176588"/>
          <a:ext cx="2662237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990170" imgH="291973" progId="Equation.3">
                  <p:embed/>
                </p:oleObj>
              </mc:Choice>
              <mc:Fallback>
                <p:oleObj name="Equation" r:id="rId3" imgW="990170" imgH="291973" progId="Equation.3">
                  <p:embed/>
                  <p:pic>
                    <p:nvPicPr>
                      <p:cNvPr id="61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3" y="3176588"/>
                        <a:ext cx="2662237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Freeform 4"/>
          <p:cNvSpPr>
            <a:spLocks/>
          </p:cNvSpPr>
          <p:nvPr/>
        </p:nvSpPr>
        <p:spPr bwMode="auto">
          <a:xfrm>
            <a:off x="3048000" y="3024188"/>
            <a:ext cx="838200" cy="546100"/>
          </a:xfrm>
          <a:custGeom>
            <a:avLst/>
            <a:gdLst>
              <a:gd name="T0" fmla="*/ 0 w 528"/>
              <a:gd name="T1" fmla="*/ 0 h 344"/>
              <a:gd name="T2" fmla="*/ 2147483646 w 528"/>
              <a:gd name="T3" fmla="*/ 2147483646 h 344"/>
              <a:gd name="T4" fmla="*/ 2147483646 w 528"/>
              <a:gd name="T5" fmla="*/ 2147483646 h 344"/>
              <a:gd name="T6" fmla="*/ 0 60000 65536"/>
              <a:gd name="T7" fmla="*/ 0 60000 65536"/>
              <a:gd name="T8" fmla="*/ 0 60000 65536"/>
              <a:gd name="T9" fmla="*/ 0 w 528"/>
              <a:gd name="T10" fmla="*/ 0 h 344"/>
              <a:gd name="T11" fmla="*/ 528 w 528"/>
              <a:gd name="T12" fmla="*/ 344 h 3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8" h="344">
                <a:moveTo>
                  <a:pt x="0" y="0"/>
                </a:moveTo>
                <a:cubicBezTo>
                  <a:pt x="4" y="116"/>
                  <a:pt x="8" y="232"/>
                  <a:pt x="96" y="288"/>
                </a:cubicBezTo>
                <a:cubicBezTo>
                  <a:pt x="184" y="344"/>
                  <a:pt x="356" y="340"/>
                  <a:pt x="528" y="3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" name="Freeform 5"/>
          <p:cNvSpPr>
            <a:spLocks/>
          </p:cNvSpPr>
          <p:nvPr/>
        </p:nvSpPr>
        <p:spPr bwMode="auto">
          <a:xfrm>
            <a:off x="6781800" y="3024188"/>
            <a:ext cx="1066800" cy="533400"/>
          </a:xfrm>
          <a:custGeom>
            <a:avLst/>
            <a:gdLst>
              <a:gd name="T0" fmla="*/ 0 w 624"/>
              <a:gd name="T1" fmla="*/ 2147483646 h 336"/>
              <a:gd name="T2" fmla="*/ 2147483646 w 624"/>
              <a:gd name="T3" fmla="*/ 2147483646 h 336"/>
              <a:gd name="T4" fmla="*/ 2147483646 w 624"/>
              <a:gd name="T5" fmla="*/ 2147483646 h 336"/>
              <a:gd name="T6" fmla="*/ 2147483646 w 624"/>
              <a:gd name="T7" fmla="*/ 0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336"/>
              <a:gd name="T14" fmla="*/ 624 w 624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336">
                <a:moveTo>
                  <a:pt x="0" y="288"/>
                </a:moveTo>
                <a:cubicBezTo>
                  <a:pt x="52" y="288"/>
                  <a:pt x="104" y="288"/>
                  <a:pt x="192" y="288"/>
                </a:cubicBezTo>
                <a:cubicBezTo>
                  <a:pt x="280" y="288"/>
                  <a:pt x="456" y="336"/>
                  <a:pt x="528" y="288"/>
                </a:cubicBezTo>
                <a:cubicBezTo>
                  <a:pt x="600" y="240"/>
                  <a:pt x="612" y="120"/>
                  <a:pt x="62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6150" name="Object 7"/>
          <p:cNvGraphicFramePr>
            <a:graphicFrameLocks noChangeAspect="1"/>
          </p:cNvGraphicFramePr>
          <p:nvPr/>
        </p:nvGraphicFramePr>
        <p:xfrm>
          <a:off x="381000" y="3609975"/>
          <a:ext cx="26670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1422400" imgH="228600" progId="Equation.3">
                  <p:embed/>
                </p:oleObj>
              </mc:Choice>
              <mc:Fallback>
                <p:oleObj name="Equation" r:id="rId5" imgW="1422400" imgH="228600" progId="Equation.3">
                  <p:embed/>
                  <p:pic>
                    <p:nvPicPr>
                      <p:cNvPr id="615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609975"/>
                        <a:ext cx="26670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51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838200"/>
            <a:ext cx="22860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19200"/>
            <a:ext cx="5486400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3" name="Text Box 12"/>
          <p:cNvSpPr txBox="1">
            <a:spLocks noChangeArrowheads="1"/>
          </p:cNvSpPr>
          <p:nvPr/>
        </p:nvSpPr>
        <p:spPr bwMode="auto">
          <a:xfrm>
            <a:off x="838200" y="984250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154" name="Text Box 13"/>
          <p:cNvSpPr txBox="1">
            <a:spLocks noChangeArrowheads="1"/>
          </p:cNvSpPr>
          <p:nvPr/>
        </p:nvSpPr>
        <p:spPr bwMode="auto">
          <a:xfrm>
            <a:off x="6434138" y="933450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6155" name="Picture 1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260975"/>
            <a:ext cx="4800600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6" name="Picture 16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5715000"/>
            <a:ext cx="40338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157" name="Object 18"/>
          <p:cNvGraphicFramePr>
            <a:graphicFrameLocks noChangeAspect="1"/>
          </p:cNvGraphicFramePr>
          <p:nvPr/>
        </p:nvGraphicFramePr>
        <p:xfrm>
          <a:off x="2435225" y="4953000"/>
          <a:ext cx="6127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11" imgW="266469" imgH="253780" progId="Equation.3">
                  <p:embed/>
                </p:oleObj>
              </mc:Choice>
              <mc:Fallback>
                <p:oleObj name="Equation" r:id="rId11" imgW="266469" imgH="253780" progId="Equation.3">
                  <p:embed/>
                  <p:pic>
                    <p:nvPicPr>
                      <p:cNvPr id="615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225" y="4953000"/>
                        <a:ext cx="61277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8" name="Object 19"/>
          <p:cNvGraphicFramePr>
            <a:graphicFrameLocks noChangeAspect="1"/>
          </p:cNvGraphicFramePr>
          <p:nvPr/>
        </p:nvGraphicFramePr>
        <p:xfrm>
          <a:off x="6592888" y="5054600"/>
          <a:ext cx="9921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13" imgW="431613" imgH="253890" progId="Equation.3">
                  <p:embed/>
                </p:oleObj>
              </mc:Choice>
              <mc:Fallback>
                <p:oleObj name="Equation" r:id="rId13" imgW="431613" imgH="253890" progId="Equation.3">
                  <p:embed/>
                  <p:pic>
                    <p:nvPicPr>
                      <p:cNvPr id="6158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2888" y="5054600"/>
                        <a:ext cx="99218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9" name="Text Box 20"/>
          <p:cNvSpPr txBox="1">
            <a:spLocks noChangeArrowheads="1"/>
          </p:cNvSpPr>
          <p:nvPr/>
        </p:nvSpPr>
        <p:spPr bwMode="auto">
          <a:xfrm>
            <a:off x="60325" y="4071938"/>
            <a:ext cx="90074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As T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 gets larger and larger the fundamental frequency </a:t>
            </a:r>
            <a:r>
              <a:rPr lang="en-US" altLang="en-US" sz="2400" dirty="0">
                <a:sym typeface="Symbol" panose="05050102010706020507" pitchFamily="18" charset="2"/>
              </a:rPr>
              <a:t>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 gets smaller and smaller, so the spectrum becomes continuous.</a:t>
            </a:r>
          </a:p>
        </p:txBody>
      </p:sp>
      <p:sp>
        <p:nvSpPr>
          <p:cNvPr id="6160" name="Text Box 21"/>
          <p:cNvSpPr txBox="1">
            <a:spLocks noChangeArrowheads="1"/>
          </p:cNvSpPr>
          <p:nvPr/>
        </p:nvSpPr>
        <p:spPr bwMode="auto">
          <a:xfrm>
            <a:off x="4495800" y="6400800"/>
            <a:ext cx="5565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1800" dirty="0">
                <a:sym typeface="Symbol" panose="05050102010706020507" pitchFamily="18" charset="2"/>
              </a:rPr>
              <a:t></a:t>
            </a:r>
            <a:r>
              <a:rPr lang="en-US" altLang="en-US" sz="1800" baseline="-25000" dirty="0">
                <a:sym typeface="Symbol" panose="05050102010706020507" pitchFamily="18" charset="2"/>
              </a:rPr>
              <a:t>0</a:t>
            </a:r>
          </a:p>
        </p:txBody>
      </p:sp>
      <p:sp>
        <p:nvSpPr>
          <p:cNvPr id="6161" name="Text Box 22"/>
          <p:cNvSpPr txBox="1">
            <a:spLocks noChangeArrowheads="1"/>
          </p:cNvSpPr>
          <p:nvPr/>
        </p:nvSpPr>
        <p:spPr bwMode="auto">
          <a:xfrm>
            <a:off x="8726488" y="6415088"/>
            <a:ext cx="3413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</a:t>
            </a:r>
            <a:endParaRPr lang="en-US" altLang="en-US" sz="1800" baseline="-25000">
              <a:sym typeface="Symbol" panose="05050102010706020507" pitchFamily="18" charset="2"/>
            </a:endParaRPr>
          </a:p>
        </p:txBody>
      </p:sp>
      <p:graphicFrame>
        <p:nvGraphicFramePr>
          <p:cNvPr id="6162" name="Object 23"/>
          <p:cNvGraphicFramePr>
            <a:graphicFrameLocks noChangeAspect="1"/>
          </p:cNvGraphicFramePr>
          <p:nvPr/>
        </p:nvGraphicFramePr>
        <p:xfrm>
          <a:off x="3657600" y="4876800"/>
          <a:ext cx="2362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15" imgW="1028254" imgH="431613" progId="Equation.3">
                  <p:embed/>
                </p:oleObj>
              </mc:Choice>
              <mc:Fallback>
                <p:oleObj name="Equation" r:id="rId15" imgW="1028254" imgH="431613" progId="Equation.3">
                  <p:embed/>
                  <p:pic>
                    <p:nvPicPr>
                      <p:cNvPr id="616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876800"/>
                        <a:ext cx="2362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Straight Connector 18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/>
          <p:cNvSpPr>
            <a:spLocks noChangeArrowheads="1"/>
          </p:cNvSpPr>
          <p:nvPr/>
        </p:nvSpPr>
        <p:spPr bwMode="auto">
          <a:xfrm>
            <a:off x="3581400" y="2819400"/>
            <a:ext cx="685800" cy="304800"/>
          </a:xfrm>
          <a:prstGeom prst="rect">
            <a:avLst/>
          </a:prstGeom>
          <a:solidFill>
            <a:srgbClr val="FBFDA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7171" name="Rectangle 12"/>
          <p:cNvSpPr>
            <a:spLocks noChangeArrowheads="1"/>
          </p:cNvSpPr>
          <p:nvPr/>
        </p:nvSpPr>
        <p:spPr bwMode="auto">
          <a:xfrm>
            <a:off x="2514600" y="2819400"/>
            <a:ext cx="914400" cy="533400"/>
          </a:xfrm>
          <a:prstGeom prst="rect">
            <a:avLst/>
          </a:prstGeom>
          <a:solidFill>
            <a:srgbClr val="84F8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The Fourier Transform Spectrum</a:t>
            </a:r>
          </a:p>
        </p:txBody>
      </p:sp>
      <p:sp>
        <p:nvSpPr>
          <p:cNvPr id="7173" name="Text Box 3"/>
          <p:cNvSpPr txBox="1">
            <a:spLocks noChangeArrowheads="1"/>
          </p:cNvSpPr>
          <p:nvPr/>
        </p:nvSpPr>
        <p:spPr bwMode="auto">
          <a:xfrm>
            <a:off x="76200" y="5195888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The </a:t>
            </a:r>
            <a:r>
              <a:rPr lang="en-US" altLang="en-US" sz="2800">
                <a:solidFill>
                  <a:srgbClr val="55AFF9"/>
                </a:solidFill>
              </a:rPr>
              <a:t>Inverse Fourier transform: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graphicFrame>
        <p:nvGraphicFramePr>
          <p:cNvPr id="7174" name="Object 4"/>
          <p:cNvGraphicFramePr>
            <a:graphicFrameLocks noChangeAspect="1"/>
          </p:cNvGraphicFramePr>
          <p:nvPr/>
        </p:nvGraphicFramePr>
        <p:xfrm>
          <a:off x="2590800" y="5622925"/>
          <a:ext cx="400685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1524000" imgH="469900" progId="Equation.3">
                  <p:embed/>
                </p:oleObj>
              </mc:Choice>
              <mc:Fallback>
                <p:oleObj name="Equation" r:id="rId3" imgW="1524000" imgH="469900" progId="Equation.3">
                  <p:embed/>
                  <p:pic>
                    <p:nvPicPr>
                      <p:cNvPr id="71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622925"/>
                        <a:ext cx="4006850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5"/>
          <p:cNvSpPr txBox="1">
            <a:spLocks noChangeArrowheads="1"/>
          </p:cNvSpPr>
          <p:nvPr/>
        </p:nvSpPr>
        <p:spPr bwMode="auto">
          <a:xfrm>
            <a:off x="76200" y="1219200"/>
            <a:ext cx="883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The </a:t>
            </a:r>
            <a:r>
              <a:rPr lang="en-US" altLang="en-US" sz="2800">
                <a:solidFill>
                  <a:srgbClr val="55AFF9"/>
                </a:solidFill>
              </a:rPr>
              <a:t>Fourier transform: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graphicFrame>
        <p:nvGraphicFramePr>
          <p:cNvPr id="7176" name="Object 6"/>
          <p:cNvGraphicFramePr>
            <a:graphicFrameLocks noChangeAspect="1"/>
          </p:cNvGraphicFramePr>
          <p:nvPr/>
        </p:nvGraphicFramePr>
        <p:xfrm>
          <a:off x="1371600" y="1676400"/>
          <a:ext cx="3005138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1308100" imgH="736600" progId="Equation.3">
                  <p:embed/>
                </p:oleObj>
              </mc:Choice>
              <mc:Fallback>
                <p:oleObj name="Equation" r:id="rId5" imgW="1308100" imgH="736600" progId="Equation.3">
                  <p:embed/>
                  <p:pic>
                    <p:nvPicPr>
                      <p:cNvPr id="717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676400"/>
                        <a:ext cx="3005138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Text Box 7"/>
          <p:cNvSpPr txBox="1">
            <a:spLocks noChangeArrowheads="1"/>
          </p:cNvSpPr>
          <p:nvPr/>
        </p:nvSpPr>
        <p:spPr bwMode="auto">
          <a:xfrm>
            <a:off x="76200" y="3736975"/>
            <a:ext cx="5253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The Amplitude (Magnitude) Spectrum</a:t>
            </a:r>
          </a:p>
        </p:txBody>
      </p:sp>
      <p:sp>
        <p:nvSpPr>
          <p:cNvPr id="7178" name="Text Box 8"/>
          <p:cNvSpPr txBox="1">
            <a:spLocks noChangeArrowheads="1"/>
          </p:cNvSpPr>
          <p:nvPr/>
        </p:nvSpPr>
        <p:spPr bwMode="auto">
          <a:xfrm>
            <a:off x="6096000" y="3751263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The Phase Spectrum</a:t>
            </a:r>
          </a:p>
        </p:txBody>
      </p:sp>
      <p:sp>
        <p:nvSpPr>
          <p:cNvPr id="7179" name="Line 9"/>
          <p:cNvSpPr>
            <a:spLocks noChangeShapeType="1"/>
          </p:cNvSpPr>
          <p:nvPr/>
        </p:nvSpPr>
        <p:spPr bwMode="auto">
          <a:xfrm flipV="1">
            <a:off x="685800" y="3352800"/>
            <a:ext cx="2133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" name="Line 14"/>
          <p:cNvSpPr>
            <a:spLocks noChangeShapeType="1"/>
          </p:cNvSpPr>
          <p:nvPr/>
        </p:nvSpPr>
        <p:spPr bwMode="auto">
          <a:xfrm flipH="1" flipV="1">
            <a:off x="4267200" y="3124200"/>
            <a:ext cx="1905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1" name="Text Box 15"/>
          <p:cNvSpPr txBox="1">
            <a:spLocks noChangeArrowheads="1"/>
          </p:cNvSpPr>
          <p:nvPr/>
        </p:nvSpPr>
        <p:spPr bwMode="auto">
          <a:xfrm>
            <a:off x="76200" y="4191000"/>
            <a:ext cx="8839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The amplitude spectrum is an </a:t>
            </a:r>
            <a:r>
              <a:rPr lang="en-US" altLang="en-US" sz="2400">
                <a:solidFill>
                  <a:srgbClr val="55AFF9"/>
                </a:solidFill>
              </a:rPr>
              <a:t>even</a:t>
            </a:r>
            <a:r>
              <a:rPr lang="en-US" altLang="en-US" sz="2400"/>
              <a:t> function and the phase is an </a:t>
            </a:r>
            <a:r>
              <a:rPr lang="en-US" altLang="en-US" sz="2400">
                <a:solidFill>
                  <a:srgbClr val="55AFF9"/>
                </a:solidFill>
              </a:rPr>
              <a:t>odd</a:t>
            </a:r>
            <a:r>
              <a:rPr lang="en-US" altLang="en-US" sz="2400"/>
              <a:t> function.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6718300" y="2819400"/>
            <a:ext cx="1587500" cy="2286000"/>
          </a:xfrm>
          <a:prstGeom prst="rect">
            <a:avLst/>
          </a:prstGeom>
          <a:solidFill>
            <a:srgbClr val="84F8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BFDA1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Example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76200" y="609600"/>
            <a:ext cx="89916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Find the Fourier transform of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en-US" sz="2800"/>
              <a:t>the magnitude, and the spectrum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</a:rPr>
              <a:t>Solution:</a:t>
            </a:r>
            <a:endParaRPr lang="en-US" altLang="en-US" sz="280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7" name="Object 5"/>
              <p:cNvSpPr txBox="1"/>
              <p:nvPr/>
            </p:nvSpPr>
            <p:spPr bwMode="auto">
              <a:xfrm>
                <a:off x="41275" y="1985963"/>
                <a:ext cx="6435725" cy="20526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9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275" y="1985963"/>
                <a:ext cx="6435725" cy="20526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171450" y="4038600"/>
            <a:ext cx="4476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How does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)</a:t>
            </a:r>
            <a:r>
              <a:rPr lang="en-US" altLang="en-US" sz="2400" dirty="0">
                <a:sym typeface="Symbol" panose="05050102010706020507" pitchFamily="18" charset="2"/>
              </a:rPr>
              <a:t> relates to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400" dirty="0">
                <a:sym typeface="Symbol" panose="05050102010706020507" pitchFamily="18" charset="2"/>
              </a:rPr>
              <a:t>? </a:t>
            </a:r>
          </a:p>
        </p:txBody>
      </p:sp>
      <p:graphicFrame>
        <p:nvGraphicFramePr>
          <p:cNvPr id="8199" name="Object 7"/>
          <p:cNvGraphicFramePr>
            <a:graphicFrameLocks noChangeAspect="1"/>
          </p:cNvGraphicFramePr>
          <p:nvPr/>
        </p:nvGraphicFramePr>
        <p:xfrm>
          <a:off x="76200" y="4625975"/>
          <a:ext cx="4945063" cy="185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4" imgW="2374900" imgH="889000" progId="Equation.3">
                  <p:embed/>
                </p:oleObj>
              </mc:Choice>
              <mc:Fallback>
                <p:oleObj name="Equation" r:id="rId4" imgW="2374900" imgH="889000" progId="Equation.3">
                  <p:embed/>
                  <p:pic>
                    <p:nvPicPr>
                      <p:cNvPr id="81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625975"/>
                        <a:ext cx="4945063" cy="185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Line 9"/>
          <p:cNvSpPr>
            <a:spLocks noChangeShapeType="1"/>
          </p:cNvSpPr>
          <p:nvPr/>
        </p:nvSpPr>
        <p:spPr bwMode="auto">
          <a:xfrm>
            <a:off x="7251700" y="25908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1" name="Line 10"/>
          <p:cNvSpPr>
            <a:spLocks noChangeShapeType="1"/>
          </p:cNvSpPr>
          <p:nvPr/>
        </p:nvSpPr>
        <p:spPr bwMode="auto">
          <a:xfrm>
            <a:off x="6400800" y="4038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2" name="Line 11"/>
          <p:cNvSpPr>
            <a:spLocks noChangeShapeType="1"/>
          </p:cNvSpPr>
          <p:nvPr/>
        </p:nvSpPr>
        <p:spPr bwMode="auto">
          <a:xfrm>
            <a:off x="6705600" y="24384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3" name="Text Box 12"/>
          <p:cNvSpPr txBox="1">
            <a:spLocks noChangeArrowheads="1"/>
          </p:cNvSpPr>
          <p:nvPr/>
        </p:nvSpPr>
        <p:spPr bwMode="auto">
          <a:xfrm>
            <a:off x="6718300" y="1676400"/>
            <a:ext cx="15113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S-plane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 = </a:t>
            </a:r>
            <a:r>
              <a:rPr lang="en-US" altLang="en-US" sz="2400">
                <a:sym typeface="Symbol" panose="05050102010706020507" pitchFamily="18" charset="2"/>
              </a:rPr>
              <a:t> + j</a:t>
            </a:r>
          </a:p>
        </p:txBody>
      </p:sp>
      <p:sp>
        <p:nvSpPr>
          <p:cNvPr id="8204" name="Text Box 13"/>
          <p:cNvSpPr txBox="1">
            <a:spLocks noChangeArrowheads="1"/>
          </p:cNvSpPr>
          <p:nvPr/>
        </p:nvSpPr>
        <p:spPr bwMode="auto">
          <a:xfrm>
            <a:off x="8382000" y="3657600"/>
            <a:ext cx="68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rIns="4572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Re(s)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</a:t>
            </a:r>
          </a:p>
        </p:txBody>
      </p:sp>
      <p:sp>
        <p:nvSpPr>
          <p:cNvPr id="8205" name="Text Box 14"/>
          <p:cNvSpPr txBox="1">
            <a:spLocks noChangeArrowheads="1"/>
          </p:cNvSpPr>
          <p:nvPr/>
        </p:nvSpPr>
        <p:spPr bwMode="auto">
          <a:xfrm>
            <a:off x="7251700" y="2346325"/>
            <a:ext cx="825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j</a:t>
            </a:r>
          </a:p>
        </p:txBody>
      </p:sp>
      <p:sp>
        <p:nvSpPr>
          <p:cNvPr id="8206" name="Text Box 15"/>
          <p:cNvSpPr txBox="1">
            <a:spLocks noChangeArrowheads="1"/>
          </p:cNvSpPr>
          <p:nvPr/>
        </p:nvSpPr>
        <p:spPr bwMode="auto">
          <a:xfrm>
            <a:off x="7543800" y="4419600"/>
            <a:ext cx="685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rIns="4572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ROC</a:t>
            </a:r>
          </a:p>
        </p:txBody>
      </p:sp>
      <p:sp>
        <p:nvSpPr>
          <p:cNvPr id="8207" name="Text Box 16"/>
          <p:cNvSpPr txBox="1">
            <a:spLocks noChangeArrowheads="1"/>
          </p:cNvSpPr>
          <p:nvPr/>
        </p:nvSpPr>
        <p:spPr bwMode="auto">
          <a:xfrm>
            <a:off x="6400800" y="3962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rIns="4572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-a</a:t>
            </a:r>
          </a:p>
        </p:txBody>
      </p:sp>
      <p:sp>
        <p:nvSpPr>
          <p:cNvPr id="8208" name="Text Box 17"/>
          <p:cNvSpPr txBox="1">
            <a:spLocks noChangeArrowheads="1"/>
          </p:cNvSpPr>
          <p:nvPr/>
        </p:nvSpPr>
        <p:spPr bwMode="auto">
          <a:xfrm>
            <a:off x="152400" y="6400800"/>
            <a:ext cx="8629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ym typeface="Symbol" panose="05050102010706020507" pitchFamily="18" charset="2"/>
              </a:rPr>
              <a:t>Since the j-axis is in the region of convergence then FT exist.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0" y="6858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Useful Functions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52400" y="9906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Unit Gate Function</a:t>
            </a:r>
            <a:endParaRPr lang="en-US" altLang="en-US" sz="280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1524000" y="1676400"/>
          <a:ext cx="4470400" cy="189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1676400" imgH="711200" progId="Equation.3">
                  <p:embed/>
                </p:oleObj>
              </mc:Choice>
              <mc:Fallback>
                <p:oleObj name="Equation" r:id="rId3" imgW="1676400" imgH="711200" progId="Equation.3">
                  <p:embed/>
                  <p:pic>
                    <p:nvPicPr>
                      <p:cNvPr id="92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676400"/>
                        <a:ext cx="4470400" cy="189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152400" y="359568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Unit Triangle Function</a:t>
            </a:r>
            <a:endParaRPr lang="en-US" altLang="en-US" sz="280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9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259705"/>
              </p:ext>
            </p:extLst>
          </p:nvPr>
        </p:nvGraphicFramePr>
        <p:xfrm>
          <a:off x="1127125" y="4351338"/>
          <a:ext cx="5314950" cy="128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1993680" imgH="482400" progId="Equation.3">
                  <p:embed/>
                </p:oleObj>
              </mc:Choice>
              <mc:Fallback>
                <p:oleObj name="Equation" r:id="rId5" imgW="1993680" imgH="482400" progId="Equation.3">
                  <p:embed/>
                  <p:pic>
                    <p:nvPicPr>
                      <p:cNvPr id="92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5" y="4351338"/>
                        <a:ext cx="5314950" cy="1287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6705600" y="2438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7696200" y="16764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5" name="Rectangle 9"/>
          <p:cNvSpPr>
            <a:spLocks noChangeArrowheads="1"/>
          </p:cNvSpPr>
          <p:nvPr/>
        </p:nvSpPr>
        <p:spPr bwMode="auto">
          <a:xfrm>
            <a:off x="7086600" y="1981200"/>
            <a:ext cx="12192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8059738" y="2438400"/>
            <a:ext cx="4746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/2</a:t>
            </a: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6858000" y="2438400"/>
            <a:ext cx="550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-/2</a:t>
            </a:r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>
            <a:off x="6705600" y="5181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9" name="Line 13"/>
          <p:cNvSpPr>
            <a:spLocks noChangeShapeType="1"/>
          </p:cNvSpPr>
          <p:nvPr/>
        </p:nvSpPr>
        <p:spPr bwMode="auto">
          <a:xfrm>
            <a:off x="7696200" y="4419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0" name="Text Box 15"/>
          <p:cNvSpPr txBox="1">
            <a:spLocks noChangeArrowheads="1"/>
          </p:cNvSpPr>
          <p:nvPr/>
        </p:nvSpPr>
        <p:spPr bwMode="auto">
          <a:xfrm>
            <a:off x="8059738" y="5181600"/>
            <a:ext cx="4746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/2</a:t>
            </a:r>
          </a:p>
        </p:txBody>
      </p:sp>
      <p:sp>
        <p:nvSpPr>
          <p:cNvPr id="9231" name="Text Box 16"/>
          <p:cNvSpPr txBox="1">
            <a:spLocks noChangeArrowheads="1"/>
          </p:cNvSpPr>
          <p:nvPr/>
        </p:nvSpPr>
        <p:spPr bwMode="auto">
          <a:xfrm>
            <a:off x="6858000" y="5181600"/>
            <a:ext cx="550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-/2</a:t>
            </a:r>
          </a:p>
        </p:txBody>
      </p:sp>
      <p:sp>
        <p:nvSpPr>
          <p:cNvPr id="9232" name="Line 17"/>
          <p:cNvSpPr>
            <a:spLocks noChangeShapeType="1"/>
          </p:cNvSpPr>
          <p:nvPr/>
        </p:nvSpPr>
        <p:spPr bwMode="auto">
          <a:xfrm flipV="1">
            <a:off x="7086600" y="45720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3" name="Line 18"/>
          <p:cNvSpPr>
            <a:spLocks noChangeShapeType="1"/>
          </p:cNvSpPr>
          <p:nvPr/>
        </p:nvSpPr>
        <p:spPr bwMode="auto">
          <a:xfrm flipH="1" flipV="1">
            <a:off x="7696200" y="45720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4" name="Text Box 19"/>
          <p:cNvSpPr txBox="1">
            <a:spLocks noChangeArrowheads="1"/>
          </p:cNvSpPr>
          <p:nvPr/>
        </p:nvSpPr>
        <p:spPr bwMode="auto">
          <a:xfrm>
            <a:off x="7756525" y="4357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</a:t>
            </a:r>
          </a:p>
        </p:txBody>
      </p:sp>
      <p:sp>
        <p:nvSpPr>
          <p:cNvPr id="9235" name="Text Box 20"/>
          <p:cNvSpPr txBox="1">
            <a:spLocks noChangeArrowheads="1"/>
          </p:cNvSpPr>
          <p:nvPr/>
        </p:nvSpPr>
        <p:spPr bwMode="auto">
          <a:xfrm>
            <a:off x="7620000" y="1600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</a:t>
            </a:r>
          </a:p>
        </p:txBody>
      </p:sp>
      <p:sp>
        <p:nvSpPr>
          <p:cNvPr id="9236" name="Text Box 21"/>
          <p:cNvSpPr txBox="1">
            <a:spLocks noChangeArrowheads="1"/>
          </p:cNvSpPr>
          <p:nvPr/>
        </p:nvSpPr>
        <p:spPr bwMode="auto">
          <a:xfrm>
            <a:off x="8686800" y="22860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9237" name="Text Box 22"/>
          <p:cNvSpPr txBox="1">
            <a:spLocks noChangeArrowheads="1"/>
          </p:cNvSpPr>
          <p:nvPr/>
        </p:nvSpPr>
        <p:spPr bwMode="auto">
          <a:xfrm>
            <a:off x="8686800" y="50292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Useful Functions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52400" y="990600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Interpolation Function</a:t>
            </a:r>
            <a:endParaRPr lang="en-US" altLang="en-US" sz="280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418777"/>
              </p:ext>
            </p:extLst>
          </p:nvPr>
        </p:nvGraphicFramePr>
        <p:xfrm>
          <a:off x="549275" y="1539875"/>
          <a:ext cx="4030663" cy="227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1511280" imgH="850680" progId="Equation.3">
                  <p:embed/>
                </p:oleObj>
              </mc:Choice>
              <mc:Fallback>
                <p:oleObj name="Equation" r:id="rId3" imgW="1511280" imgH="850680" progId="Equation.3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" y="1539875"/>
                        <a:ext cx="4030663" cy="227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5" name="Picture 2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886200"/>
            <a:ext cx="7434263" cy="251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 Box 22"/>
          <p:cNvSpPr txBox="1">
            <a:spLocks noChangeArrowheads="1"/>
          </p:cNvSpPr>
          <p:nvPr/>
        </p:nvSpPr>
        <p:spPr bwMode="auto">
          <a:xfrm>
            <a:off x="4708525" y="3581400"/>
            <a:ext cx="10390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247" name="Text Box 23"/>
          <p:cNvSpPr txBox="1">
            <a:spLocks noChangeArrowheads="1"/>
          </p:cNvSpPr>
          <p:nvPr/>
        </p:nvSpPr>
        <p:spPr bwMode="auto">
          <a:xfrm>
            <a:off x="8458200" y="5410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x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Example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52400" y="1219200"/>
            <a:ext cx="8763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Find the FT, the magnitude, and the phase spectrum of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sym typeface="Symbol" panose="05050102010706020507" pitchFamily="18" charset="2"/>
              </a:rPr>
              <a:t>Answer</a:t>
            </a:r>
          </a:p>
        </p:txBody>
      </p:sp>
      <p:graphicFrame>
        <p:nvGraphicFramePr>
          <p:cNvPr id="11268" name="Object 8"/>
          <p:cNvGraphicFramePr>
            <a:graphicFrameLocks noChangeAspect="1"/>
          </p:cNvGraphicFramePr>
          <p:nvPr/>
        </p:nvGraphicFramePr>
        <p:xfrm>
          <a:off x="625475" y="2727325"/>
          <a:ext cx="7527925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2616200" imgH="482600" progId="Equation.3">
                  <p:embed/>
                </p:oleObj>
              </mc:Choice>
              <mc:Fallback>
                <p:oleObj name="Equation" r:id="rId3" imgW="2616200" imgH="482600" progId="Equation.3">
                  <p:embed/>
                  <p:pic>
                    <p:nvPicPr>
                      <p:cNvPr id="112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" y="2727325"/>
                        <a:ext cx="7527925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136525" y="5730875"/>
            <a:ext cx="87788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The spectrum of a pulse extend from 0 to </a:t>
            </a:r>
            <a:r>
              <a:rPr lang="en-US" altLang="en-US" sz="2400">
                <a:sym typeface="Symbol" panose="05050102010706020507" pitchFamily="18" charset="2"/>
              </a:rPr>
              <a:t>. However, much of the spectrum is concentrated within the first lobe (=0 to 2/)</a:t>
            </a: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212725" y="4916488"/>
            <a:ext cx="593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What is the bandwidth of the above pulse?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5" grpId="0"/>
      <p:bldP spid="143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Examples</a:t>
            </a:r>
          </a:p>
        </p:txBody>
      </p:sp>
      <p:grpSp>
        <p:nvGrpSpPr>
          <p:cNvPr id="12291" name="Group 9"/>
          <p:cNvGrpSpPr>
            <a:grpSpLocks/>
          </p:cNvGrpSpPr>
          <p:nvPr/>
        </p:nvGrpSpPr>
        <p:grpSpPr bwMode="auto">
          <a:xfrm>
            <a:off x="152400" y="990600"/>
            <a:ext cx="8763000" cy="1895475"/>
            <a:chOff x="96" y="624"/>
            <a:chExt cx="5520" cy="1194"/>
          </a:xfrm>
        </p:grpSpPr>
        <p:sp>
          <p:nvSpPr>
            <p:cNvPr id="12296" name="Text Box 3"/>
            <p:cNvSpPr txBox="1">
              <a:spLocks noChangeArrowheads="1"/>
            </p:cNvSpPr>
            <p:nvPr/>
          </p:nvSpPr>
          <p:spPr bwMode="auto">
            <a:xfrm>
              <a:off x="96" y="624"/>
              <a:ext cx="5520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dirty="0"/>
                <a:t>Find the FT of the unit impulse </a:t>
              </a:r>
              <a:r>
                <a:rPr lang="en-US" alt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en-US" sz="2800" dirty="0">
                  <a:sym typeface="Symbol" panose="05050102010706020507" pitchFamily="18" charset="2"/>
                </a:rPr>
                <a:t>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solidFill>
                    <a:schemeClr val="accent2"/>
                  </a:solidFill>
                  <a:sym typeface="Symbol" panose="05050102010706020507" pitchFamily="18" charset="2"/>
                </a:rPr>
                <a:t>Answer</a:t>
              </a:r>
            </a:p>
          </p:txBody>
        </p:sp>
        <p:graphicFrame>
          <p:nvGraphicFramePr>
            <p:cNvPr id="12297" name="Object 4"/>
            <p:cNvGraphicFramePr>
              <a:graphicFrameLocks noChangeAspect="1"/>
            </p:cNvGraphicFramePr>
            <p:nvPr/>
          </p:nvGraphicFramePr>
          <p:xfrm>
            <a:off x="825" y="1152"/>
            <a:ext cx="2142" cy="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4" name="Equation" r:id="rId3" imgW="1511300" imgH="469900" progId="Equation.3">
                    <p:embed/>
                  </p:oleObj>
                </mc:Choice>
                <mc:Fallback>
                  <p:oleObj name="Equation" r:id="rId3" imgW="1511300" imgH="469900" progId="Equation.3">
                    <p:embed/>
                    <p:pic>
                      <p:nvPicPr>
                        <p:cNvPr id="12297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5" y="1152"/>
                          <a:ext cx="2142" cy="6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9" name="Straight Connector 8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610391"/>
              </p:ext>
            </p:extLst>
          </p:nvPr>
        </p:nvGraphicFramePr>
        <p:xfrm>
          <a:off x="6172200" y="2133600"/>
          <a:ext cx="1381125" cy="490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571320" imgH="203040" progId="Equation.3">
                  <p:embed/>
                </p:oleObj>
              </mc:Choice>
              <mc:Fallback>
                <p:oleObj name="Equation" r:id="rId5" imgW="571320" imgH="203040" progId="Equation.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72200" y="2133600"/>
                        <a:ext cx="1381125" cy="4905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261870" y="3308776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/>
            <a:r>
              <a:rPr lang="en-US" altLang="en-US" sz="2800" dirty="0"/>
              <a:t>Find the inverse FT of </a:t>
            </a:r>
            <a:r>
              <a:rPr lang="en-US" altLang="en-US" sz="2800" dirty="0">
                <a:sym typeface="Symbol" panose="05050102010706020507" pitchFamily="18" charset="2"/>
              </a:rPr>
              <a:t>().</a:t>
            </a:r>
          </a:p>
          <a:p>
            <a:pPr eaLnBrk="1" hangingPunct="1"/>
            <a:r>
              <a:rPr lang="en-US" altLang="en-US" sz="2800" dirty="0">
                <a:solidFill>
                  <a:schemeClr val="accent2"/>
                </a:solidFill>
                <a:sym typeface="Symbol" panose="05050102010706020507" pitchFamily="18" charset="2"/>
              </a:rPr>
              <a:t>Answer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978494"/>
              </p:ext>
            </p:extLst>
          </p:nvPr>
        </p:nvGraphicFramePr>
        <p:xfrm>
          <a:off x="533400" y="4419600"/>
          <a:ext cx="4462463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1854000" imgH="469800" progId="Equation.3">
                  <p:embed/>
                </p:oleObj>
              </mc:Choice>
              <mc:Fallback>
                <p:oleObj name="Equation" r:id="rId7" imgW="1854000" imgH="469800" progId="Equation.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3400" y="4419600"/>
                        <a:ext cx="4462463" cy="1131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53459"/>
              </p:ext>
            </p:extLst>
          </p:nvPr>
        </p:nvGraphicFramePr>
        <p:xfrm>
          <a:off x="6324600" y="4787668"/>
          <a:ext cx="1821759" cy="470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787320" imgH="203040" progId="Equation.3">
                  <p:embed/>
                </p:oleObj>
              </mc:Choice>
              <mc:Fallback>
                <p:oleObj name="Equation" r:id="rId9" imgW="787320" imgH="203040" progId="Equation.3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24600" y="4787668"/>
                        <a:ext cx="1821759" cy="470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Examples</a:t>
            </a:r>
          </a:p>
        </p:txBody>
      </p:sp>
      <p:grpSp>
        <p:nvGrpSpPr>
          <p:cNvPr id="13315" name="Group 9"/>
          <p:cNvGrpSpPr>
            <a:grpSpLocks/>
          </p:cNvGrpSpPr>
          <p:nvPr/>
        </p:nvGrpSpPr>
        <p:grpSpPr bwMode="auto">
          <a:xfrm>
            <a:off x="152400" y="914400"/>
            <a:ext cx="8763000" cy="3136900"/>
            <a:chOff x="96" y="576"/>
            <a:chExt cx="5520" cy="1976"/>
          </a:xfrm>
        </p:grpSpPr>
        <p:sp>
          <p:nvSpPr>
            <p:cNvPr id="13320" name="Text Box 5"/>
            <p:cNvSpPr txBox="1">
              <a:spLocks noChangeArrowheads="1"/>
            </p:cNvSpPr>
            <p:nvPr/>
          </p:nvSpPr>
          <p:spPr bwMode="auto">
            <a:xfrm>
              <a:off x="96" y="576"/>
              <a:ext cx="5520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dirty="0"/>
                <a:t>Find the inverse FT of </a:t>
              </a:r>
              <a:r>
                <a:rPr lang="en-US" alt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 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 - </a:t>
              </a:r>
              <a:r>
                <a:rPr lang="en-US" altLang="en-US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solidFill>
                    <a:schemeClr val="accent2"/>
                  </a:solidFill>
                  <a:sym typeface="Symbol" panose="05050102010706020507" pitchFamily="18" charset="2"/>
                </a:rPr>
                <a:t>Answer</a:t>
              </a:r>
            </a:p>
          </p:txBody>
        </p:sp>
        <p:graphicFrame>
          <p:nvGraphicFramePr>
            <p:cNvPr id="13321" name="Object 6"/>
            <p:cNvGraphicFramePr>
              <a:graphicFrameLocks noChangeAspect="1"/>
            </p:cNvGraphicFramePr>
            <p:nvPr/>
          </p:nvGraphicFramePr>
          <p:xfrm>
            <a:off x="178" y="1104"/>
            <a:ext cx="5438" cy="1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8" name="Microsoft Equation 3.0" r:id="rId3" imgW="3581400" imgH="952500" progId="Equation.3">
                    <p:embed/>
                  </p:oleObj>
                </mc:Choice>
                <mc:Fallback>
                  <p:oleObj name="Microsoft Equation 3.0" r:id="rId3" imgW="3581400" imgH="952500" progId="Equation.3">
                    <p:embed/>
                    <p:pic>
                      <p:nvPicPr>
                        <p:cNvPr id="13321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" y="1104"/>
                          <a:ext cx="5438" cy="1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52400" y="4235450"/>
            <a:ext cx="8763000" cy="2601913"/>
            <a:chOff x="96" y="2668"/>
            <a:chExt cx="5520" cy="1639"/>
          </a:xfrm>
        </p:grpSpPr>
        <p:sp>
          <p:nvSpPr>
            <p:cNvPr id="13318" name="Text Box 7"/>
            <p:cNvSpPr txBox="1">
              <a:spLocks noChangeArrowheads="1"/>
            </p:cNvSpPr>
            <p:nvPr/>
          </p:nvSpPr>
          <p:spPr bwMode="auto">
            <a:xfrm>
              <a:off x="96" y="2668"/>
              <a:ext cx="5520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/>
                <a:t>Find the FT of the everlasting sinusoid cos(</a:t>
              </a:r>
              <a:r>
                <a:rPr lang="en-US" altLang="en-US" sz="2800">
                  <a:sym typeface="Symbol" panose="05050102010706020507" pitchFamily="18" charset="2"/>
                </a:rPr>
                <a:t></a:t>
              </a:r>
              <a:r>
                <a:rPr lang="en-US" altLang="en-US" sz="2400" baseline="-25000">
                  <a:sym typeface="Symbol" panose="05050102010706020507" pitchFamily="18" charset="2"/>
                </a:rPr>
                <a:t>0</a:t>
              </a:r>
              <a:r>
                <a:rPr lang="en-US" altLang="en-US" sz="2800">
                  <a:sym typeface="Symbol" panose="05050102010706020507" pitchFamily="18" charset="2"/>
                </a:rPr>
                <a:t>t).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chemeClr val="accent2"/>
                  </a:solidFill>
                  <a:sym typeface="Symbol" panose="05050102010706020507" pitchFamily="18" charset="2"/>
                </a:rPr>
                <a:t>Answer</a:t>
              </a:r>
            </a:p>
          </p:txBody>
        </p:sp>
        <p:graphicFrame>
          <p:nvGraphicFramePr>
            <p:cNvPr id="1331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2362828"/>
                </p:ext>
              </p:extLst>
            </p:nvPr>
          </p:nvGraphicFramePr>
          <p:xfrm>
            <a:off x="971" y="3072"/>
            <a:ext cx="4069" cy="1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9" name="Equation" r:id="rId5" imgW="2679480" imgH="812520" progId="Equation.3">
                    <p:embed/>
                  </p:oleObj>
                </mc:Choice>
                <mc:Fallback>
                  <p:oleObj name="Equation" r:id="rId5" imgW="2679480" imgH="812520" progId="Equation.3">
                    <p:embed/>
                    <p:pic>
                      <p:nvPicPr>
                        <p:cNvPr id="13319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" y="3072"/>
                          <a:ext cx="4069" cy="1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9" name="Straight Connector 8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Examples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52400" y="1143000"/>
            <a:ext cx="8763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Find the FT of a periodic signal</a:t>
            </a:r>
            <a:r>
              <a:rPr lang="en-US" altLang="en-US" sz="2800"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Answer</a:t>
            </a:r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404813" y="2058988"/>
          <a:ext cx="8388350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3479800" imgH="1104900" progId="Equation.3">
                  <p:embed/>
                </p:oleObj>
              </mc:Choice>
              <mc:Fallback>
                <p:oleObj name="Equation" r:id="rId3" imgW="3479800" imgH="1104900" progId="Equation.3">
                  <p:embed/>
                  <p:pic>
                    <p:nvPicPr>
                      <p:cNvPr id="14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2058988"/>
                        <a:ext cx="8388350" cy="2665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Examples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52400" y="1195388"/>
            <a:ext cx="87630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Find the FT of the unit impulse train </a:t>
            </a:r>
            <a:endParaRPr lang="en-US" altLang="en-US" sz="2800" dirty="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sym typeface="Symbol" panose="05050102010706020507" pitchFamily="18" charset="2"/>
              </a:rPr>
              <a:t>Answer</a:t>
            </a:r>
          </a:p>
        </p:txBody>
      </p:sp>
      <p:graphicFrame>
        <p:nvGraphicFramePr>
          <p:cNvPr id="15364" name="Object 7"/>
          <p:cNvGraphicFramePr>
            <a:graphicFrameLocks noChangeAspect="1"/>
          </p:cNvGraphicFramePr>
          <p:nvPr/>
        </p:nvGraphicFramePr>
        <p:xfrm>
          <a:off x="5943600" y="1176338"/>
          <a:ext cx="9906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380835" imgH="241195" progId="Equation.3">
                  <p:embed/>
                </p:oleObj>
              </mc:Choice>
              <mc:Fallback>
                <p:oleObj name="Equation" r:id="rId3" imgW="380835" imgH="241195" progId="Equation.3">
                  <p:embed/>
                  <p:pic>
                    <p:nvPicPr>
                      <p:cNvPr id="1536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176338"/>
                        <a:ext cx="99060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365" name="Object 8"/>
              <p:cNvSpPr txBox="1"/>
              <p:nvPr/>
            </p:nvSpPr>
            <p:spPr bwMode="auto">
              <a:xfrm>
                <a:off x="-13855" y="2939473"/>
                <a:ext cx="5638800" cy="32115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=∞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𝑗𝑛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US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=∞</m:t>
                          </m:r>
                        </m:sup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365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13855" y="2939473"/>
                <a:ext cx="5638800" cy="32115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4945" y="2222526"/>
            <a:ext cx="30480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9213"/>
            <a:ext cx="8001000" cy="676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01700"/>
            <a:ext cx="8072438" cy="595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534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Properties of the Fourier Transform</a:t>
            </a:r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381000" y="990600"/>
            <a:ext cx="75438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Linearity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FontTx/>
              <a:buChar char="•"/>
              <a:defRPr/>
            </a:pPr>
            <a:endParaRPr lang="en-US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  Let                                       and 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FontTx/>
              <a:buChar char="•"/>
              <a:defRPr/>
            </a:pPr>
            <a:endParaRPr lang="en-US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  then</a:t>
            </a:r>
          </a:p>
        </p:txBody>
      </p:sp>
      <p:graphicFrame>
        <p:nvGraphicFramePr>
          <p:cNvPr id="18436" name="Object 10"/>
          <p:cNvGraphicFramePr>
            <a:graphicFrameLocks noChangeAspect="1"/>
          </p:cNvGraphicFramePr>
          <p:nvPr/>
        </p:nvGraphicFramePr>
        <p:xfrm>
          <a:off x="1371600" y="1592263"/>
          <a:ext cx="23622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1843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92263"/>
                        <a:ext cx="2362200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11"/>
          <p:cNvGraphicFramePr>
            <a:graphicFrameLocks noChangeAspect="1"/>
          </p:cNvGraphicFramePr>
          <p:nvPr/>
        </p:nvGraphicFramePr>
        <p:xfrm>
          <a:off x="5410200" y="1557338"/>
          <a:ext cx="21336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799753" imgH="215806" progId="Equation.3">
                  <p:embed/>
                </p:oleObj>
              </mc:Choice>
              <mc:Fallback>
                <p:oleObj name="Equation" r:id="rId5" imgW="799753" imgH="215806" progId="Equation.3">
                  <p:embed/>
                  <p:pic>
                    <p:nvPicPr>
                      <p:cNvPr id="1843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557338"/>
                        <a:ext cx="21336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12"/>
          <p:cNvGraphicFramePr>
            <a:graphicFrameLocks noChangeAspect="1"/>
          </p:cNvGraphicFramePr>
          <p:nvPr/>
        </p:nvGraphicFramePr>
        <p:xfrm>
          <a:off x="1752600" y="2360613"/>
          <a:ext cx="5486400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7" imgW="1943100" imgH="215900" progId="Equation.3">
                  <p:embed/>
                </p:oleObj>
              </mc:Choice>
              <mc:Fallback>
                <p:oleObj name="Equation" r:id="rId7" imgW="1943100" imgH="215900" progId="Equation.3">
                  <p:embed/>
                  <p:pic>
                    <p:nvPicPr>
                      <p:cNvPr id="1843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360613"/>
                        <a:ext cx="5486400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6" name="Rectangle 28"/>
          <p:cNvSpPr>
            <a:spLocks noChangeArrowheads="1"/>
          </p:cNvSpPr>
          <p:nvPr/>
        </p:nvSpPr>
        <p:spPr bwMode="auto">
          <a:xfrm>
            <a:off x="381000" y="3200400"/>
            <a:ext cx="40767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Time Scaling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FontTx/>
              <a:buChar char="•"/>
              <a:defRPr/>
            </a:pPr>
            <a:endParaRPr lang="en-US" sz="1600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   Let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FontTx/>
              <a:buChar char="•"/>
              <a:defRPr/>
            </a:pPr>
            <a:endParaRPr lang="en-US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endParaRPr lang="en-US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  then</a:t>
            </a:r>
          </a:p>
        </p:txBody>
      </p:sp>
      <p:graphicFrame>
        <p:nvGraphicFramePr>
          <p:cNvPr id="18440" name="Object 29"/>
          <p:cNvGraphicFramePr>
            <a:graphicFrameLocks noChangeAspect="1"/>
          </p:cNvGraphicFramePr>
          <p:nvPr/>
        </p:nvGraphicFramePr>
        <p:xfrm>
          <a:off x="1524000" y="3656013"/>
          <a:ext cx="2336800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9" imgW="825142" imgH="215806" progId="Equation.3">
                  <p:embed/>
                </p:oleObj>
              </mc:Choice>
              <mc:Fallback>
                <p:oleObj name="Equation" r:id="rId9" imgW="825142" imgH="215806" progId="Equation.3">
                  <p:embed/>
                  <p:pic>
                    <p:nvPicPr>
                      <p:cNvPr id="1844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656013"/>
                        <a:ext cx="2336800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30"/>
          <p:cNvGraphicFramePr>
            <a:graphicFrameLocks noChangeAspect="1"/>
          </p:cNvGraphicFramePr>
          <p:nvPr/>
        </p:nvGraphicFramePr>
        <p:xfrm>
          <a:off x="1524000" y="4572000"/>
          <a:ext cx="3089275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1" imgW="1155700" imgH="457200" progId="Equation.3">
                  <p:embed/>
                </p:oleObj>
              </mc:Choice>
              <mc:Fallback>
                <p:oleObj name="Equation" r:id="rId11" imgW="1155700" imgH="457200" progId="Equation.3">
                  <p:embed/>
                  <p:pic>
                    <p:nvPicPr>
                      <p:cNvPr id="1844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572000"/>
                        <a:ext cx="3089275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Text Box 31"/>
          <p:cNvSpPr txBox="1">
            <a:spLocks noChangeArrowheads="1"/>
          </p:cNvSpPr>
          <p:nvPr/>
        </p:nvSpPr>
        <p:spPr bwMode="auto">
          <a:xfrm>
            <a:off x="5410200" y="3602504"/>
            <a:ext cx="344487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alt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1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leads to compression in the time domain which results in expansion in the frequency domain</a:t>
            </a:r>
          </a:p>
        </p:txBody>
      </p:sp>
      <p:sp>
        <p:nvSpPr>
          <p:cNvPr id="18443" name="Text Box 32"/>
          <p:cNvSpPr txBox="1">
            <a:spLocks noChangeArrowheads="1"/>
          </p:cNvSpPr>
          <p:nvPr/>
        </p:nvSpPr>
        <p:spPr bwMode="auto">
          <a:xfrm>
            <a:off x="152400" y="5715000"/>
            <a:ext cx="8915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Internet channel </a:t>
            </a:r>
            <a:r>
              <a:rPr lang="en-US" altLang="en-US" sz="2400" i="1"/>
              <a:t>A</a:t>
            </a:r>
            <a:r>
              <a:rPr lang="en-US" altLang="en-US" sz="2400"/>
              <a:t> can transmit 100k pulse/sec and channel </a:t>
            </a:r>
            <a:r>
              <a:rPr lang="en-US" altLang="en-US" sz="2400" i="1"/>
              <a:t>B</a:t>
            </a:r>
            <a:r>
              <a:rPr lang="en-US" altLang="en-US" sz="2400"/>
              <a:t> can transmit 200k pulse/sec. </a:t>
            </a:r>
            <a:r>
              <a:rPr lang="en-US" altLang="en-US" sz="2400">
                <a:solidFill>
                  <a:srgbClr val="FF0000"/>
                </a:solidFill>
              </a:rPr>
              <a:t>Which channel does require higher bandwidth?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Properties of the Fourier Transform</a:t>
            </a: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381000" y="990600"/>
            <a:ext cx="40767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Time Reversal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endParaRPr lang="en-US" sz="1800" i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sz="2000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   </a:t>
            </a: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Let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FontTx/>
              <a:buChar char="•"/>
              <a:defRPr/>
            </a:pPr>
            <a:endParaRPr lang="en-US" sz="1400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sz="2000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  </a:t>
            </a: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then</a:t>
            </a:r>
            <a:r>
              <a:rPr lang="en-US" sz="2000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   </a:t>
            </a:r>
          </a:p>
        </p:txBody>
      </p:sp>
      <p:graphicFrame>
        <p:nvGraphicFramePr>
          <p:cNvPr id="19460" name="Object 22"/>
          <p:cNvGraphicFramePr>
            <a:graphicFrameLocks noChangeAspect="1"/>
          </p:cNvGraphicFramePr>
          <p:nvPr/>
        </p:nvGraphicFramePr>
        <p:xfrm>
          <a:off x="1587500" y="2209800"/>
          <a:ext cx="2832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2832100" imgH="457200" progId="Equation.DSMT4">
                  <p:embed/>
                </p:oleObj>
              </mc:Choice>
              <mc:Fallback>
                <p:oleObj name="Equation" r:id="rId3" imgW="2832100" imgH="457200" progId="Equation.DSMT4">
                  <p:embed/>
                  <p:pic>
                    <p:nvPicPr>
                      <p:cNvPr id="1946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0" y="2209800"/>
                        <a:ext cx="2832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24"/>
          <p:cNvGraphicFramePr>
            <a:graphicFrameLocks noChangeAspect="1"/>
          </p:cNvGraphicFramePr>
          <p:nvPr/>
        </p:nvGraphicFramePr>
        <p:xfrm>
          <a:off x="1600200" y="1524000"/>
          <a:ext cx="23368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1946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524000"/>
                        <a:ext cx="23368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Text Box 31"/>
          <p:cNvSpPr txBox="1">
            <a:spLocks noChangeArrowheads="1"/>
          </p:cNvSpPr>
          <p:nvPr/>
        </p:nvSpPr>
        <p:spPr bwMode="auto">
          <a:xfrm>
            <a:off x="457200" y="2819400"/>
            <a:ext cx="41096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A50021"/>
                </a:solidFill>
              </a:rPr>
              <a:t>Example: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Find the FT of 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4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-a|t</a:t>
            </a:r>
            <a:r>
              <a:rPr lang="en-US" altLang="en-US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</p:txBody>
      </p:sp>
      <p:grpSp>
        <p:nvGrpSpPr>
          <p:cNvPr id="19463" name="Group 32"/>
          <p:cNvGrpSpPr>
            <a:grpSpLocks/>
          </p:cNvGrpSpPr>
          <p:nvPr/>
        </p:nvGrpSpPr>
        <p:grpSpPr bwMode="auto">
          <a:xfrm>
            <a:off x="320675" y="3581400"/>
            <a:ext cx="6553200" cy="2057400"/>
            <a:chOff x="240" y="720"/>
            <a:chExt cx="4320" cy="1440"/>
          </a:xfrm>
        </p:grpSpPr>
        <p:sp>
          <p:nvSpPr>
            <p:cNvPr id="23585" name="Rectangle 33"/>
            <p:cNvSpPr>
              <a:spLocks noChangeArrowheads="1"/>
            </p:cNvSpPr>
            <p:nvPr/>
          </p:nvSpPr>
          <p:spPr bwMode="auto">
            <a:xfrm>
              <a:off x="240" y="720"/>
              <a:ext cx="4320" cy="1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defRPr/>
              </a:pPr>
              <a:r>
                <a:rPr lang="en-US" dirty="0">
                  <a:solidFill>
                    <a:srgbClr val="0000FF"/>
                  </a:solidFill>
                  <a:latin typeface="Arial" charset="0"/>
                  <a:cs typeface="Arial" charset="0"/>
                </a:rPr>
                <a:t>Left or Right Shift in Time</a:t>
              </a:r>
            </a:p>
            <a:p>
              <a:pPr marL="342900" indent="-342900" eaLnBrk="1" hangingPunct="1">
                <a:lnSpc>
                  <a:spcPct val="85000"/>
                </a:lnSpc>
                <a:spcBef>
                  <a:spcPct val="20000"/>
                </a:spcBef>
                <a:buFontTx/>
                <a:buChar char="•"/>
                <a:defRPr/>
              </a:pPr>
              <a:endPara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endParaRPr>
            </a:p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defRPr/>
              </a:pPr>
              <a:r>
                <a:rPr lang="en-US" i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cs typeface="Arial" charset="0"/>
                </a:rPr>
                <a:t>    Let</a:t>
              </a:r>
            </a:p>
            <a:p>
              <a:pPr marL="342900" indent="-342900" eaLnBrk="1" hangingPunct="1">
                <a:lnSpc>
                  <a:spcPct val="85000"/>
                </a:lnSpc>
                <a:spcBef>
                  <a:spcPct val="20000"/>
                </a:spcBef>
                <a:buFontTx/>
                <a:buChar char="•"/>
                <a:defRPr/>
              </a:pPr>
              <a:endParaRPr lang="en-US" sz="1600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endParaRPr>
            </a:p>
            <a:p>
              <a:pPr marL="342900" indent="-342900" eaLnBrk="1" hangingPunct="1">
                <a:lnSpc>
                  <a:spcPct val="85000"/>
                </a:lnSpc>
                <a:spcBef>
                  <a:spcPct val="20000"/>
                </a:spcBef>
                <a:defRPr/>
              </a:pPr>
              <a:r>
                <a:rPr lang="en-US" i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cs typeface="Arial" charset="0"/>
                </a:rPr>
                <a:t>   then</a:t>
              </a:r>
            </a:p>
            <a:p>
              <a:pPr marL="342900" indent="-342900" eaLnBrk="1" hangingPunct="1">
                <a:lnSpc>
                  <a:spcPct val="85000"/>
                </a:lnSpc>
                <a:spcBef>
                  <a:spcPct val="20000"/>
                </a:spcBef>
                <a:buFontTx/>
                <a:buChar char="•"/>
                <a:defRPr/>
              </a:pPr>
              <a:endPara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endParaRPr>
            </a:p>
          </p:txBody>
        </p:sp>
        <p:graphicFrame>
          <p:nvGraphicFramePr>
            <p:cNvPr id="19470" name="Object 34"/>
            <p:cNvGraphicFramePr>
              <a:graphicFrameLocks noChangeAspect="1"/>
            </p:cNvGraphicFramePr>
            <p:nvPr/>
          </p:nvGraphicFramePr>
          <p:xfrm>
            <a:off x="1152" y="1152"/>
            <a:ext cx="1472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6" name="Equation" r:id="rId7" imgW="825142" imgH="215806" progId="Equation.3">
                    <p:embed/>
                  </p:oleObj>
                </mc:Choice>
                <mc:Fallback>
                  <p:oleObj name="Equation" r:id="rId7" imgW="825142" imgH="215806" progId="Equation.3">
                    <p:embed/>
                    <p:pic>
                      <p:nvPicPr>
                        <p:cNvPr id="1947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1152"/>
                          <a:ext cx="1472" cy="3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1" name="Object 35"/>
            <p:cNvGraphicFramePr>
              <a:graphicFrameLocks noChangeAspect="1"/>
            </p:cNvGraphicFramePr>
            <p:nvPr/>
          </p:nvGraphicFramePr>
          <p:xfrm>
            <a:off x="1090" y="1570"/>
            <a:ext cx="3048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7" name="Equation" r:id="rId8" imgW="1371600" imgH="241300" progId="Equation.3">
                    <p:embed/>
                  </p:oleObj>
                </mc:Choice>
                <mc:Fallback>
                  <p:oleObj name="Equation" r:id="rId8" imgW="1371600" imgH="241300" progId="Equation.3">
                    <p:embed/>
                    <p:pic>
                      <p:nvPicPr>
                        <p:cNvPr id="19471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0" y="1570"/>
                          <a:ext cx="3048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5" name="Text Box 37"/>
          <p:cNvSpPr txBox="1">
            <a:spLocks noChangeArrowheads="1"/>
          </p:cNvSpPr>
          <p:nvPr/>
        </p:nvSpPr>
        <p:spPr bwMode="auto">
          <a:xfrm>
            <a:off x="5763779" y="3290822"/>
            <a:ext cx="32162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Time shift effects the phase and not the magnitude.</a:t>
            </a:r>
          </a:p>
        </p:txBody>
      </p:sp>
      <p:sp>
        <p:nvSpPr>
          <p:cNvPr id="19466" name="Text Box 38"/>
          <p:cNvSpPr txBox="1">
            <a:spLocks noChangeArrowheads="1"/>
          </p:cNvSpPr>
          <p:nvPr/>
        </p:nvSpPr>
        <p:spPr bwMode="auto">
          <a:xfrm>
            <a:off x="214745" y="5741988"/>
            <a:ext cx="8763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A50021"/>
                </a:solidFill>
              </a:rPr>
              <a:t>Example: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Find the FT of                and draw its magnitude and spectrum </a:t>
            </a:r>
            <a:endParaRPr lang="en-US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7" name="Object 39"/>
              <p:cNvSpPr txBox="1"/>
              <p:nvPr/>
            </p:nvSpPr>
            <p:spPr bwMode="auto">
              <a:xfrm>
                <a:off x="3657600" y="5741988"/>
                <a:ext cx="1066800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467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600" y="5741988"/>
                <a:ext cx="1066800" cy="533400"/>
              </a:xfrm>
              <a:prstGeom prst="rect">
                <a:avLst/>
              </a:prstGeom>
              <a:blipFill>
                <a:blip r:embed="rId10"/>
                <a:stretch>
                  <a:fillRect r="-3429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Properties of the Fourier Transform</a:t>
            </a:r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381000" y="990600"/>
            <a:ext cx="8610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Multiplication by a Complex Exponential (Freq. Shift Property)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FontTx/>
              <a:buChar char="•"/>
              <a:defRPr/>
            </a:pPr>
            <a:endParaRPr lang="en-US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  Let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FontTx/>
              <a:buChar char="•"/>
              <a:defRPr/>
            </a:pPr>
            <a:endParaRPr lang="en-US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 then </a:t>
            </a:r>
          </a:p>
        </p:txBody>
      </p:sp>
      <p:graphicFrame>
        <p:nvGraphicFramePr>
          <p:cNvPr id="2048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088992"/>
              </p:ext>
            </p:extLst>
          </p:nvPr>
        </p:nvGraphicFramePr>
        <p:xfrm>
          <a:off x="1814945" y="2404341"/>
          <a:ext cx="38989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3898900" imgH="571500" progId="Equation.DSMT4">
                  <p:embed/>
                </p:oleObj>
              </mc:Choice>
              <mc:Fallback>
                <p:oleObj name="Equation" r:id="rId3" imgW="3898900" imgH="571500" progId="Equation.DSMT4">
                  <p:embed/>
                  <p:pic>
                    <p:nvPicPr>
                      <p:cNvPr id="2048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945" y="2404341"/>
                        <a:ext cx="389890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3177073"/>
              </p:ext>
            </p:extLst>
          </p:nvPr>
        </p:nvGraphicFramePr>
        <p:xfrm>
          <a:off x="1828800" y="1658216"/>
          <a:ext cx="23368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048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658216"/>
                        <a:ext cx="2336800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6" name="Rectangle 20"/>
          <p:cNvSpPr>
            <a:spLocks noChangeArrowheads="1"/>
          </p:cNvSpPr>
          <p:nvPr/>
        </p:nvSpPr>
        <p:spPr bwMode="auto">
          <a:xfrm>
            <a:off x="381000" y="3581400"/>
            <a:ext cx="8077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Multiplication by a Sinusoid (Amplitude Modulation)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endParaRPr lang="en-US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 Let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FontTx/>
              <a:buChar char="•"/>
              <a:defRPr/>
            </a:pPr>
            <a:endParaRPr lang="en-US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 then</a:t>
            </a:r>
          </a:p>
        </p:txBody>
      </p:sp>
      <p:graphicFrame>
        <p:nvGraphicFramePr>
          <p:cNvPr id="20487" name="Object 21"/>
          <p:cNvGraphicFramePr>
            <a:graphicFrameLocks noChangeAspect="1"/>
          </p:cNvGraphicFramePr>
          <p:nvPr/>
        </p:nvGraphicFramePr>
        <p:xfrm>
          <a:off x="1524000" y="4267200"/>
          <a:ext cx="23368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7" imgW="825142" imgH="215806" progId="Equation.3">
                  <p:embed/>
                </p:oleObj>
              </mc:Choice>
              <mc:Fallback>
                <p:oleObj name="Equation" r:id="rId7" imgW="825142" imgH="215806" progId="Equation.3">
                  <p:embed/>
                  <p:pic>
                    <p:nvPicPr>
                      <p:cNvPr id="2048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267200"/>
                        <a:ext cx="23368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22"/>
          <p:cNvGraphicFramePr>
            <a:graphicFrameLocks noChangeAspect="1"/>
          </p:cNvGraphicFramePr>
          <p:nvPr/>
        </p:nvGraphicFramePr>
        <p:xfrm>
          <a:off x="1550988" y="4800600"/>
          <a:ext cx="6831012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8" imgW="2578100" imgH="393700" progId="Equation.3">
                  <p:embed/>
                </p:oleObj>
              </mc:Choice>
              <mc:Fallback>
                <p:oleObj name="Equation" r:id="rId8" imgW="2578100" imgH="393700" progId="Equation.3">
                  <p:embed/>
                  <p:pic>
                    <p:nvPicPr>
                      <p:cNvPr id="2048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988" y="4800600"/>
                        <a:ext cx="6831012" cy="104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Text Box 24"/>
          <p:cNvSpPr txBox="1">
            <a:spLocks noChangeArrowheads="1"/>
          </p:cNvSpPr>
          <p:nvPr/>
        </p:nvSpPr>
        <p:spPr bwMode="auto">
          <a:xfrm>
            <a:off x="152400" y="5943600"/>
            <a:ext cx="82931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en-US" sz="2400">
                <a:sym typeface="Symbol" panose="05050102010706020507" pitchFamily="18" charset="2"/>
              </a:rPr>
              <a:t>is the </a:t>
            </a:r>
            <a:r>
              <a:rPr lang="en-US" altLang="en-US" sz="2400">
                <a:solidFill>
                  <a:srgbClr val="A50021"/>
                </a:solidFill>
                <a:sym typeface="Symbol" panose="05050102010706020507" pitchFamily="18" charset="2"/>
              </a:rPr>
              <a:t>carrier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is the modulating signal (</a:t>
            </a:r>
            <a:r>
              <a:rPr lang="en-US" altLang="en-US" sz="2400">
                <a:solidFill>
                  <a:srgbClr val="A50021"/>
                </a:solidFill>
                <a:sym typeface="Symbol" panose="05050102010706020507" pitchFamily="18" charset="2"/>
              </a:rPr>
              <a:t>message</a:t>
            </a:r>
            <a:r>
              <a:rPr lang="en-US" altLang="en-US" sz="2400">
                <a:sym typeface="Symbol" panose="05050102010706020507" pitchFamily="18" charset="2"/>
              </a:rPr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en-US" sz="2400">
                <a:sym typeface="Symbol" panose="05050102010706020507" pitchFamily="18" charset="2"/>
              </a:rPr>
              <a:t>is the </a:t>
            </a:r>
            <a:r>
              <a:rPr lang="en-US" altLang="en-US" sz="2400">
                <a:solidFill>
                  <a:srgbClr val="A50021"/>
                </a:solidFill>
                <a:sym typeface="Symbol" panose="05050102010706020507" pitchFamily="18" charset="2"/>
              </a:rPr>
              <a:t>modulated signal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22238"/>
            <a:ext cx="8686800" cy="715962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Example: Amplitude Modulation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36525" y="1287463"/>
            <a:ext cx="5011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A50021"/>
                </a:solidFill>
              </a:rPr>
              <a:t>Example:</a:t>
            </a:r>
            <a:r>
              <a:rPr lang="en-US" altLang="en-US" sz="2400"/>
              <a:t> Find the FT for the signal </a:t>
            </a:r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3962400" y="2659063"/>
            <a:ext cx="480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509" name="Group 5"/>
          <p:cNvGrpSpPr>
            <a:grpSpLocks/>
          </p:cNvGrpSpPr>
          <p:nvPr/>
        </p:nvGrpSpPr>
        <p:grpSpPr bwMode="auto">
          <a:xfrm>
            <a:off x="4953000" y="2049463"/>
            <a:ext cx="3505200" cy="1257300"/>
            <a:chOff x="432" y="648"/>
            <a:chExt cx="4800" cy="792"/>
          </a:xfrm>
        </p:grpSpPr>
        <p:grpSp>
          <p:nvGrpSpPr>
            <p:cNvPr id="21521" name="Group 6"/>
            <p:cNvGrpSpPr>
              <a:grpSpLocks/>
            </p:cNvGrpSpPr>
            <p:nvPr/>
          </p:nvGrpSpPr>
          <p:grpSpPr bwMode="auto">
            <a:xfrm>
              <a:off x="3312" y="648"/>
              <a:ext cx="1920" cy="792"/>
              <a:chOff x="3312" y="1848"/>
              <a:chExt cx="1920" cy="792"/>
            </a:xfrm>
          </p:grpSpPr>
          <p:sp>
            <p:nvSpPr>
              <p:cNvPr id="21526" name="Freeform 7"/>
              <p:cNvSpPr>
                <a:spLocks/>
              </p:cNvSpPr>
              <p:nvPr/>
            </p:nvSpPr>
            <p:spPr bwMode="auto">
              <a:xfrm>
                <a:off x="4272" y="1848"/>
                <a:ext cx="960" cy="784"/>
              </a:xfrm>
              <a:custGeom>
                <a:avLst/>
                <a:gdLst>
                  <a:gd name="T0" fmla="*/ 0 w 960"/>
                  <a:gd name="T1" fmla="*/ 392 h 784"/>
                  <a:gd name="T2" fmla="*/ 240 w 960"/>
                  <a:gd name="T3" fmla="*/ 56 h 784"/>
                  <a:gd name="T4" fmla="*/ 720 w 960"/>
                  <a:gd name="T5" fmla="*/ 728 h 784"/>
                  <a:gd name="T6" fmla="*/ 960 w 960"/>
                  <a:gd name="T7" fmla="*/ 392 h 7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0"/>
                  <a:gd name="T13" fmla="*/ 0 h 784"/>
                  <a:gd name="T14" fmla="*/ 960 w 960"/>
                  <a:gd name="T15" fmla="*/ 784 h 7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0" h="784">
                    <a:moveTo>
                      <a:pt x="0" y="392"/>
                    </a:moveTo>
                    <a:cubicBezTo>
                      <a:pt x="60" y="196"/>
                      <a:pt x="120" y="0"/>
                      <a:pt x="240" y="56"/>
                    </a:cubicBezTo>
                    <a:cubicBezTo>
                      <a:pt x="360" y="112"/>
                      <a:pt x="600" y="672"/>
                      <a:pt x="720" y="728"/>
                    </a:cubicBezTo>
                    <a:cubicBezTo>
                      <a:pt x="840" y="784"/>
                      <a:pt x="900" y="588"/>
                      <a:pt x="960" y="39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7" name="Freeform 8"/>
              <p:cNvSpPr>
                <a:spLocks/>
              </p:cNvSpPr>
              <p:nvPr/>
            </p:nvSpPr>
            <p:spPr bwMode="auto">
              <a:xfrm>
                <a:off x="3312" y="1856"/>
                <a:ext cx="960" cy="784"/>
              </a:xfrm>
              <a:custGeom>
                <a:avLst/>
                <a:gdLst>
                  <a:gd name="T0" fmla="*/ 0 w 960"/>
                  <a:gd name="T1" fmla="*/ 392 h 784"/>
                  <a:gd name="T2" fmla="*/ 240 w 960"/>
                  <a:gd name="T3" fmla="*/ 56 h 784"/>
                  <a:gd name="T4" fmla="*/ 720 w 960"/>
                  <a:gd name="T5" fmla="*/ 728 h 784"/>
                  <a:gd name="T6" fmla="*/ 960 w 960"/>
                  <a:gd name="T7" fmla="*/ 392 h 7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0"/>
                  <a:gd name="T13" fmla="*/ 0 h 784"/>
                  <a:gd name="T14" fmla="*/ 960 w 960"/>
                  <a:gd name="T15" fmla="*/ 784 h 7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0" h="784">
                    <a:moveTo>
                      <a:pt x="0" y="392"/>
                    </a:moveTo>
                    <a:cubicBezTo>
                      <a:pt x="60" y="196"/>
                      <a:pt x="120" y="0"/>
                      <a:pt x="240" y="56"/>
                    </a:cubicBezTo>
                    <a:cubicBezTo>
                      <a:pt x="360" y="112"/>
                      <a:pt x="600" y="672"/>
                      <a:pt x="720" y="728"/>
                    </a:cubicBezTo>
                    <a:cubicBezTo>
                      <a:pt x="840" y="784"/>
                      <a:pt x="900" y="588"/>
                      <a:pt x="960" y="39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522" name="Group 9"/>
            <p:cNvGrpSpPr>
              <a:grpSpLocks/>
            </p:cNvGrpSpPr>
            <p:nvPr/>
          </p:nvGrpSpPr>
          <p:grpSpPr bwMode="auto">
            <a:xfrm>
              <a:off x="1392" y="648"/>
              <a:ext cx="1920" cy="792"/>
              <a:chOff x="3312" y="1848"/>
              <a:chExt cx="1920" cy="792"/>
            </a:xfrm>
          </p:grpSpPr>
          <p:sp>
            <p:nvSpPr>
              <p:cNvPr id="21524" name="Freeform 10"/>
              <p:cNvSpPr>
                <a:spLocks/>
              </p:cNvSpPr>
              <p:nvPr/>
            </p:nvSpPr>
            <p:spPr bwMode="auto">
              <a:xfrm>
                <a:off x="4272" y="1848"/>
                <a:ext cx="960" cy="784"/>
              </a:xfrm>
              <a:custGeom>
                <a:avLst/>
                <a:gdLst>
                  <a:gd name="T0" fmla="*/ 0 w 960"/>
                  <a:gd name="T1" fmla="*/ 392 h 784"/>
                  <a:gd name="T2" fmla="*/ 240 w 960"/>
                  <a:gd name="T3" fmla="*/ 56 h 784"/>
                  <a:gd name="T4" fmla="*/ 720 w 960"/>
                  <a:gd name="T5" fmla="*/ 728 h 784"/>
                  <a:gd name="T6" fmla="*/ 960 w 960"/>
                  <a:gd name="T7" fmla="*/ 392 h 7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0"/>
                  <a:gd name="T13" fmla="*/ 0 h 784"/>
                  <a:gd name="T14" fmla="*/ 960 w 960"/>
                  <a:gd name="T15" fmla="*/ 784 h 7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0" h="784">
                    <a:moveTo>
                      <a:pt x="0" y="392"/>
                    </a:moveTo>
                    <a:cubicBezTo>
                      <a:pt x="60" y="196"/>
                      <a:pt x="120" y="0"/>
                      <a:pt x="240" y="56"/>
                    </a:cubicBezTo>
                    <a:cubicBezTo>
                      <a:pt x="360" y="112"/>
                      <a:pt x="600" y="672"/>
                      <a:pt x="720" y="728"/>
                    </a:cubicBezTo>
                    <a:cubicBezTo>
                      <a:pt x="840" y="784"/>
                      <a:pt x="900" y="588"/>
                      <a:pt x="960" y="39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5" name="Freeform 11"/>
              <p:cNvSpPr>
                <a:spLocks/>
              </p:cNvSpPr>
              <p:nvPr/>
            </p:nvSpPr>
            <p:spPr bwMode="auto">
              <a:xfrm>
                <a:off x="3312" y="1856"/>
                <a:ext cx="960" cy="784"/>
              </a:xfrm>
              <a:custGeom>
                <a:avLst/>
                <a:gdLst>
                  <a:gd name="T0" fmla="*/ 0 w 960"/>
                  <a:gd name="T1" fmla="*/ 392 h 784"/>
                  <a:gd name="T2" fmla="*/ 240 w 960"/>
                  <a:gd name="T3" fmla="*/ 56 h 784"/>
                  <a:gd name="T4" fmla="*/ 720 w 960"/>
                  <a:gd name="T5" fmla="*/ 728 h 784"/>
                  <a:gd name="T6" fmla="*/ 960 w 960"/>
                  <a:gd name="T7" fmla="*/ 392 h 7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0"/>
                  <a:gd name="T13" fmla="*/ 0 h 784"/>
                  <a:gd name="T14" fmla="*/ 960 w 960"/>
                  <a:gd name="T15" fmla="*/ 784 h 7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0" h="784">
                    <a:moveTo>
                      <a:pt x="0" y="392"/>
                    </a:moveTo>
                    <a:cubicBezTo>
                      <a:pt x="60" y="196"/>
                      <a:pt x="120" y="0"/>
                      <a:pt x="240" y="56"/>
                    </a:cubicBezTo>
                    <a:cubicBezTo>
                      <a:pt x="360" y="112"/>
                      <a:pt x="600" y="672"/>
                      <a:pt x="720" y="728"/>
                    </a:cubicBezTo>
                    <a:cubicBezTo>
                      <a:pt x="840" y="784"/>
                      <a:pt x="900" y="588"/>
                      <a:pt x="960" y="39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523" name="Freeform 12"/>
            <p:cNvSpPr>
              <a:spLocks/>
            </p:cNvSpPr>
            <p:nvPr/>
          </p:nvSpPr>
          <p:spPr bwMode="auto">
            <a:xfrm>
              <a:off x="432" y="656"/>
              <a:ext cx="960" cy="784"/>
            </a:xfrm>
            <a:custGeom>
              <a:avLst/>
              <a:gdLst>
                <a:gd name="T0" fmla="*/ 0 w 960"/>
                <a:gd name="T1" fmla="*/ 392 h 784"/>
                <a:gd name="T2" fmla="*/ 240 w 960"/>
                <a:gd name="T3" fmla="*/ 56 h 784"/>
                <a:gd name="T4" fmla="*/ 720 w 960"/>
                <a:gd name="T5" fmla="*/ 728 h 784"/>
                <a:gd name="T6" fmla="*/ 960 w 960"/>
                <a:gd name="T7" fmla="*/ 392 h 7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784"/>
                <a:gd name="T14" fmla="*/ 960 w 960"/>
                <a:gd name="T15" fmla="*/ 784 h 7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784">
                  <a:moveTo>
                    <a:pt x="0" y="392"/>
                  </a:moveTo>
                  <a:cubicBezTo>
                    <a:pt x="60" y="196"/>
                    <a:pt x="120" y="0"/>
                    <a:pt x="240" y="56"/>
                  </a:cubicBezTo>
                  <a:cubicBezTo>
                    <a:pt x="360" y="112"/>
                    <a:pt x="600" y="672"/>
                    <a:pt x="720" y="728"/>
                  </a:cubicBezTo>
                  <a:cubicBezTo>
                    <a:pt x="840" y="784"/>
                    <a:pt x="900" y="588"/>
                    <a:pt x="960" y="3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510" name="Line 13"/>
          <p:cNvSpPr>
            <a:spLocks noChangeShapeType="1"/>
          </p:cNvSpPr>
          <p:nvPr/>
        </p:nvSpPr>
        <p:spPr bwMode="auto">
          <a:xfrm>
            <a:off x="6503988" y="1516063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1" name="Text Box 15"/>
          <p:cNvSpPr txBox="1">
            <a:spLocks noChangeArrowheads="1"/>
          </p:cNvSpPr>
          <p:nvPr/>
        </p:nvSpPr>
        <p:spPr bwMode="auto">
          <a:xfrm>
            <a:off x="4162425" y="2706688"/>
            <a:ext cx="409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-2</a:t>
            </a:r>
          </a:p>
        </p:txBody>
      </p:sp>
      <p:sp>
        <p:nvSpPr>
          <p:cNvPr id="21512" name="Text Box 16"/>
          <p:cNvSpPr txBox="1">
            <a:spLocks noChangeArrowheads="1"/>
          </p:cNvSpPr>
          <p:nvPr/>
        </p:nvSpPr>
        <p:spPr bwMode="auto">
          <a:xfrm>
            <a:off x="8437563" y="27432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2</a:t>
            </a:r>
          </a:p>
        </p:txBody>
      </p:sp>
      <p:sp>
        <p:nvSpPr>
          <p:cNvPr id="21513" name="Text Box 17"/>
          <p:cNvSpPr txBox="1">
            <a:spLocks noChangeArrowheads="1"/>
          </p:cNvSpPr>
          <p:nvPr/>
        </p:nvSpPr>
        <p:spPr bwMode="auto">
          <a:xfrm>
            <a:off x="6046788" y="1973263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514" name="Line 18"/>
          <p:cNvSpPr>
            <a:spLocks noChangeShapeType="1"/>
          </p:cNvSpPr>
          <p:nvPr/>
        </p:nvSpPr>
        <p:spPr bwMode="auto">
          <a:xfrm flipH="1">
            <a:off x="6477000" y="2125663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5" name="Text Box 19"/>
          <p:cNvSpPr txBox="1">
            <a:spLocks noChangeArrowheads="1"/>
          </p:cNvSpPr>
          <p:nvPr/>
        </p:nvSpPr>
        <p:spPr bwMode="auto">
          <a:xfrm>
            <a:off x="6096000" y="982663"/>
            <a:ext cx="623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21516" name="Object 20"/>
          <p:cNvGraphicFramePr>
            <a:graphicFrameLocks noChangeAspect="1"/>
          </p:cNvGraphicFramePr>
          <p:nvPr/>
        </p:nvGraphicFramePr>
        <p:xfrm>
          <a:off x="344488" y="1820863"/>
          <a:ext cx="3121025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1422400" imgH="203200" progId="Equation.3">
                  <p:embed/>
                </p:oleObj>
              </mc:Choice>
              <mc:Fallback>
                <p:oleObj name="Equation" r:id="rId3" imgW="1422400" imgH="203200" progId="Equation.3">
                  <p:embed/>
                  <p:pic>
                    <p:nvPicPr>
                      <p:cNvPr id="2151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8" y="1820863"/>
                        <a:ext cx="3121025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Freeform 22"/>
          <p:cNvSpPr/>
          <p:nvPr/>
        </p:nvSpPr>
        <p:spPr>
          <a:xfrm>
            <a:off x="4413250" y="2119313"/>
            <a:ext cx="539750" cy="1125537"/>
          </a:xfrm>
          <a:custGeom>
            <a:avLst/>
            <a:gdLst>
              <a:gd name="connsiteX0" fmla="*/ 540327 w 540327"/>
              <a:gd name="connsiteY0" fmla="*/ 554182 h 1124528"/>
              <a:gd name="connsiteX1" fmla="*/ 415636 w 540327"/>
              <a:gd name="connsiteY1" fmla="*/ 1122219 h 1124528"/>
              <a:gd name="connsiteX2" fmla="*/ 207818 w 540327"/>
              <a:gd name="connsiteY2" fmla="*/ 540328 h 1124528"/>
              <a:gd name="connsiteX3" fmla="*/ 0 w 540327"/>
              <a:gd name="connsiteY3" fmla="*/ 0 h 112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0327" h="1124528">
                <a:moveTo>
                  <a:pt x="540327" y="554182"/>
                </a:moveTo>
                <a:cubicBezTo>
                  <a:pt x="505690" y="839355"/>
                  <a:pt x="471054" y="1124528"/>
                  <a:pt x="415636" y="1122219"/>
                </a:cubicBezTo>
                <a:cubicBezTo>
                  <a:pt x="360218" y="1119910"/>
                  <a:pt x="277091" y="727364"/>
                  <a:pt x="207818" y="540328"/>
                </a:cubicBezTo>
                <a:cubicBezTo>
                  <a:pt x="138545" y="353292"/>
                  <a:pt x="69272" y="176646"/>
                  <a:pt x="0" y="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8458200" y="2046288"/>
            <a:ext cx="100013" cy="600075"/>
          </a:xfrm>
          <a:custGeom>
            <a:avLst/>
            <a:gdLst>
              <a:gd name="connsiteX0" fmla="*/ 0 w 99291"/>
              <a:gd name="connsiteY0" fmla="*/ 600363 h 600363"/>
              <a:gd name="connsiteX1" fmla="*/ 83127 w 99291"/>
              <a:gd name="connsiteY1" fmla="*/ 87745 h 600363"/>
              <a:gd name="connsiteX2" fmla="*/ 96982 w 99291"/>
              <a:gd name="connsiteY2" fmla="*/ 73890 h 600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291" h="600363">
                <a:moveTo>
                  <a:pt x="0" y="600363"/>
                </a:moveTo>
                <a:cubicBezTo>
                  <a:pt x="33481" y="387926"/>
                  <a:pt x="66963" y="175490"/>
                  <a:pt x="83127" y="87745"/>
                </a:cubicBezTo>
                <a:cubicBezTo>
                  <a:pt x="99291" y="0"/>
                  <a:pt x="98136" y="36945"/>
                  <a:pt x="96982" y="7389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6C77F1C-F7BF-4501-9C22-36D07D45D7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020763"/>
            <a:ext cx="6477000" cy="5784293"/>
          </a:xfrm>
          <a:prstGeom prst="rect">
            <a:avLst/>
          </a:prstGeom>
        </p:spPr>
      </p:pic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22238"/>
            <a:ext cx="8686800" cy="487362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accent2"/>
                </a:solidFill>
              </a:rPr>
              <a:t>Transmitter: Amplitude Modulation</a:t>
            </a:r>
          </a:p>
        </p:txBody>
      </p:sp>
      <p:graphicFrame>
        <p:nvGraphicFramePr>
          <p:cNvPr id="22532" name="Object 44"/>
          <p:cNvGraphicFramePr>
            <a:graphicFrameLocks noChangeAspect="1"/>
          </p:cNvGraphicFramePr>
          <p:nvPr/>
        </p:nvGraphicFramePr>
        <p:xfrm>
          <a:off x="381000" y="1676400"/>
          <a:ext cx="3048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4" imgW="1308100" imgH="228600" progId="Equation.3">
                  <p:embed/>
                </p:oleObj>
              </mc:Choice>
              <mc:Fallback>
                <p:oleObj name="Equation" r:id="rId4" imgW="1308100" imgH="228600" progId="Equation.3">
                  <p:embed/>
                  <p:pic>
                    <p:nvPicPr>
                      <p:cNvPr id="22532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676400"/>
                        <a:ext cx="3048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45"/>
          <p:cNvSpPr txBox="1">
            <a:spLocks noChangeArrowheads="1"/>
          </p:cNvSpPr>
          <p:nvPr/>
        </p:nvSpPr>
        <p:spPr bwMode="auto">
          <a:xfrm>
            <a:off x="365125" y="1182688"/>
            <a:ext cx="1677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Modulation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22238"/>
            <a:ext cx="8686800" cy="487362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accent2"/>
                </a:solidFill>
              </a:rPr>
              <a:t>Receiver: Amplitude Demodulation</a:t>
            </a:r>
          </a:p>
        </p:txBody>
      </p:sp>
      <p:graphicFrame>
        <p:nvGraphicFramePr>
          <p:cNvPr id="22534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047261"/>
              </p:ext>
            </p:extLst>
          </p:nvPr>
        </p:nvGraphicFramePr>
        <p:xfrm>
          <a:off x="3962400" y="1390376"/>
          <a:ext cx="397986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2273300" imgH="228600" progId="Equation.3">
                  <p:embed/>
                </p:oleObj>
              </mc:Choice>
              <mc:Fallback>
                <p:oleObj name="Equation" r:id="rId3" imgW="2273300" imgH="228600" progId="Equation.3">
                  <p:embed/>
                  <p:pic>
                    <p:nvPicPr>
                      <p:cNvPr id="22534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390376"/>
                        <a:ext cx="397986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Text Box 47"/>
          <p:cNvSpPr txBox="1">
            <a:spLocks noChangeArrowheads="1"/>
          </p:cNvSpPr>
          <p:nvPr/>
        </p:nvSpPr>
        <p:spPr bwMode="auto">
          <a:xfrm>
            <a:off x="1752600" y="1361801"/>
            <a:ext cx="2068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Demodulation</a:t>
            </a:r>
          </a:p>
        </p:txBody>
      </p:sp>
      <p:sp>
        <p:nvSpPr>
          <p:cNvPr id="22536" name="Text Box 48"/>
          <p:cNvSpPr txBox="1">
            <a:spLocks noChangeArrowheads="1"/>
          </p:cNvSpPr>
          <p:nvPr/>
        </p:nvSpPr>
        <p:spPr bwMode="auto">
          <a:xfrm>
            <a:off x="1752600" y="1957021"/>
            <a:ext cx="3135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Then lowpass filtering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85C727C-4FB3-4874-99B4-476BBBF306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009442"/>
            <a:ext cx="6553200" cy="335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90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22238"/>
            <a:ext cx="8686800" cy="487362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chemeClr val="accent2"/>
                </a:solidFill>
              </a:rPr>
              <a:t>Amplitude Modulation: Envelope Detector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F29E874-4823-4860-8D33-E243547F25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955994"/>
            <a:ext cx="5638800" cy="58801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2238"/>
            <a:ext cx="9144000" cy="639762"/>
          </a:xfrm>
        </p:spPr>
        <p:txBody>
          <a:bodyPr/>
          <a:lstStyle/>
          <a:p>
            <a:pPr eaLnBrk="1" hangingPunct="1"/>
            <a:r>
              <a:rPr lang="en-US" altLang="en-US" sz="2800" dirty="0" err="1">
                <a:solidFill>
                  <a:schemeClr val="accent2"/>
                </a:solidFill>
              </a:rPr>
              <a:t>Applic</a:t>
            </a:r>
            <a:r>
              <a:rPr lang="en-US" altLang="en-US" sz="2800" dirty="0">
                <a:solidFill>
                  <a:schemeClr val="accent2"/>
                </a:solidFill>
              </a:rPr>
              <a:t>. of Modulation: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accent2"/>
                </a:solidFill>
              </a:rPr>
              <a:t>Frequency-Division Multiplexing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0" name="Text Box 21"/>
          <p:cNvSpPr txBox="1">
            <a:spLocks noChangeArrowheads="1"/>
          </p:cNvSpPr>
          <p:nvPr/>
        </p:nvSpPr>
        <p:spPr bwMode="auto">
          <a:xfrm>
            <a:off x="228600" y="1143000"/>
            <a:ext cx="8534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1- Transmission of different signals over different bands</a:t>
            </a:r>
          </a:p>
        </p:txBody>
      </p:sp>
      <p:sp>
        <p:nvSpPr>
          <p:cNvPr id="24581" name="Text Box 23"/>
          <p:cNvSpPr txBox="1">
            <a:spLocks noChangeArrowheads="1"/>
          </p:cNvSpPr>
          <p:nvPr/>
        </p:nvSpPr>
        <p:spPr bwMode="auto">
          <a:xfrm>
            <a:off x="228600" y="1600200"/>
            <a:ext cx="3865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2- Require smaller antenna</a:t>
            </a:r>
          </a:p>
        </p:txBody>
      </p:sp>
      <p:pic>
        <p:nvPicPr>
          <p:cNvPr id="24582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33600"/>
            <a:ext cx="680085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Text Box 23"/>
          <p:cNvSpPr txBox="1">
            <a:spLocks noChangeArrowheads="1"/>
          </p:cNvSpPr>
          <p:nvPr/>
        </p:nvSpPr>
        <p:spPr bwMode="auto">
          <a:xfrm>
            <a:off x="990600" y="6397625"/>
            <a:ext cx="160337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/>
              <a:t>Transmitter</a:t>
            </a:r>
          </a:p>
        </p:txBody>
      </p:sp>
      <p:sp>
        <p:nvSpPr>
          <p:cNvPr id="24584" name="Text Box 23"/>
          <p:cNvSpPr txBox="1">
            <a:spLocks noChangeArrowheads="1"/>
          </p:cNvSpPr>
          <p:nvPr/>
        </p:nvSpPr>
        <p:spPr bwMode="auto">
          <a:xfrm>
            <a:off x="6416675" y="6400800"/>
            <a:ext cx="129857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/>
              <a:t>Receiver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Properties of the Fourier Transform</a:t>
            </a: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304800" y="1143000"/>
            <a:ext cx="7467600" cy="258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Differentiation in the Time Domain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endParaRPr lang="en-US" sz="1600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Let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FontTx/>
              <a:buChar char="•"/>
              <a:defRPr/>
            </a:pPr>
            <a:endParaRPr lang="en-US" sz="1600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endParaRPr lang="en-US" sz="1600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then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endParaRPr lang="en-US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graphicFrame>
        <p:nvGraphicFramePr>
          <p:cNvPr id="2560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565689"/>
              </p:ext>
            </p:extLst>
          </p:nvPr>
        </p:nvGraphicFramePr>
        <p:xfrm>
          <a:off x="1905000" y="2286000"/>
          <a:ext cx="4191000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4013200" imgH="1079500" progId="Equation.DSMT4">
                  <p:embed/>
                </p:oleObj>
              </mc:Choice>
              <mc:Fallback>
                <p:oleObj name="Equation" r:id="rId3" imgW="4013200" imgH="1079500" progId="Equation.DSMT4">
                  <p:embed/>
                  <p:pic>
                    <p:nvPicPr>
                      <p:cNvPr id="2560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286000"/>
                        <a:ext cx="4191000" cy="112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147454"/>
              </p:ext>
            </p:extLst>
          </p:nvPr>
        </p:nvGraphicFramePr>
        <p:xfrm>
          <a:off x="1828800" y="1673225"/>
          <a:ext cx="23368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673225"/>
                        <a:ext cx="23368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59F3431C-956A-4796-B3D2-2EF3C3072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593" y="3551690"/>
            <a:ext cx="8382000" cy="3276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Convolution and Multiplication in the Time Domain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endParaRPr lang="en-US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endParaRPr lang="en-US" sz="900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 Let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FontTx/>
              <a:buChar char="•"/>
              <a:defRPr/>
            </a:pPr>
            <a:endParaRPr lang="en-US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endParaRPr lang="en-US" sz="1600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endParaRPr lang="en-US" sz="1600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then</a:t>
            </a:r>
          </a:p>
        </p:txBody>
      </p:sp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0D0BF517-E23C-4ECB-9C2E-04E63E879A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935526"/>
              </p:ext>
            </p:extLst>
          </p:nvPr>
        </p:nvGraphicFramePr>
        <p:xfrm>
          <a:off x="1547648" y="5380491"/>
          <a:ext cx="41910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4229100" imgH="457200" progId="Equation.DSMT4">
                  <p:embed/>
                </p:oleObj>
              </mc:Choice>
              <mc:Fallback>
                <p:oleObj name="Equation" r:id="rId7" imgW="4229100" imgH="457200" progId="Equation.DSMT4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0D0BF517-E23C-4ECB-9C2E-04E63E879A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48" y="5380491"/>
                        <a:ext cx="41910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AE24F12D-EB5C-43C7-9BD2-67848A82E8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59360"/>
              </p:ext>
            </p:extLst>
          </p:nvPr>
        </p:nvGraphicFramePr>
        <p:xfrm>
          <a:off x="1573048" y="4008891"/>
          <a:ext cx="210820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825500" imgH="431800" progId="Equation.3">
                  <p:embed/>
                </p:oleObj>
              </mc:Choice>
              <mc:Fallback>
                <p:oleObj name="Equation" r:id="rId9" imgW="825500" imgH="431800" progId="Equation.3">
                  <p:embed/>
                  <p:pic>
                    <p:nvPicPr>
                      <p:cNvPr id="11" name="Object 8">
                        <a:extLst>
                          <a:ext uri="{FF2B5EF4-FFF2-40B4-BE49-F238E27FC236}">
                            <a16:creationId xmlns:a16="http://schemas.microsoft.com/office/drawing/2014/main" id="{AE24F12D-EB5C-43C7-9BD2-67848A82E8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048" y="4008891"/>
                        <a:ext cx="2108200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0F3D4DF3-DD2A-4E49-AAEB-704067ECD1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140251"/>
              </p:ext>
            </p:extLst>
          </p:nvPr>
        </p:nvGraphicFramePr>
        <p:xfrm>
          <a:off x="1415885" y="5923127"/>
          <a:ext cx="45307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1" imgW="1955800" imgH="393700" progId="Equation.3">
                  <p:embed/>
                </p:oleObj>
              </mc:Choice>
              <mc:Fallback>
                <p:oleObj name="Equation" r:id="rId11" imgW="1955800" imgH="393700" progId="Equation.3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:a16="http://schemas.microsoft.com/office/drawing/2014/main" id="{0F3D4DF3-DD2A-4E49-AAEB-704067ECD1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885" y="5923127"/>
                        <a:ext cx="453072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1">
            <a:extLst>
              <a:ext uri="{FF2B5EF4-FFF2-40B4-BE49-F238E27FC236}">
                <a16:creationId xmlns:a16="http://schemas.microsoft.com/office/drawing/2014/main" id="{18706BD8-EC7C-4F46-BF9C-95033DB11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2823" y="6126616"/>
            <a:ext cx="2740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Frequency convolution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Properties of the Fourier Transform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11">
            <a:extLst>
              <a:ext uri="{FF2B5EF4-FFF2-40B4-BE49-F238E27FC236}">
                <a16:creationId xmlns:a16="http://schemas.microsoft.com/office/drawing/2014/main" id="{09FE6878-990F-4BDA-85F0-36783F7D6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95400"/>
            <a:ext cx="883920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A50021"/>
                </a:solidFill>
              </a:rPr>
              <a:t>Example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dirty="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Find the system response to the input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/>
              <a:t>if the system described by the differential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213904-3E9A-4FCB-80F5-97386DE31EB5}"/>
                  </a:ext>
                </a:extLst>
              </p:cNvPr>
              <p:cNvSpPr txBox="1"/>
              <p:nvPr/>
            </p:nvSpPr>
            <p:spPr>
              <a:xfrm>
                <a:off x="1676400" y="2971800"/>
                <a:ext cx="2284920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213904-3E9A-4FCB-80F5-97386DE31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2971800"/>
                <a:ext cx="2284920" cy="701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Properties of the Fourier Transform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381000" y="1066800"/>
            <a:ext cx="75438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</a:rPr>
              <a:t>Duality ( Similarity) 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FontTx/>
              <a:buChar char="•"/>
              <a:defRPr/>
            </a:pPr>
            <a:endParaRPr lang="en-US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Let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FontTx/>
              <a:buChar char="•"/>
              <a:defRPr/>
            </a:pPr>
            <a:endParaRPr lang="en-US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FontTx/>
              <a:buChar char="•"/>
              <a:defRPr/>
            </a:pPr>
            <a:endParaRPr lang="en-US" sz="1400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 then</a:t>
            </a:r>
          </a:p>
        </p:txBody>
      </p:sp>
      <p:graphicFrame>
        <p:nvGraphicFramePr>
          <p:cNvPr id="29700" name="Object 6"/>
          <p:cNvGraphicFramePr>
            <a:graphicFrameLocks noChangeAspect="1"/>
          </p:cNvGraphicFramePr>
          <p:nvPr/>
        </p:nvGraphicFramePr>
        <p:xfrm>
          <a:off x="1752600" y="2852738"/>
          <a:ext cx="31242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3060700" imgH="457200" progId="Equation.DSMT4">
                  <p:embed/>
                </p:oleObj>
              </mc:Choice>
              <mc:Fallback>
                <p:oleObj name="Equation" r:id="rId3" imgW="3060700" imgH="457200" progId="Equation.DSMT4">
                  <p:embed/>
                  <p:pic>
                    <p:nvPicPr>
                      <p:cNvPr id="2970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852738"/>
                        <a:ext cx="31242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7"/>
          <p:cNvGraphicFramePr>
            <a:graphicFrameLocks noChangeAspect="1"/>
          </p:cNvGraphicFramePr>
          <p:nvPr/>
        </p:nvGraphicFramePr>
        <p:xfrm>
          <a:off x="1676400" y="1812925"/>
          <a:ext cx="23368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970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812925"/>
                        <a:ext cx="23368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5653087"/>
            <a:ext cx="3362325" cy="581025"/>
          </a:xfrm>
          <a:prstGeom prst="rect">
            <a:avLst/>
          </a:prstGeom>
        </p:spPr>
      </p:pic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969224" y="5048250"/>
            <a:ext cx="3784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		   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)</a:t>
            </a:r>
            <a:endParaRPr lang="en-US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5C8E2E6B-5464-45C7-BA7B-A2BF1C18B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788" y="3815536"/>
            <a:ext cx="87630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Fourier transform of the signal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=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(10t)?</a:t>
            </a:r>
            <a:endParaRPr lang="en-US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715963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accent2"/>
                </a:solidFill>
              </a:rPr>
              <a:t>Energy of a Signal</a:t>
            </a:r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228600" y="974725"/>
            <a:ext cx="81534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sz="2800" dirty="0">
                <a:solidFill>
                  <a:srgbClr val="0000FF"/>
                </a:solidFill>
                <a:latin typeface="Arial" charset="0"/>
                <a:cs typeface="Arial" charset="0"/>
              </a:rPr>
              <a:t>Parseval’s Theorem 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sz="2800" dirty="0">
                <a:solidFill>
                  <a:srgbClr val="000000"/>
                </a:solidFill>
                <a:latin typeface="Arial" charset="0"/>
                <a:cs typeface="Arial" charset="0"/>
              </a:rPr>
              <a:t>since</a:t>
            </a:r>
            <a:r>
              <a:rPr lang="en-US" sz="2800" i="1" dirty="0">
                <a:latin typeface="Arial" charset="0"/>
                <a:cs typeface="Arial" charset="0"/>
              </a:rPr>
              <a:t>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i="1" dirty="0">
                <a:latin typeface="Arial" charset="0"/>
                <a:cs typeface="Arial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rial" charset="0"/>
                <a:cs typeface="Arial" charset="0"/>
              </a:rPr>
              <a:t>is non-periodic</a:t>
            </a:r>
            <a:r>
              <a:rPr lang="en-US" sz="2800" i="1" dirty="0">
                <a:solidFill>
                  <a:srgbClr val="000000"/>
                </a:solidFill>
                <a:latin typeface="Arial" charset="0"/>
                <a:cs typeface="Arial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rial" charset="0"/>
                <a:cs typeface="Arial" charset="0"/>
              </a:rPr>
              <a:t>and has FT</a:t>
            </a:r>
            <a:r>
              <a:rPr lang="en-US" sz="2800" i="1" dirty="0">
                <a:solidFill>
                  <a:srgbClr val="000000"/>
                </a:solidFill>
                <a:latin typeface="Arial" charset="0"/>
                <a:cs typeface="Arial" charset="0"/>
              </a:rPr>
              <a:t>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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),</a:t>
            </a:r>
            <a:r>
              <a:rPr lang="en-US" sz="2800" i="1" dirty="0">
                <a:latin typeface="Arial" charset="0"/>
                <a:cs typeface="Arial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rial" charset="0"/>
                <a:cs typeface="Arial" charset="0"/>
              </a:rPr>
              <a:t>then it is an energy signals:</a:t>
            </a:r>
          </a:p>
        </p:txBody>
      </p:sp>
      <p:graphicFrame>
        <p:nvGraphicFramePr>
          <p:cNvPr id="286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1653"/>
              </p:ext>
            </p:extLst>
          </p:nvPr>
        </p:nvGraphicFramePr>
        <p:xfrm>
          <a:off x="1569243" y="2173289"/>
          <a:ext cx="5593557" cy="1292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2032000" imgH="469900" progId="Equation.3">
                  <p:embed/>
                </p:oleObj>
              </mc:Choice>
              <mc:Fallback>
                <p:oleObj name="Equation" r:id="rId3" imgW="2032000" imgH="469900" progId="Equation.3">
                  <p:embed/>
                  <p:pic>
                    <p:nvPicPr>
                      <p:cNvPr id="2867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243" y="2173289"/>
                        <a:ext cx="5593557" cy="12922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2" name="Text Box 24"/>
          <p:cNvSpPr txBox="1">
            <a:spLocks noChangeArrowheads="1"/>
          </p:cNvSpPr>
          <p:nvPr/>
        </p:nvSpPr>
        <p:spPr bwMode="auto">
          <a:xfrm>
            <a:off x="136525" y="3733800"/>
            <a:ext cx="6203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</a:rPr>
              <a:t>Real signal has even spectrum </a:t>
            </a:r>
            <a:r>
              <a:rPr lang="en-US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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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8678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580424"/>
              </p:ext>
            </p:extLst>
          </p:nvPr>
        </p:nvGraphicFramePr>
        <p:xfrm>
          <a:off x="6248400" y="3560764"/>
          <a:ext cx="2305050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1167893" imgH="482391" progId="Equation.3">
                  <p:embed/>
                </p:oleObj>
              </mc:Choice>
              <mc:Fallback>
                <p:oleObj name="Equation" r:id="rId5" imgW="1167893" imgH="482391" progId="Equation.3">
                  <p:embed/>
                  <p:pic>
                    <p:nvPicPr>
                      <p:cNvPr id="28678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560764"/>
                        <a:ext cx="2305050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Text Box 26"/>
          <p:cNvSpPr txBox="1">
            <a:spLocks noChangeArrowheads="1"/>
          </p:cNvSpPr>
          <p:nvPr/>
        </p:nvSpPr>
        <p:spPr bwMode="auto">
          <a:xfrm>
            <a:off x="94648" y="4270374"/>
            <a:ext cx="893127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A50021"/>
                </a:solidFill>
              </a:rPr>
              <a:t>Example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800" dirty="0">
              <a:solidFill>
                <a:srgbClr val="A5002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Find the energy of signal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</a:t>
            </a:r>
            <a:r>
              <a:rPr lang="en-US" altLang="en-US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-at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400" dirty="0"/>
              <a:t>Determine the frequency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en-US" sz="2400" dirty="0">
                <a:sym typeface="Symbol" panose="05050102010706020507" pitchFamily="18" charset="2"/>
              </a:rPr>
              <a:t> so that the energy contributed by the spectrum components of all frequencies below  is 95% of the signal energy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Answer: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 </a:t>
            </a:r>
            <a:r>
              <a:rPr lang="en-US" altLang="en-US" sz="2400" dirty="0">
                <a:sym typeface="Symbol" panose="05050102010706020507" pitchFamily="18" charset="2"/>
              </a:rPr>
              <a:t>= 12.7a rad/sec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BFB04F0-1217-40E6-B1F3-47734148BC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6999" y="6170271"/>
            <a:ext cx="2572353" cy="6197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9375"/>
            <a:ext cx="8001000" cy="677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5334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Data Truncation: Window Functions</a:t>
            </a:r>
          </a:p>
        </p:txBody>
      </p:sp>
      <p:sp>
        <p:nvSpPr>
          <p:cNvPr id="31747" name="Text Box 7"/>
          <p:cNvSpPr txBox="1">
            <a:spLocks noChangeArrowheads="1"/>
          </p:cNvSpPr>
          <p:nvPr/>
        </p:nvSpPr>
        <p:spPr bwMode="auto">
          <a:xfrm>
            <a:off x="60325" y="1190625"/>
            <a:ext cx="870585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1- Truncate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/>
              <a:t>to reduce numerical computation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2- Truncate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dirty="0"/>
              <a:t> to make the system response finite and causal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3- Truncate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400" dirty="0">
                <a:sym typeface="Symbol" panose="05050102010706020507" pitchFamily="18" charset="2"/>
              </a:rPr>
              <a:t> t</a:t>
            </a:r>
            <a:r>
              <a:rPr lang="en-US" altLang="en-US" sz="2400" dirty="0"/>
              <a:t>o prevent aliasing in sampling the signal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4- Truncate 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/>
              <a:t> to synthesis the signal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dirty="0"/>
              <a:t> from few harmonics.</a:t>
            </a:r>
          </a:p>
        </p:txBody>
      </p:sp>
      <p:sp>
        <p:nvSpPr>
          <p:cNvPr id="45064" name="Text Box 8"/>
          <p:cNvSpPr txBox="1">
            <a:spLocks noChangeArrowheads="1"/>
          </p:cNvSpPr>
          <p:nvPr/>
        </p:nvSpPr>
        <p:spPr bwMode="auto">
          <a:xfrm>
            <a:off x="1295400" y="5776912"/>
            <a:ext cx="621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What are the implications of data truncation?</a:t>
            </a:r>
          </a:p>
        </p:txBody>
      </p:sp>
      <p:graphicFrame>
        <p:nvGraphicFramePr>
          <p:cNvPr id="31749" name="Object 9"/>
          <p:cNvGraphicFramePr>
            <a:graphicFrameLocks noChangeAspect="1"/>
          </p:cNvGraphicFramePr>
          <p:nvPr/>
        </p:nvGraphicFramePr>
        <p:xfrm>
          <a:off x="304800" y="3109913"/>
          <a:ext cx="853440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3619500" imgH="393700" progId="Equation.3">
                  <p:embed/>
                </p:oleObj>
              </mc:Choice>
              <mc:Fallback>
                <p:oleObj name="Equation" r:id="rId3" imgW="3619500" imgH="393700" progId="Equation.3">
                  <p:embed/>
                  <p:pic>
                    <p:nvPicPr>
                      <p:cNvPr id="317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109913"/>
                        <a:ext cx="853440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457200" y="3810000"/>
            <a:ext cx="0" cy="1143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61870" y="4891430"/>
            <a:ext cx="21148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/>
              <a:t>Truncated Signal</a:t>
            </a:r>
            <a:endParaRPr lang="en-US" sz="2000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1524000" y="3733800"/>
            <a:ext cx="0" cy="7460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981200" y="4086971"/>
            <a:ext cx="2514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/>
              <a:t>Truncation Window</a:t>
            </a:r>
            <a:endParaRPr lang="en-US" sz="2000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2133600" y="3733800"/>
            <a:ext cx="0" cy="381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371600" y="4449113"/>
            <a:ext cx="2514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Original Signal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64" y="968334"/>
            <a:ext cx="4874039" cy="5813466"/>
          </a:xfrm>
          <a:prstGeom prst="rect">
            <a:avLst/>
          </a:prstGeom>
        </p:spPr>
      </p:pic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5334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Implications of Data Truncation</a:t>
            </a:r>
          </a:p>
        </p:txBody>
      </p:sp>
      <p:sp>
        <p:nvSpPr>
          <p:cNvPr id="32772" name="Text Box 5"/>
          <p:cNvSpPr txBox="1">
            <a:spLocks noChangeArrowheads="1"/>
          </p:cNvSpPr>
          <p:nvPr/>
        </p:nvSpPr>
        <p:spPr bwMode="auto">
          <a:xfrm>
            <a:off x="209550" y="1079500"/>
            <a:ext cx="405431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1- Spectral spreading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/>
              <a:t>2- Spectral leakage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3- Poor frequency resolution</a:t>
            </a: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136525" y="2701925"/>
            <a:ext cx="413067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What happened if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/>
              <a:t>has two spectral components of frequencies differing by less than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/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rad/s (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1/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sym typeface="Symbol" panose="05050102010706020507" pitchFamily="18" charset="2"/>
              </a:rPr>
              <a:t> Hz)?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T</a:t>
            </a: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&gt; 1/</a:t>
            </a:r>
            <a:r>
              <a:rPr lang="en-US" altLang="en-US" sz="24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sz="2400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res</a:t>
            </a:r>
            <a:endParaRPr lang="en-US" altLang="en-US" sz="2400" i="1" baseline="-25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136525" y="4842808"/>
            <a:ext cx="474027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The ideal window for truncation is the one that has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1- Smaller </a:t>
            </a:r>
            <a:r>
              <a:rPr lang="en-US" altLang="en-US" sz="2400" dirty="0" err="1"/>
              <a:t>mainlobe</a:t>
            </a:r>
            <a:r>
              <a:rPr lang="en-US" altLang="en-US" sz="2400" dirty="0"/>
              <a:t> width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2- Sidelobes with high </a:t>
            </a:r>
            <a:r>
              <a:rPr lang="en-US" altLang="en-US" sz="2400" dirty="0" err="1"/>
              <a:t>rolloff</a:t>
            </a:r>
            <a:r>
              <a:rPr lang="en-US" altLang="en-US" sz="2400" dirty="0"/>
              <a:t> rate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3- Small sidelobe peak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4" grpId="0"/>
      <p:bldP spid="4813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5334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Data Truncation: Window Functions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066800"/>
            <a:ext cx="9020114" cy="5695950"/>
          </a:xfrm>
          <a:prstGeom prst="rect">
            <a:avLst/>
          </a:prstGeom>
        </p:spPr>
      </p:pic>
      <p:pic>
        <p:nvPicPr>
          <p:cNvPr id="32770" name="Picture 2" descr="../_images/scipy-signal-hamming-1_0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431" y="3943752"/>
            <a:ext cx="1676400" cy="103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2" name="Picture 4" descr="../../_images/numpy-hanning-1_00_00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260" y="2901281"/>
            <a:ext cx="1761571" cy="1089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5334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Using Windows in Filter Design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95172"/>
            <a:ext cx="7466216" cy="5839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AFD742-6803-4C8B-9835-8A827624C38C}"/>
              </a:ext>
            </a:extLst>
          </p:cNvPr>
          <p:cNvSpPr txBox="1"/>
          <p:nvPr/>
        </p:nvSpPr>
        <p:spPr>
          <a:xfrm>
            <a:off x="7635002" y="3914748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000FF"/>
                </a:solidFill>
              </a:rPr>
              <a:t>Chebyshev</a:t>
            </a:r>
          </a:p>
          <a:p>
            <a:pPr algn="ctr"/>
            <a:r>
              <a:rPr lang="en-US" sz="1800" dirty="0">
                <a:solidFill>
                  <a:srgbClr val="0000FF"/>
                </a:solidFill>
              </a:rPr>
              <a:t>Filter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149B83-049E-4316-AB11-056A28FFAD15}"/>
              </a:ext>
            </a:extLst>
          </p:cNvPr>
          <p:cNvSpPr txBox="1"/>
          <p:nvPr/>
        </p:nvSpPr>
        <p:spPr>
          <a:xfrm>
            <a:off x="7622178" y="5486400"/>
            <a:ext cx="1364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000FF"/>
                </a:solidFill>
              </a:rPr>
              <a:t>Butterworth</a:t>
            </a:r>
          </a:p>
          <a:p>
            <a:pPr algn="ctr"/>
            <a:r>
              <a:rPr lang="en-US" sz="1800" dirty="0">
                <a:solidFill>
                  <a:srgbClr val="0000FF"/>
                </a:solidFill>
              </a:rPr>
              <a:t>Filter</a:t>
            </a:r>
          </a:p>
        </p:txBody>
      </p:sp>
    </p:spTree>
    <p:extLst>
      <p:ext uri="{BB962C8B-B14F-4D97-AF65-F5344CB8AC3E}">
        <p14:creationId xmlns:p14="http://schemas.microsoft.com/office/powerpoint/2010/main" val="303232450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2465</TotalTime>
  <Words>1057</Words>
  <Application>Microsoft Office PowerPoint</Application>
  <PresentationFormat>On-screen Show (4:3)</PresentationFormat>
  <Paragraphs>208</Paragraphs>
  <Slides>32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Cambria Math</vt:lpstr>
      <vt:lpstr>Symbol</vt:lpstr>
      <vt:lpstr>Times New Roman</vt:lpstr>
      <vt:lpstr>Default Design</vt:lpstr>
      <vt:lpstr>Equation</vt:lpstr>
      <vt:lpstr>Microsoft Equation 3.0</vt:lpstr>
      <vt:lpstr>Continuous-Time Signal Analysis: The Fourier Transform</vt:lpstr>
      <vt:lpstr>Chapter Outline</vt:lpstr>
      <vt:lpstr>Link between FT and FS</vt:lpstr>
      <vt:lpstr>Link between FT and FS</vt:lpstr>
      <vt:lpstr>The Fourier Transform Spectrum</vt:lpstr>
      <vt:lpstr>Example</vt:lpstr>
      <vt:lpstr>Useful Functions</vt:lpstr>
      <vt:lpstr>Useful Functions</vt:lpstr>
      <vt:lpstr>Example</vt:lpstr>
      <vt:lpstr>Examples</vt:lpstr>
      <vt:lpstr>Examples</vt:lpstr>
      <vt:lpstr>Examples</vt:lpstr>
      <vt:lpstr>Examples</vt:lpstr>
      <vt:lpstr>PowerPoint Presentation</vt:lpstr>
      <vt:lpstr>PowerPoint Presentation</vt:lpstr>
      <vt:lpstr>Properties of the Fourier Transform</vt:lpstr>
      <vt:lpstr>Properties of the Fourier Transform</vt:lpstr>
      <vt:lpstr>Properties of the Fourier Transform</vt:lpstr>
      <vt:lpstr>Example: Amplitude Modulation</vt:lpstr>
      <vt:lpstr>Transmitter: Amplitude Modulation</vt:lpstr>
      <vt:lpstr>Receiver: Amplitude Demodulation</vt:lpstr>
      <vt:lpstr>Amplitude Modulation: Envelope Detector</vt:lpstr>
      <vt:lpstr>Applic. of Modulation: Frequency-Division Multiplexing</vt:lpstr>
      <vt:lpstr>Properties of the Fourier Transform</vt:lpstr>
      <vt:lpstr>Properties of the Fourier Transform</vt:lpstr>
      <vt:lpstr>Properties of the Fourier Transform</vt:lpstr>
      <vt:lpstr>Energy of a Signal</vt:lpstr>
      <vt:lpstr>PowerPoint Presentation</vt:lpstr>
      <vt:lpstr>Data Truncation: Window Functions</vt:lpstr>
      <vt:lpstr>Implications of Data Truncation</vt:lpstr>
      <vt:lpstr>Data Truncation: Window Functions</vt:lpstr>
      <vt:lpstr>Using Windows in Filter Design</vt:lpstr>
    </vt:vector>
  </TitlesOfParts>
  <Company>XX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Continuous-Time Signal Analysis: The Fourier Transform</dc:title>
  <dc:creator>mbingabr</dc:creator>
  <cp:lastModifiedBy>Mohamed Bingabr</cp:lastModifiedBy>
  <cp:revision>152</cp:revision>
  <dcterms:created xsi:type="dcterms:W3CDTF">2008-11-21T04:29:08Z</dcterms:created>
  <dcterms:modified xsi:type="dcterms:W3CDTF">2022-04-29T13:22:50Z</dcterms:modified>
</cp:coreProperties>
</file>