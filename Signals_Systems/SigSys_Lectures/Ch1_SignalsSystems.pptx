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9"/>
  </p:handoutMasterIdLst>
  <p:sldIdLst>
    <p:sldId id="256" r:id="rId2"/>
    <p:sldId id="313" r:id="rId3"/>
    <p:sldId id="314" r:id="rId4"/>
    <p:sldId id="315" r:id="rId5"/>
    <p:sldId id="316" r:id="rId6"/>
    <p:sldId id="363" r:id="rId7"/>
    <p:sldId id="360" r:id="rId8"/>
    <p:sldId id="317" r:id="rId9"/>
    <p:sldId id="359" r:id="rId10"/>
    <p:sldId id="318" r:id="rId11"/>
    <p:sldId id="320" r:id="rId12"/>
    <p:sldId id="319" r:id="rId13"/>
    <p:sldId id="321" r:id="rId14"/>
    <p:sldId id="322" r:id="rId15"/>
    <p:sldId id="323" r:id="rId16"/>
    <p:sldId id="324" r:id="rId17"/>
    <p:sldId id="325" r:id="rId18"/>
    <p:sldId id="336" r:id="rId19"/>
    <p:sldId id="337" r:id="rId20"/>
    <p:sldId id="361" r:id="rId21"/>
    <p:sldId id="327" r:id="rId22"/>
    <p:sldId id="364" r:id="rId23"/>
    <p:sldId id="328" r:id="rId24"/>
    <p:sldId id="329" r:id="rId25"/>
    <p:sldId id="331" r:id="rId26"/>
    <p:sldId id="332" r:id="rId27"/>
    <p:sldId id="355" r:id="rId28"/>
    <p:sldId id="333" r:id="rId29"/>
    <p:sldId id="334" r:id="rId30"/>
    <p:sldId id="335" r:id="rId31"/>
    <p:sldId id="339" r:id="rId32"/>
    <p:sldId id="340" r:id="rId33"/>
    <p:sldId id="341" r:id="rId34"/>
    <p:sldId id="344" r:id="rId35"/>
    <p:sldId id="345" r:id="rId36"/>
    <p:sldId id="365" r:id="rId37"/>
    <p:sldId id="346" r:id="rId38"/>
    <p:sldId id="347" r:id="rId39"/>
    <p:sldId id="348" r:id="rId40"/>
    <p:sldId id="349" r:id="rId41"/>
    <p:sldId id="350" r:id="rId42"/>
    <p:sldId id="351" r:id="rId43"/>
    <p:sldId id="366" r:id="rId44"/>
    <p:sldId id="352" r:id="rId45"/>
    <p:sldId id="357" r:id="rId46"/>
    <p:sldId id="356" r:id="rId47"/>
    <p:sldId id="358" r:id="rId48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00FF"/>
    <a:srgbClr val="FF0066"/>
    <a:srgbClr val="FF66CC"/>
    <a:srgbClr val="FFFF66"/>
    <a:srgbClr val="FF5050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Bingabr" userId="00864009-1172-4536-93d5-4dbe32f81f3e" providerId="ADAL" clId="{FB7E61A8-0CB8-4C18-A99C-CFF1B169B749}"/>
    <pc:docChg chg="undo custSel modSld">
      <pc:chgData name="Mohamed Bingabr" userId="00864009-1172-4536-93d5-4dbe32f81f3e" providerId="ADAL" clId="{FB7E61A8-0CB8-4C18-A99C-CFF1B169B749}" dt="2022-06-01T03:24:14.934" v="25" actId="948"/>
      <pc:docMkLst>
        <pc:docMk/>
      </pc:docMkLst>
      <pc:sldChg chg="modSp mod">
        <pc:chgData name="Mohamed Bingabr" userId="00864009-1172-4536-93d5-4dbe32f81f3e" providerId="ADAL" clId="{FB7E61A8-0CB8-4C18-A99C-CFF1B169B749}" dt="2022-06-01T03:20:43.627" v="15" actId="114"/>
        <pc:sldMkLst>
          <pc:docMk/>
          <pc:sldMk cId="0" sldId="317"/>
        </pc:sldMkLst>
        <pc:spChg chg="mod">
          <ac:chgData name="Mohamed Bingabr" userId="00864009-1172-4536-93d5-4dbe32f81f3e" providerId="ADAL" clId="{FB7E61A8-0CB8-4C18-A99C-CFF1B169B749}" dt="2022-06-01T03:20:43.627" v="15" actId="114"/>
          <ac:spMkLst>
            <pc:docMk/>
            <pc:sldMk cId="0" sldId="317"/>
            <ac:spMk id="7" creationId="{00000000-0000-0000-0000-000000000000}"/>
          </ac:spMkLst>
        </pc:spChg>
        <pc:spChg chg="mod">
          <ac:chgData name="Mohamed Bingabr" userId="00864009-1172-4536-93d5-4dbe32f81f3e" providerId="ADAL" clId="{FB7E61A8-0CB8-4C18-A99C-CFF1B169B749}" dt="2022-06-01T03:20:31.382" v="14" actId="114"/>
          <ac:spMkLst>
            <pc:docMk/>
            <pc:sldMk cId="0" sldId="317"/>
            <ac:spMk id="13315" creationId="{00000000-0000-0000-0000-000000000000}"/>
          </ac:spMkLst>
        </pc:spChg>
      </pc:sldChg>
      <pc:sldChg chg="modSp mod">
        <pc:chgData name="Mohamed Bingabr" userId="00864009-1172-4536-93d5-4dbe32f81f3e" providerId="ADAL" clId="{FB7E61A8-0CB8-4C18-A99C-CFF1B169B749}" dt="2022-06-01T03:24:14.934" v="25" actId="948"/>
        <pc:sldMkLst>
          <pc:docMk/>
          <pc:sldMk cId="0" sldId="319"/>
        </pc:sldMkLst>
        <pc:spChg chg="mod">
          <ac:chgData name="Mohamed Bingabr" userId="00864009-1172-4536-93d5-4dbe32f81f3e" providerId="ADAL" clId="{FB7E61A8-0CB8-4C18-A99C-CFF1B169B749}" dt="2022-06-01T03:24:14.934" v="25" actId="948"/>
          <ac:spMkLst>
            <pc:docMk/>
            <pc:sldMk cId="0" sldId="319"/>
            <ac:spMk id="13315" creationId="{00000000-0000-0000-0000-000000000000}"/>
          </ac:spMkLst>
        </pc:spChg>
      </pc:sldChg>
      <pc:sldChg chg="modSp mod">
        <pc:chgData name="Mohamed Bingabr" userId="00864009-1172-4536-93d5-4dbe32f81f3e" providerId="ADAL" clId="{FB7E61A8-0CB8-4C18-A99C-CFF1B169B749}" dt="2022-06-01T03:22:50.535" v="23" actId="114"/>
        <pc:sldMkLst>
          <pc:docMk/>
          <pc:sldMk cId="0" sldId="320"/>
        </pc:sldMkLst>
        <pc:spChg chg="mod">
          <ac:chgData name="Mohamed Bingabr" userId="00864009-1172-4536-93d5-4dbe32f81f3e" providerId="ADAL" clId="{FB7E61A8-0CB8-4C18-A99C-CFF1B169B749}" dt="2022-06-01T03:22:50.535" v="23" actId="114"/>
          <ac:spMkLst>
            <pc:docMk/>
            <pc:sldMk cId="0" sldId="320"/>
            <ac:spMk id="13315" creationId="{00000000-0000-0000-0000-000000000000}"/>
          </ac:spMkLst>
        </pc:spChg>
      </pc:sldChg>
      <pc:sldChg chg="addSp delSp modSp mod">
        <pc:chgData name="Mohamed Bingabr" userId="00864009-1172-4536-93d5-4dbe32f81f3e" providerId="ADAL" clId="{FB7E61A8-0CB8-4C18-A99C-CFF1B169B749}" dt="2022-06-01T03:18:16.098" v="13" actId="1037"/>
        <pc:sldMkLst>
          <pc:docMk/>
          <pc:sldMk cId="2933493186" sldId="363"/>
        </pc:sldMkLst>
        <pc:picChg chg="del mod">
          <ac:chgData name="Mohamed Bingabr" userId="00864009-1172-4536-93d5-4dbe32f81f3e" providerId="ADAL" clId="{FB7E61A8-0CB8-4C18-A99C-CFF1B169B749}" dt="2022-06-01T03:17:58.013" v="6" actId="478"/>
          <ac:picMkLst>
            <pc:docMk/>
            <pc:sldMk cId="2933493186" sldId="363"/>
            <ac:picMk id="2" creationId="{00000000-0000-0000-0000-000000000000}"/>
          </ac:picMkLst>
        </pc:picChg>
        <pc:picChg chg="add mod">
          <ac:chgData name="Mohamed Bingabr" userId="00864009-1172-4536-93d5-4dbe32f81f3e" providerId="ADAL" clId="{FB7E61A8-0CB8-4C18-A99C-CFF1B169B749}" dt="2022-06-01T03:18:16.098" v="13" actId="1037"/>
          <ac:picMkLst>
            <pc:docMk/>
            <pc:sldMk cId="2933493186" sldId="363"/>
            <ac:picMk id="4" creationId="{9ECDEF2C-4C40-1C30-5547-29F9F8D1A5CF}"/>
          </ac:picMkLst>
        </pc:picChg>
      </pc:sldChg>
    </pc:docChg>
  </pc:docChgLst>
  <pc:docChgLst>
    <pc:chgData name="Mohamed Bingabr" userId="00864009-1172-4536-93d5-4dbe32f81f3e" providerId="ADAL" clId="{28C5B173-4B9B-4E62-A8C5-104614C0FCF7}"/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EDB03-FD02-4F67-BC8C-DF6F6AA06CD9}" type="datetimeFigureOut">
              <a:rPr lang="en-US" smtClean="0"/>
              <a:pPr/>
              <a:t>6/2/2022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784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675"/>
            <a:ext cx="303784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CAAFD6-BDD8-4752-B00B-28234A382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4969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A6C40-D2DF-4347-828F-1FCAFED029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D0A71E-9586-42C7-93FE-4C078826B5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2E7A7A-AA92-4E31-8E6A-7E0A15EAC5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7D982D-184A-406D-9FDB-CE42A89747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0E0FA1-FC22-4E34-87ED-FBBA0DFDA6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ABAE88-6A93-4C23-BEAC-0757AE7964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0B7C9-2216-4496-B66F-ED79698AA1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017680-4CD3-4DBA-A66F-8EDA3319C9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A0F85A-DE63-4175-8F42-1BFC2FFDD4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5B239B-8B15-403D-B83E-066E47AEFC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F2D192-9818-4EFB-898B-15DC840964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87DB192-3C55-4549-873F-3729B34C56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0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0.png"/><Relationship Id="rId4" Type="http://schemas.openxmlformats.org/officeDocument/2006/relationships/image" Target="../media/image3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8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3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56.wmf"/><Relationship Id="rId9" Type="http://schemas.openxmlformats.org/officeDocument/2006/relationships/image" Target="../media/image59.jpe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4" Type="http://schemas.openxmlformats.org/officeDocument/2006/relationships/image" Target="../media/image60.png"/><Relationship Id="rId9" Type="http://schemas.openxmlformats.org/officeDocument/2006/relationships/image" Target="../media/image60.jpe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7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400" y="2130425"/>
            <a:ext cx="8077200" cy="1470025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</a:rPr>
              <a:t>Signals and Systems</a:t>
            </a:r>
            <a:br>
              <a:rPr lang="en-US" sz="4000" dirty="0">
                <a:solidFill>
                  <a:schemeClr val="accent2"/>
                </a:solidFill>
              </a:rPr>
            </a:br>
            <a:r>
              <a:rPr lang="en-US" sz="4000" dirty="0">
                <a:solidFill>
                  <a:schemeClr val="accent2"/>
                </a:solidFill>
              </a:rPr>
              <a:t>Chapter 1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858000" cy="19812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accent2"/>
                </a:solidFill>
              </a:rPr>
              <a:t>Dr. Mohamed Bingabr</a:t>
            </a:r>
          </a:p>
          <a:p>
            <a:pPr eaLnBrk="1" hangingPunct="1"/>
            <a:r>
              <a:rPr lang="en-US" dirty="0">
                <a:solidFill>
                  <a:schemeClr val="accent2"/>
                </a:solidFill>
              </a:rPr>
              <a:t>University of Central Oklahoma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152400" y="152400"/>
            <a:ext cx="89154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Signals and Systems Outline</a:t>
            </a:r>
          </a:p>
        </p:txBody>
      </p:sp>
      <p:sp>
        <p:nvSpPr>
          <p:cNvPr id="13315" name="Text Box 7"/>
          <p:cNvSpPr txBox="1">
            <a:spLocks noChangeArrowheads="1"/>
          </p:cNvSpPr>
          <p:nvPr/>
        </p:nvSpPr>
        <p:spPr bwMode="auto">
          <a:xfrm>
            <a:off x="228600" y="1246188"/>
            <a:ext cx="8839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•"/>
            </a:pPr>
            <a:r>
              <a:rPr lang="en-US" sz="3200" dirty="0"/>
              <a:t>Size of a Signal</a:t>
            </a:r>
          </a:p>
          <a:p>
            <a:pPr marL="342900" indent="-342900">
              <a:lnSpc>
                <a:spcPct val="150000"/>
              </a:lnSpc>
              <a:buFontTx/>
              <a:buChar char="•"/>
            </a:pPr>
            <a:r>
              <a:rPr lang="en-US" sz="3200" dirty="0"/>
              <a:t>Useful Signal Operations</a:t>
            </a:r>
          </a:p>
          <a:p>
            <a:pPr marL="342900" indent="-342900">
              <a:lnSpc>
                <a:spcPct val="150000"/>
              </a:lnSpc>
              <a:buFontTx/>
              <a:buChar char="•"/>
            </a:pPr>
            <a:r>
              <a:rPr lang="en-US" sz="3200" dirty="0"/>
              <a:t>Classification of Signals</a:t>
            </a:r>
          </a:p>
          <a:p>
            <a:pPr marL="342900" indent="-342900">
              <a:lnSpc>
                <a:spcPct val="150000"/>
              </a:lnSpc>
              <a:buFontTx/>
              <a:buChar char="•"/>
            </a:pPr>
            <a:r>
              <a:rPr lang="en-US" sz="3200" dirty="0"/>
              <a:t>Signal Models</a:t>
            </a:r>
          </a:p>
          <a:p>
            <a:pPr marL="342900" indent="-342900">
              <a:lnSpc>
                <a:spcPct val="150000"/>
              </a:lnSpc>
              <a:buFontTx/>
              <a:buChar char="•"/>
            </a:pPr>
            <a:r>
              <a:rPr lang="en-US" sz="3200" dirty="0"/>
              <a:t>Classification of Systems</a:t>
            </a:r>
          </a:p>
          <a:p>
            <a:pPr marL="342900" indent="-342900">
              <a:lnSpc>
                <a:spcPct val="150000"/>
              </a:lnSpc>
              <a:buFontTx/>
              <a:buChar char="•"/>
            </a:pPr>
            <a:r>
              <a:rPr lang="en-US" sz="3200" dirty="0"/>
              <a:t>System Model: Input-Output Description</a:t>
            </a:r>
          </a:p>
          <a:p>
            <a:pPr marL="342900" indent="-342900">
              <a:buFontTx/>
              <a:buChar char="•"/>
            </a:pP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990600" y="76200"/>
            <a:ext cx="674037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Size of Signal-Energy Signal</a:t>
            </a:r>
          </a:p>
        </p:txBody>
      </p:sp>
      <p:sp>
        <p:nvSpPr>
          <p:cNvPr id="13315" name="Text Box 7"/>
          <p:cNvSpPr txBox="1">
            <a:spLocks noChangeArrowheads="1"/>
          </p:cNvSpPr>
          <p:nvPr/>
        </p:nvSpPr>
        <p:spPr bwMode="auto">
          <a:xfrm>
            <a:off x="0" y="1219201"/>
            <a:ext cx="8839200" cy="2831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Tx/>
              <a:buChar char="•"/>
            </a:pPr>
            <a:r>
              <a:rPr lang="en-US" sz="3200" dirty="0"/>
              <a:t>Signal: is a set of data or information collected over time.</a:t>
            </a:r>
          </a:p>
          <a:p>
            <a:pPr marL="342900" indent="-342900">
              <a:buFontTx/>
              <a:buChar char="•"/>
            </a:pPr>
            <a:endParaRPr lang="en-US" dirty="0"/>
          </a:p>
          <a:p>
            <a:pPr marL="342900" indent="-342900">
              <a:buFontTx/>
              <a:buChar char="•"/>
            </a:pPr>
            <a:r>
              <a:rPr lang="en-US" sz="3200" dirty="0"/>
              <a:t>If the signal goes to zero as time goes to infinity, then the signal is measured by its energy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i="1" dirty="0"/>
              <a:t>:</a:t>
            </a: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14600" y="4267200"/>
                <a:ext cx="2821221" cy="12593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4267200"/>
                <a:ext cx="2821221" cy="125931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52400" y="6096000"/>
            <a:ext cx="8839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Example</a:t>
            </a:r>
            <a:r>
              <a:rPr lang="en-US" sz="2800" dirty="0"/>
              <a:t>: Find the energy of the signal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2e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-3</a:t>
            </a:r>
            <a:r>
              <a:rPr lang="en-US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1219200" y="76200"/>
            <a:ext cx="656301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Size of Signal-Power Signal</a:t>
            </a:r>
          </a:p>
        </p:txBody>
      </p:sp>
      <p:sp>
        <p:nvSpPr>
          <p:cNvPr id="13315" name="Text Box 7"/>
          <p:cNvSpPr txBox="1">
            <a:spLocks noChangeArrowheads="1"/>
          </p:cNvSpPr>
          <p:nvPr/>
        </p:nvSpPr>
        <p:spPr bwMode="auto">
          <a:xfrm>
            <a:off x="152400" y="1371600"/>
            <a:ext cx="88392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dirty="0"/>
              <a:t>If the signal is periodic or the amplitude of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x(t) </a:t>
            </a:r>
            <a:r>
              <a:rPr lang="en-US" sz="3200" dirty="0"/>
              <a:t>does not </a:t>
            </a:r>
            <a:r>
              <a:rPr lang="en-US" sz="3200" dirty="0">
                <a:sym typeface="Symbol"/>
              </a:rPr>
              <a:t> </a:t>
            </a:r>
            <a:r>
              <a:rPr lang="en-US" sz="3200" dirty="0"/>
              <a:t>0 when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/>
              <a:t> </a:t>
            </a:r>
            <a:r>
              <a:rPr lang="en-US" sz="3200" dirty="0">
                <a:sym typeface="Symbol"/>
              </a:rPr>
              <a:t></a:t>
            </a:r>
            <a:r>
              <a:rPr lang="en-US" sz="3200" dirty="0"/>
              <a:t> ", need to measure power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dirty="0"/>
              <a:t> instead</a:t>
            </a:r>
            <a:r>
              <a:rPr lang="en-US" sz="3200" i="1" dirty="0"/>
              <a:t>:</a:t>
            </a: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057400" y="3200400"/>
                <a:ext cx="3946145" cy="1368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nary>
                            <m:naryPr>
                              <m:limLoc m:val="undOvr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3200400"/>
                <a:ext cx="3946145" cy="136826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52400" y="6096000"/>
            <a:ext cx="8839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Example</a:t>
            </a:r>
            <a:r>
              <a:rPr lang="en-US" sz="2800" dirty="0"/>
              <a:t>: Find the power of the signal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Acos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</a:t>
            </a: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t)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324304" y="76200"/>
            <a:ext cx="866729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Useful Signal Operations</a:t>
            </a:r>
          </a:p>
        </p:txBody>
      </p:sp>
      <p:sp>
        <p:nvSpPr>
          <p:cNvPr id="13315" name="Text Box 7"/>
          <p:cNvSpPr txBox="1">
            <a:spLocks noChangeArrowheads="1"/>
          </p:cNvSpPr>
          <p:nvPr/>
        </p:nvSpPr>
        <p:spPr bwMode="auto">
          <a:xfrm>
            <a:off x="324305" y="1524000"/>
            <a:ext cx="5105400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Time Delay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Times Scaling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Time Reversal</a:t>
            </a:r>
          </a:p>
          <a:p>
            <a:endParaRPr lang="en-US" sz="3200" dirty="0"/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228601" y="76200"/>
            <a:ext cx="87630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Time Delay</a:t>
            </a:r>
          </a:p>
        </p:txBody>
      </p:sp>
      <p:sp>
        <p:nvSpPr>
          <p:cNvPr id="13315" name="Text Box 7"/>
          <p:cNvSpPr txBox="1">
            <a:spLocks noChangeArrowheads="1"/>
          </p:cNvSpPr>
          <p:nvPr/>
        </p:nvSpPr>
        <p:spPr bwMode="auto">
          <a:xfrm>
            <a:off x="324305" y="1524000"/>
            <a:ext cx="51054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dirty="0"/>
              <a:t>Signal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200" dirty="0"/>
              <a:t> delayed by time </a:t>
            </a:r>
            <a:r>
              <a:rPr lang="en-US" sz="3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 </a:t>
            </a:r>
            <a:r>
              <a:rPr lang="en-US" sz="3200" dirty="0"/>
              <a:t>:</a:t>
            </a:r>
          </a:p>
          <a:p>
            <a:endParaRPr lang="en-US" sz="3200" i="1" dirty="0">
              <a:sym typeface="Symbol"/>
            </a:endParaRPr>
          </a:p>
          <a:p>
            <a:r>
              <a:rPr lang="en-US" sz="3200" i="1" dirty="0">
                <a:sym typeface="Symbol"/>
              </a:rPr>
              <a:t>	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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x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– 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/>
          </a:p>
          <a:p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200" dirty="0"/>
              <a:t> advanced by time </a:t>
            </a:r>
            <a:r>
              <a:rPr lang="en-US" sz="3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 </a:t>
            </a:r>
            <a:r>
              <a:rPr lang="en-US" sz="3200" dirty="0"/>
              <a:t>:</a:t>
            </a:r>
          </a:p>
          <a:p>
            <a:endParaRPr lang="en-US" sz="3200" i="1" dirty="0">
              <a:sym typeface="Symbol"/>
            </a:endParaRPr>
          </a:p>
          <a:p>
            <a:r>
              <a:rPr lang="en-US" sz="3200" i="1" dirty="0">
                <a:sym typeface="Symbol"/>
              </a:rPr>
              <a:t>	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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x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+ </a:t>
            </a:r>
            <a:r>
              <a:rPr lang="en-US" sz="3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CDEF2C-4C40-1C30-5547-29F9F8D1A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723697"/>
            <a:ext cx="4216944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493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152400" y="76200"/>
            <a:ext cx="8915399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Time Delay Example</a:t>
            </a:r>
          </a:p>
        </p:txBody>
      </p:sp>
      <p:sp>
        <p:nvSpPr>
          <p:cNvPr id="13315" name="Text Box 7"/>
          <p:cNvSpPr txBox="1">
            <a:spLocks noChangeArrowheads="1"/>
          </p:cNvSpPr>
          <p:nvPr/>
        </p:nvSpPr>
        <p:spPr bwMode="auto">
          <a:xfrm>
            <a:off x="152400" y="1246188"/>
            <a:ext cx="65532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/>
              <a:t>Find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sz="2800" dirty="0"/>
              <a:t>and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t+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sz="2800" dirty="0"/>
              <a:t>for the signal</a:t>
            </a:r>
          </a:p>
          <a:p>
            <a:endParaRPr lang="en-US" sz="2800" dirty="0"/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533400" y="2057400"/>
          <a:ext cx="3589867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1346040" imgH="457200" progId="Equation.3">
                  <p:embed/>
                </p:oleObj>
              </mc:Choice>
              <mc:Fallback>
                <p:oleObj name="Equation" r:id="rId3" imgW="1346040" imgH="4572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057400"/>
                        <a:ext cx="3589867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Connector 7"/>
          <p:cNvCxnSpPr/>
          <p:nvPr/>
        </p:nvCxnSpPr>
        <p:spPr>
          <a:xfrm rot="5400000">
            <a:off x="5867400" y="2895600"/>
            <a:ext cx="1371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096000" y="3200400"/>
            <a:ext cx="2667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858000" y="2743200"/>
            <a:ext cx="838200" cy="4572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05600" y="32766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2766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5146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cxnSp>
        <p:nvCxnSpPr>
          <p:cNvPr id="24" name="Straight Connector 23"/>
          <p:cNvCxnSpPr/>
          <p:nvPr/>
        </p:nvCxnSpPr>
        <p:spPr>
          <a:xfrm rot="10800000">
            <a:off x="6477000" y="2743200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86800" y="297180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828800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59225" y="1135560"/>
            <a:ext cx="4908575" cy="4771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171939" y="76200"/>
            <a:ext cx="8895862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Time Scaling</a:t>
            </a:r>
          </a:p>
        </p:txBody>
      </p:sp>
      <p:sp>
        <p:nvSpPr>
          <p:cNvPr id="13315" name="Text Box 7"/>
          <p:cNvSpPr txBox="1">
            <a:spLocks noChangeArrowheads="1"/>
          </p:cNvSpPr>
          <p:nvPr/>
        </p:nvSpPr>
        <p:spPr bwMode="auto">
          <a:xfrm>
            <a:off x="137159" y="2159739"/>
            <a:ext cx="4022066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dirty="0"/>
              <a:t>compressed in time by a factor of 2:</a:t>
            </a:r>
          </a:p>
          <a:p>
            <a:endParaRPr lang="en-US" sz="2800" dirty="0"/>
          </a:p>
          <a:p>
            <a:r>
              <a:rPr lang="en-US" sz="2800" i="1" dirty="0">
                <a:sym typeface="Symbol"/>
              </a:rPr>
              <a:t>	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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x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71938" y="6027003"/>
            <a:ext cx="87364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Same as recording played back at twice and half the speed respectively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71939" y="4126272"/>
            <a:ext cx="3942862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dirty="0"/>
              <a:t>expanded in time </a:t>
            </a:r>
          </a:p>
          <a:p>
            <a:r>
              <a:rPr lang="en-US" sz="2800" dirty="0"/>
              <a:t>(by a factor of 2):</a:t>
            </a:r>
          </a:p>
          <a:p>
            <a:endParaRPr lang="en-US" sz="2800" i="1" dirty="0">
              <a:sym typeface="Symbol"/>
            </a:endParaRPr>
          </a:p>
          <a:p>
            <a:r>
              <a:rPr lang="en-US" sz="2800" i="1" dirty="0">
                <a:sym typeface="Symbol"/>
              </a:rPr>
              <a:t>	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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x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t/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152401" y="76200"/>
            <a:ext cx="89154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Time Scaling Example</a:t>
            </a:r>
          </a:p>
        </p:txBody>
      </p:sp>
      <p:sp>
        <p:nvSpPr>
          <p:cNvPr id="13315" name="Text Box 7"/>
          <p:cNvSpPr txBox="1">
            <a:spLocks noChangeArrowheads="1"/>
          </p:cNvSpPr>
          <p:nvPr/>
        </p:nvSpPr>
        <p:spPr bwMode="auto">
          <a:xfrm>
            <a:off x="152400" y="1246188"/>
            <a:ext cx="65532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/>
              <a:t>Find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dirty="0"/>
              <a:t>and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/2)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/>
              <a:t>for the signal</a:t>
            </a:r>
          </a:p>
          <a:p>
            <a:endParaRPr lang="en-US" sz="2800" dirty="0"/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533400" y="2057400"/>
          <a:ext cx="3589867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1346040" imgH="457200" progId="Equation.3">
                  <p:embed/>
                </p:oleObj>
              </mc:Choice>
              <mc:Fallback>
                <p:oleObj name="Equation" r:id="rId3" imgW="1346040" imgH="4572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057400"/>
                        <a:ext cx="3589867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Connector 7"/>
          <p:cNvCxnSpPr/>
          <p:nvPr/>
        </p:nvCxnSpPr>
        <p:spPr>
          <a:xfrm rot="5400000">
            <a:off x="5867400" y="2895600"/>
            <a:ext cx="1371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096000" y="3200400"/>
            <a:ext cx="2667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858000" y="2743200"/>
            <a:ext cx="838200" cy="4572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05600" y="32766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2766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5146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cxnSp>
        <p:nvCxnSpPr>
          <p:cNvPr id="24" name="Straight Connector 23"/>
          <p:cNvCxnSpPr/>
          <p:nvPr/>
        </p:nvCxnSpPr>
        <p:spPr>
          <a:xfrm rot="10800000">
            <a:off x="6477000" y="2743200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86800" y="297180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828800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83790" y="1905000"/>
            <a:ext cx="4914162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76200"/>
            <a:ext cx="8991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Time Reversal</a:t>
            </a:r>
          </a:p>
        </p:txBody>
      </p:sp>
      <p:sp>
        <p:nvSpPr>
          <p:cNvPr id="13315" name="Text Box 7"/>
          <p:cNvSpPr txBox="1">
            <a:spLocks noChangeArrowheads="1"/>
          </p:cNvSpPr>
          <p:nvPr/>
        </p:nvSpPr>
        <p:spPr bwMode="auto">
          <a:xfrm>
            <a:off x="76200" y="1280010"/>
            <a:ext cx="9144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Signal may be reflected about the vertical axis (i.e. time reversed):</a:t>
            </a:r>
          </a:p>
          <a:p>
            <a:endParaRPr lang="en-US" sz="2400" dirty="0"/>
          </a:p>
          <a:p>
            <a:r>
              <a:rPr lang="en-US" sz="2400" i="1" dirty="0">
                <a:sym typeface="Symbol"/>
              </a:rPr>
              <a:t>	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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x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400" dirty="0"/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0" y="76200"/>
            <a:ext cx="9067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13315" name="Text Box 7"/>
          <p:cNvSpPr txBox="1">
            <a:spLocks noChangeArrowheads="1"/>
          </p:cNvSpPr>
          <p:nvPr/>
        </p:nvSpPr>
        <p:spPr bwMode="auto">
          <a:xfrm>
            <a:off x="304800" y="1246188"/>
            <a:ext cx="868680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Find the signal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- 6)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/>
              <a:t>can be obtained in two ways;</a:t>
            </a:r>
          </a:p>
          <a:p>
            <a:endParaRPr lang="en-US" sz="2400" dirty="0"/>
          </a:p>
          <a:p>
            <a:r>
              <a:rPr lang="en-US" sz="2400" dirty="0"/>
              <a:t>• Delay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by 6 to obtain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- 6), </a:t>
            </a:r>
            <a:r>
              <a:rPr lang="en-US" sz="2400" dirty="0"/>
              <a:t>and then time-compress this</a:t>
            </a:r>
          </a:p>
          <a:p>
            <a:r>
              <a:rPr lang="en-US" sz="2400" dirty="0"/>
              <a:t>signal by factor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/>
              <a:t> (replace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/>
              <a:t> with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/>
              <a:t>) to obtain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- 6)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/>
          </a:p>
          <a:p>
            <a:r>
              <a:rPr lang="en-US" sz="2400" dirty="0"/>
              <a:t>• Alternately, time-compress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by factor 2 to obtain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/>
              <a:t>then delay this signal by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/>
              <a:t> (replace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/>
              <a:t> with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-3))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/>
              <a:t>to obtain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- 6)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rot="5400000">
            <a:off x="5943600" y="2152788"/>
            <a:ext cx="1371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172200" y="2457588"/>
            <a:ext cx="2667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934200" y="2000388"/>
            <a:ext cx="838200" cy="4572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781800" y="25337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0" y="25337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17717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553200" y="2000388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63000" y="2228988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1085988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/>
              <a:t>)</a:t>
            </a:r>
          </a:p>
        </p:txBody>
      </p:sp>
      <p:cxnSp>
        <p:nvCxnSpPr>
          <p:cNvPr id="14" name="Straight Connector 13"/>
          <p:cNvCxnSpPr/>
          <p:nvPr/>
        </p:nvCxnSpPr>
        <p:spPr>
          <a:xfrm rot="5400000">
            <a:off x="5943600" y="6096000"/>
            <a:ext cx="1371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172200" y="6400800"/>
            <a:ext cx="2667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934200" y="5943600"/>
            <a:ext cx="457200" cy="4572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705600" y="6477000"/>
            <a:ext cx="433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3.5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0" y="647700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8400" y="57150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cxnSp>
        <p:nvCxnSpPr>
          <p:cNvPr id="20" name="Straight Connector 19"/>
          <p:cNvCxnSpPr/>
          <p:nvPr/>
        </p:nvCxnSpPr>
        <p:spPr>
          <a:xfrm rot="10800000">
            <a:off x="6553200" y="5943600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763000" y="617220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0" y="5029200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2286000" y="76200"/>
            <a:ext cx="4871847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Signal Classification</a:t>
            </a:r>
          </a:p>
        </p:txBody>
      </p:sp>
      <p:sp>
        <p:nvSpPr>
          <p:cNvPr id="13315" name="Text Box 7"/>
          <p:cNvSpPr txBox="1">
            <a:spLocks noChangeArrowheads="1"/>
          </p:cNvSpPr>
          <p:nvPr/>
        </p:nvSpPr>
        <p:spPr bwMode="auto">
          <a:xfrm>
            <a:off x="152400" y="1246188"/>
            <a:ext cx="8382000" cy="4647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Signals may be classified into:</a:t>
            </a:r>
          </a:p>
          <a:p>
            <a:endParaRPr lang="en-US" sz="1200" b="1" dirty="0">
              <a:solidFill>
                <a:srgbClr val="0070C0"/>
              </a:solidFill>
            </a:endParaRPr>
          </a:p>
          <a:p>
            <a:pPr>
              <a:spcAft>
                <a:spcPts val="1200"/>
              </a:spcAft>
            </a:pPr>
            <a:r>
              <a:rPr lang="en-US" sz="2800" dirty="0"/>
              <a:t>   1. Continuous-time and discrete-time signals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   2. Analog and digital signals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   3. Periodic and </a:t>
            </a:r>
            <a:r>
              <a:rPr lang="en-US" sz="2800" dirty="0" err="1"/>
              <a:t>aperiodic</a:t>
            </a:r>
            <a:r>
              <a:rPr lang="en-US" sz="2800" dirty="0"/>
              <a:t> signals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   4. Energy and power signals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   5. Deterministic and probabilistic signals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   6. Causal and non-causal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   7. Even and Odd signals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68759"/>
            <a:ext cx="8991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Continuous vs Discrete</a:t>
            </a:r>
          </a:p>
        </p:txBody>
      </p:sp>
      <p:sp>
        <p:nvSpPr>
          <p:cNvPr id="13315" name="Text Box 7"/>
          <p:cNvSpPr txBox="1">
            <a:spLocks noChangeArrowheads="1"/>
          </p:cNvSpPr>
          <p:nvPr/>
        </p:nvSpPr>
        <p:spPr bwMode="auto">
          <a:xfrm>
            <a:off x="304800" y="2362200"/>
            <a:ext cx="35052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/>
              <a:t>Continuous-time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Discrete-time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3218" y="1981200"/>
            <a:ext cx="5440782" cy="4876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152400" y="130314"/>
            <a:ext cx="8839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Analog vs Digital</a:t>
            </a: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676400"/>
            <a:ext cx="2639200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1676400"/>
            <a:ext cx="2909888" cy="1696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4419600"/>
            <a:ext cx="2867025" cy="198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73007" y="4572000"/>
            <a:ext cx="3289993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533400" y="1219200"/>
            <a:ext cx="3124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Analog, continuous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810000"/>
            <a:ext cx="2819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Analog, discrete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62600" y="1219200"/>
            <a:ext cx="2819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Digital, continuous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3962400"/>
            <a:ext cx="2362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Digital, discrete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8991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Periodic vs Aperiodic</a:t>
            </a: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200" y="1219200"/>
            <a:ext cx="8991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 signal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is said to be periodic if for some positive constant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  <a:p>
            <a:endParaRPr lang="en-US" sz="2400" dirty="0"/>
          </a:p>
          <a:p>
            <a:r>
              <a:rPr lang="en-US" sz="2400" i="1" dirty="0">
                <a:sym typeface="Symbol"/>
              </a:rPr>
              <a:t>	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x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t+T</a:t>
            </a:r>
            <a:r>
              <a:rPr lang="en-US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i="1" dirty="0"/>
              <a:t>	</a:t>
            </a:r>
            <a:r>
              <a:rPr lang="en-US" sz="2400" dirty="0"/>
              <a:t>for all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  <a:p>
            <a:r>
              <a:rPr lang="en-US" sz="2400" dirty="0"/>
              <a:t>The smallest value of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i="1" dirty="0"/>
              <a:t> </a:t>
            </a:r>
            <a:r>
              <a:rPr lang="en-US" sz="2400" dirty="0"/>
              <a:t>that satisfies the periodicity condition of this equation is the fundamental period of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i="1" dirty="0"/>
              <a:t>.</a:t>
            </a:r>
            <a:endParaRPr lang="en-US" sz="2400" dirty="0"/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962400"/>
            <a:ext cx="8229599" cy="2225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8991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Deterministic vs Random</a:t>
            </a: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352800" y="1295400"/>
            <a:ext cx="2209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Deterministic</a:t>
            </a:r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905000"/>
            <a:ext cx="7961515" cy="163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6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4648200"/>
            <a:ext cx="7872704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3429000" y="3886200"/>
            <a:ext cx="2209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Random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152400" y="76200"/>
            <a:ext cx="8839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Causal vs Non-causal</a:t>
            </a: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72712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676400"/>
            <a:ext cx="8382000" cy="4349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8915399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Even and Odd Functions</a:t>
            </a:r>
            <a:endParaRPr lang="en-US" sz="4400" i="1" baseline="30000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 real function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 </a:t>
            </a:r>
            <a:r>
              <a:rPr lang="en-US" sz="2400" dirty="0"/>
              <a:t>is said to be an even function of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i="1" dirty="0"/>
              <a:t> </a:t>
            </a:r>
            <a:r>
              <a:rPr lang="en-US" sz="2400" dirty="0"/>
              <a:t>if</a:t>
            </a:r>
          </a:p>
        </p:txBody>
      </p:sp>
      <p:pic>
        <p:nvPicPr>
          <p:cNvPr id="8397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1981200"/>
            <a:ext cx="4231927" cy="1717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304799" y="3830371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 real function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i="1" dirty="0"/>
              <a:t> </a:t>
            </a:r>
            <a:r>
              <a:rPr lang="en-US" sz="2400" dirty="0"/>
              <a:t>is said to be an odd function of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/>
              <a:t> if</a:t>
            </a:r>
          </a:p>
        </p:txBody>
      </p:sp>
      <p:pic>
        <p:nvPicPr>
          <p:cNvPr id="8397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7943" y="4252821"/>
            <a:ext cx="3438525" cy="2036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98834" y="6425448"/>
            <a:ext cx="41683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HW1_Ch1</a:t>
            </a:r>
          </a:p>
        </p:txBody>
      </p:sp>
      <p:sp>
        <p:nvSpPr>
          <p:cNvPr id="2" name="Rectangle 1"/>
          <p:cNvSpPr/>
          <p:nvPr/>
        </p:nvSpPr>
        <p:spPr>
          <a:xfrm>
            <a:off x="1371600" y="4737029"/>
            <a:ext cx="21531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9200" y="2462942"/>
            <a:ext cx="19848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8915399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Even and Odd Function</a:t>
            </a:r>
            <a:endParaRPr lang="en-US" sz="4400" baseline="30000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8458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Even and odd functions have the following properties:</a:t>
            </a:r>
          </a:p>
          <a:p>
            <a:r>
              <a:rPr lang="en-US" sz="2400" dirty="0"/>
              <a:t>	• Even x Odd = Odd</a:t>
            </a:r>
          </a:p>
          <a:p>
            <a:r>
              <a:rPr lang="en-US" sz="2400" dirty="0"/>
              <a:t>	• Odd x Odd = Even</a:t>
            </a:r>
          </a:p>
          <a:p>
            <a:r>
              <a:rPr lang="en-US" sz="2400" dirty="0"/>
              <a:t>	• Even x Even = Even</a:t>
            </a:r>
          </a:p>
          <a:p>
            <a:endParaRPr lang="en-US" sz="2400" dirty="0"/>
          </a:p>
          <a:p>
            <a:r>
              <a:rPr lang="en-US" sz="2400" dirty="0"/>
              <a:t>Every signal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i="1" dirty="0"/>
              <a:t> </a:t>
            </a:r>
            <a:r>
              <a:rPr lang="en-US" sz="2400" dirty="0"/>
              <a:t>can be expressed as a sum of even and</a:t>
            </a:r>
          </a:p>
          <a:p>
            <a:r>
              <a:rPr lang="en-US" sz="2400" dirty="0"/>
              <a:t>odd components because:</a:t>
            </a:r>
          </a:p>
        </p:txBody>
      </p:sp>
      <p:pic>
        <p:nvPicPr>
          <p:cNvPr id="849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4349064"/>
            <a:ext cx="7467600" cy="1403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8915399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rgbClr val="333399"/>
                </a:solidFill>
                <a:latin typeface="Times New Roman" pitchFamily="18" charset="0"/>
                <a:cs typeface="Times New Roman" pitchFamily="18" charset="0"/>
              </a:rPr>
              <a:t>Even and Odd Function</a:t>
            </a:r>
            <a:endParaRPr lang="en-US" sz="4400" baseline="30000" dirty="0">
              <a:solidFill>
                <a:srgbClr val="33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4200" y="1767530"/>
            <a:ext cx="2151989" cy="66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0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2651490"/>
            <a:ext cx="3352800" cy="548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02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55749" y="2334648"/>
            <a:ext cx="4769529" cy="1420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02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971800" y="3882891"/>
            <a:ext cx="6019800" cy="1298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022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268750" y="5181600"/>
            <a:ext cx="5343525" cy="1619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023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4800" y="3742930"/>
            <a:ext cx="4343400" cy="600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024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04801" y="5363146"/>
            <a:ext cx="4343400" cy="580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828800" y="1080995"/>
            <a:ext cx="4781426" cy="898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0" y="1828800"/>
            <a:ext cx="7086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Example</a:t>
            </a:r>
            <a:r>
              <a:rPr lang="en-US" sz="2400" dirty="0">
                <a:solidFill>
                  <a:srgbClr val="000000"/>
                </a:solidFill>
              </a:rPr>
              <a:t>: Consider the causal exponential function</a:t>
            </a:r>
          </a:p>
        </p:txBody>
      </p:sp>
    </p:spTree>
    <p:extLst>
      <p:ext uri="{BB962C8B-B14F-4D97-AF65-F5344CB8AC3E}">
        <p14:creationId xmlns:p14="http://schemas.microsoft.com/office/powerpoint/2010/main" val="3535869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152400" y="130314"/>
            <a:ext cx="8839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Signal Models</a:t>
            </a: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28600" y="1219200"/>
                <a:ext cx="5334000" cy="33913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Unit Step Function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Pulse Signal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subHide m:val="on"/>
                        <m:supHide m:val="on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endParaRPr lang="en-US" sz="28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Unit Impulse Function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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>
                    <a:sym typeface="Symbol" panose="05050102010706020507" pitchFamily="18" charset="2"/>
                  </a:rPr>
                  <a:t>Exponential Function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lang="en-US" sz="2800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st</a:t>
                </a:r>
                <a:endParaRPr lang="en-US" sz="2800" i="1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219200"/>
                <a:ext cx="5334000" cy="3391313"/>
              </a:xfrm>
              <a:prstGeom prst="rect">
                <a:avLst/>
              </a:prstGeom>
              <a:blipFill rotWithShape="0">
                <a:blip r:embed="rId2"/>
                <a:stretch>
                  <a:fillRect l="-2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228600" y="130314"/>
            <a:ext cx="8686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Unit Step Function </a:t>
            </a:r>
            <a:r>
              <a:rPr lang="en-US" sz="4400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4400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28600" y="1219200"/>
            <a:ext cx="457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Step function defined by: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" y="3119735"/>
            <a:ext cx="8991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Useful to describe a signal that begins at </a:t>
            </a:r>
            <a:r>
              <a:rPr lang="en-US" sz="2400" i="1" dirty="0"/>
              <a:t>t</a:t>
            </a:r>
            <a:r>
              <a:rPr lang="en-US" sz="2400" dirty="0"/>
              <a:t> = 0 (i.e. causal signal).</a:t>
            </a:r>
          </a:p>
        </p:txBody>
      </p:sp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1179212"/>
            <a:ext cx="2556352" cy="180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200" y="4191000"/>
            <a:ext cx="2971800" cy="218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52600" y="1905000"/>
            <a:ext cx="2624138" cy="991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152400" y="3810000"/>
            <a:ext cx="6553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For example, the signal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-at</a:t>
            </a:r>
            <a:r>
              <a:rPr lang="en-US" sz="2400" baseline="30000" dirty="0"/>
              <a:t> </a:t>
            </a:r>
            <a:r>
              <a:rPr lang="en-US" sz="2400" dirty="0"/>
              <a:t>represents an everlasting exponential that starts at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/>
              <a:t> = -</a:t>
            </a:r>
            <a:r>
              <a:rPr lang="en-US" sz="2400" dirty="0">
                <a:sym typeface="Symbol"/>
              </a:rPr>
              <a:t></a:t>
            </a:r>
            <a:r>
              <a:rPr lang="en-US" sz="2400" dirty="0"/>
              <a:t>.</a:t>
            </a:r>
          </a:p>
          <a:p>
            <a:endParaRPr lang="en-US" sz="1200" dirty="0"/>
          </a:p>
          <a:p>
            <a:r>
              <a:rPr lang="en-US" sz="2400" dirty="0"/>
              <a:t>The causal for of this exponential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33816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228600" y="130314"/>
            <a:ext cx="87630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Pulse Signal</a:t>
            </a: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28600" y="3119623"/>
            <a:ext cx="838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 pulse signal can be presented by two step functions:</a:t>
            </a:r>
          </a:p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-2) –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-4)</a:t>
            </a:r>
            <a:endParaRPr lang="en-US" sz="2400" dirty="0"/>
          </a:p>
          <a:p>
            <a:endParaRPr lang="en-US" sz="1200" dirty="0"/>
          </a:p>
        </p:txBody>
      </p:sp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496627"/>
            <a:ext cx="7696200" cy="2374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94582" y="1752600"/>
                <a:ext cx="1694823" cy="763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82" y="1752600"/>
                <a:ext cx="1694823" cy="7630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2057400" y="1570776"/>
            <a:ext cx="1548560" cy="959091"/>
            <a:chOff x="2230250" y="1571100"/>
            <a:chExt cx="1548560" cy="959091"/>
          </a:xfrm>
        </p:grpSpPr>
        <p:cxnSp>
          <p:nvCxnSpPr>
            <p:cNvPr id="4" name="Straight Arrow Connector 3"/>
            <p:cNvCxnSpPr/>
            <p:nvPr/>
          </p:nvCxnSpPr>
          <p:spPr>
            <a:xfrm>
              <a:off x="2331010" y="2211010"/>
              <a:ext cx="1447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V="1">
              <a:off x="2940610" y="1571100"/>
              <a:ext cx="0" cy="914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/>
          </p:nvSpPr>
          <p:spPr>
            <a:xfrm>
              <a:off x="2635810" y="1830010"/>
              <a:ext cx="6096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3069287" y="2170558"/>
                  <a:ext cx="507510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9287" y="2170558"/>
                  <a:ext cx="507510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/>
                <p:cNvSpPr/>
                <p:nvPr/>
              </p:nvSpPr>
              <p:spPr>
                <a:xfrm>
                  <a:off x="2230250" y="2222414"/>
                  <a:ext cx="642163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5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0250" y="2222414"/>
                  <a:ext cx="642163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308463" y="1685637"/>
                <a:ext cx="2121735" cy="7805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8463" y="1685637"/>
                <a:ext cx="2121735" cy="7805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000" y="1392518"/>
            <a:ext cx="2747949" cy="13668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29400" y="4495554"/>
            <a:ext cx="8306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-2) 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7460077" y="6172200"/>
            <a:ext cx="9589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-4)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137779" y="130314"/>
            <a:ext cx="893002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Unit Impulse Function </a:t>
            </a:r>
            <a:r>
              <a:rPr lang="el-GR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δ</a:t>
            </a:r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(t)</a:t>
            </a: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28600" y="1219200"/>
            <a:ext cx="838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First defined by Dirac as: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191000"/>
            <a:ext cx="3695700" cy="25431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4191000"/>
            <a:ext cx="3667125" cy="22669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371600" y="2111866"/>
                <a:ext cx="357084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               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US" sz="28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2111866"/>
                <a:ext cx="3570849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295400" y="2864305"/>
                <a:ext cx="2368021" cy="929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2864305"/>
                <a:ext cx="2368021" cy="92961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917049" y="2956539"/>
                <a:ext cx="2093330" cy="8206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049" y="2956539"/>
                <a:ext cx="2093330" cy="82067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137779" y="130314"/>
            <a:ext cx="846898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Multiplying Function </a:t>
            </a:r>
            <a:r>
              <a:rPr lang="en-US" sz="4000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 </a:t>
            </a:r>
            <a:r>
              <a:rPr lang="en-US" sz="4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</a:t>
            </a:r>
            <a:r>
              <a:rPr lang="en-US" sz="4000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t</a:t>
            </a:r>
            <a:r>
              <a:rPr lang="en-US" sz="4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 by an </a:t>
            </a:r>
            <a:r>
              <a:rPr lang="en-US" sz="36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Impulse</a:t>
            </a:r>
            <a:endParaRPr lang="en-US" sz="3200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200" y="1219200"/>
            <a:ext cx="89154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Since impulse is non-zero only at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/>
              <a:t> = 0, and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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/>
              <a:t> at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/>
              <a:t> = 0 is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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/>
              <a:t>we get: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 </a:t>
            </a:r>
          </a:p>
          <a:p>
            <a:r>
              <a:rPr lang="en-US" sz="2800" dirty="0"/>
              <a:t>We can generalize this for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T</a:t>
            </a:r>
            <a:r>
              <a:rPr lang="en-US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524000" y="2667000"/>
                <a:ext cx="3325782" cy="707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667000"/>
                <a:ext cx="3325782" cy="70788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524000" y="4724400"/>
                <a:ext cx="4644733" cy="707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4724400"/>
                <a:ext cx="4644733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8915399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8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Sampling Property of Unit Impulse Function</a:t>
            </a: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76200" y="1219200"/>
                <a:ext cx="8915400" cy="56938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Since we have: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It follows that:</a:t>
                </a:r>
              </a:p>
              <a:p>
                <a:endParaRPr lang="en-US" sz="2800" dirty="0"/>
              </a:p>
              <a:p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dirty="0"/>
                  <a:t>This is the same as “sampling”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/>
                  </a:rPr>
                  <a:t>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800" dirty="0"/>
                  <a:t>at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800" dirty="0"/>
                  <a:t> = 0.</a:t>
                </a:r>
              </a:p>
              <a:p>
                <a:r>
                  <a:rPr lang="en-US" sz="2800" dirty="0"/>
                  <a:t>If we want to sample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/>
                  </a:rPr>
                  <a:t>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800" dirty="0"/>
                  <a:t> at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en-US" sz="2800" dirty="0"/>
                  <a:t>, we just multiple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/>
                  </a:rPr>
                  <a:t>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800" dirty="0"/>
                  <a:t>with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dirty="0"/>
                  <a:t>This is called the “sampling or sifting property” of the impulse.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1219200"/>
                <a:ext cx="8915400" cy="5693866"/>
              </a:xfrm>
              <a:prstGeom prst="rect">
                <a:avLst/>
              </a:prstGeom>
              <a:blipFill rotWithShape="0">
                <a:blip r:embed="rId2"/>
                <a:stretch>
                  <a:fillRect l="-1436" t="-1071" b="-2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871008" y="1256323"/>
                <a:ext cx="3325782" cy="707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008" y="1256323"/>
                <a:ext cx="3325782" cy="70788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400303" y="2659394"/>
                <a:ext cx="6559488" cy="929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(0)</m:t>
                          </m:r>
                          <m:nary>
                            <m:nary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(0)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303" y="2659394"/>
                <a:ext cx="6559488" cy="92961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437794" y="4930019"/>
                <a:ext cx="4268412" cy="929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7794" y="4930019"/>
                <a:ext cx="4268412" cy="92961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8915399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Examples</a:t>
            </a:r>
            <a:endParaRPr lang="en-US" sz="4400" baseline="30000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200" y="1219200"/>
            <a:ext cx="8915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Simplify the following expression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600200" y="1904999"/>
          <a:ext cx="2438400" cy="997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1117440" imgH="457200" progId="Equation.3">
                  <p:embed/>
                </p:oleObj>
              </mc:Choice>
              <mc:Fallback>
                <p:oleObj name="Equation" r:id="rId3" imgW="1117440" imgH="4572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904999"/>
                        <a:ext cx="2438400" cy="99752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152400" y="3134380"/>
            <a:ext cx="8229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Evaluate the following</a:t>
            </a:r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1986127"/>
              </p:ext>
            </p:extLst>
          </p:nvPr>
        </p:nvGraphicFramePr>
        <p:xfrm>
          <a:off x="1911350" y="3810000"/>
          <a:ext cx="1966913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5" imgW="901440" imgH="469800" progId="Equation.3">
                  <p:embed/>
                </p:oleObj>
              </mc:Choice>
              <mc:Fallback>
                <p:oleObj name="Equation" r:id="rId5" imgW="901440" imgH="469800" progId="Equation.3">
                  <p:embed/>
                  <p:pic>
                    <p:nvPicPr>
                      <p:cNvPr id="10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0" y="3810000"/>
                        <a:ext cx="1966913" cy="1025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4953000"/>
            <a:ext cx="7467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Find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/>
              <a:t> for the following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5715000"/>
            <a:ext cx="32415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-2) – 3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8915399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The Exponential Function </a:t>
            </a:r>
            <a:r>
              <a:rPr lang="en-US" sz="4400" i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4400" i="1" baseline="30000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st</a:t>
            </a:r>
            <a:endParaRPr lang="en-US" sz="4400" i="1" baseline="30000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76200" y="1219200"/>
                <a:ext cx="89154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Important in signal and system analysis.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800" dirty="0"/>
                  <a:t> is a complex variable (complex frequency) </a:t>
                </a:r>
              </a:p>
              <a:p>
                <a:r>
                  <a:rPr lang="en-US" sz="2800" dirty="0"/>
                  <a:t>	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𝑗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𝜔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800" dirty="0"/>
                  <a:t> is the </a:t>
                </a:r>
                <a:r>
                  <a:rPr lang="en-US" sz="2800" dirty="0">
                    <a:solidFill>
                      <a:srgbClr val="0070C0"/>
                    </a:solidFill>
                  </a:rPr>
                  <a:t>decay rate </a:t>
                </a:r>
                <a:r>
                  <a:rPr lang="en-US" sz="2800" dirty="0"/>
                  <a:t>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𝜔</m:t>
                    </m:r>
                  </m:oMath>
                </a14:m>
                <a:r>
                  <a:rPr lang="en-US" sz="2800" dirty="0"/>
                  <a:t> is the </a:t>
                </a:r>
                <a:r>
                  <a:rPr lang="en-US" sz="2800" dirty="0">
                    <a:solidFill>
                      <a:srgbClr val="0070C0"/>
                    </a:solidFill>
                  </a:rPr>
                  <a:t>oscillation rate</a:t>
                </a:r>
                <a:r>
                  <a:rPr lang="en-US" sz="2800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r>
                  <a:rPr lang="en-US" sz="2800" dirty="0">
                    <a:solidFill>
                      <a:srgbClr val="0000FF"/>
                    </a:solidFill>
                  </a:rPr>
                  <a:t>Example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1219200"/>
                <a:ext cx="8915400" cy="2677656"/>
              </a:xfrm>
              <a:prstGeom prst="rect">
                <a:avLst/>
              </a:prstGeom>
              <a:blipFill rotWithShape="0">
                <a:blip r:embed="rId2"/>
                <a:stretch>
                  <a:fillRect l="-1436" t="-2278" b="-5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66155" y="4114800"/>
                <a:ext cx="7811690" cy="4599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𝑠𝑖𝑛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155" y="4114800"/>
                <a:ext cx="7811690" cy="45993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01715" y="4843701"/>
                <a:ext cx="8129854" cy="4609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p>
                            <m:sSup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𝑠𝑖𝑛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15" y="4843701"/>
                <a:ext cx="8129854" cy="46096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11875" y="5746569"/>
                <a:ext cx="4178580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𝑠𝑡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875" y="5746569"/>
                <a:ext cx="4178580" cy="8066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8915399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The Exponential Function </a:t>
            </a:r>
            <a:r>
              <a:rPr lang="en-US" sz="4400" i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4400" i="1" baseline="30000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st</a:t>
            </a:r>
            <a:endParaRPr lang="en-US" sz="4400" i="1" baseline="30000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76200" y="1219200"/>
                <a:ext cx="8915400" cy="32860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The function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800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</a:t>
                </a:r>
                <a:r>
                  <a:rPr lang="en-US" sz="2800" i="1" dirty="0"/>
                  <a:t> </a:t>
                </a:r>
                <a:r>
                  <a:rPr lang="en-US" sz="2800" dirty="0"/>
                  <a:t>can be used to describe a very large class of signals and functions. 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1- A constant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dirty="0"/>
                  <a:t> 		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</a:t>
                </a:r>
                <a:r>
                  <a:rPr lang="en-US" sz="2800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</a:t>
                </a:r>
                <a:r>
                  <a:rPr lang="en-US" sz="28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8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8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	s = 0</a:t>
                </a:r>
              </a:p>
              <a:p>
                <a:r>
                  <a:rPr lang="en-US" sz="2800" dirty="0"/>
                  <a:t>2- Exponential </a:t>
                </a:r>
                <a:r>
                  <a:rPr lang="en-US" sz="2800" i="1" dirty="0"/>
                  <a:t>e</a:t>
                </a:r>
                <a:r>
                  <a:rPr lang="el-GR" sz="2800" i="1" baseline="30000" dirty="0"/>
                  <a:t>σ</a:t>
                </a:r>
                <a:r>
                  <a:rPr lang="en-US" sz="2800" i="1" baseline="30000" dirty="0"/>
                  <a:t>t</a:t>
                </a:r>
                <a:r>
                  <a:rPr lang="en-US" sz="2800" i="1" dirty="0"/>
                  <a:t> 	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8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l-GR" sz="2800" i="1" baseline="30000" dirty="0"/>
                  <a:t>σ</a:t>
                </a:r>
                <a:r>
                  <a:rPr lang="en-US" sz="2800" i="1" baseline="30000" dirty="0"/>
                  <a:t>+j</a:t>
                </a:r>
                <a:r>
                  <a:rPr lang="el-GR" sz="2800" i="1" baseline="30000" dirty="0"/>
                  <a:t>ω</a:t>
                </a:r>
                <a:r>
                  <a:rPr lang="en-US" sz="2800" i="1" baseline="30000" dirty="0"/>
                  <a:t>)</a:t>
                </a:r>
                <a:r>
                  <a:rPr lang="en-US" sz="28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8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sz="2800" i="1" baseline="30000" dirty="0"/>
                  <a:t>σ</a:t>
                </a:r>
                <a:r>
                  <a:rPr lang="en-US" sz="28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</a:t>
                </a:r>
                <a:r>
                  <a:rPr lang="el-GR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</a:p>
              <a:p>
                <a:r>
                  <a:rPr lang="en-US" sz="2800" dirty="0">
                    <a:latin typeface="+mn-lt"/>
                    <a:cs typeface="Times New Roman" panose="02020603050405020304" pitchFamily="18" charset="0"/>
                  </a:rPr>
                  <a:t>3- Sinusoidal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 </a:t>
                </a:r>
                <a:r>
                  <a:rPr lang="el-GR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	x(t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func>
                  </m:oMath>
                </a14:m>
                <a:endParaRPr lang="en-US" sz="2800" dirty="0"/>
              </a:p>
              <a:p>
                <a:r>
                  <a:rPr lang="en-US" sz="2800" dirty="0"/>
                  <a:t>				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cos </a:t>
                </a:r>
                <a:r>
                  <a:rPr lang="el-GR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			</a:t>
                </a:r>
                <a:r>
                  <a:rPr lang="el-GR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1219200"/>
                <a:ext cx="8915400" cy="3286028"/>
              </a:xfrm>
              <a:prstGeom prst="rect">
                <a:avLst/>
              </a:prstGeom>
              <a:blipFill>
                <a:blip r:embed="rId2"/>
                <a:stretch>
                  <a:fillRect l="-1436" t="-2041" b="-4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8915399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The Exponential Function </a:t>
            </a:r>
            <a:r>
              <a:rPr lang="en-US" sz="4400" i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4400" i="1" baseline="30000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st</a:t>
            </a:r>
            <a:endParaRPr lang="en-US" sz="4400" i="1" baseline="30000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1219200"/>
            <a:ext cx="8610600" cy="2623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9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3802658"/>
            <a:ext cx="8610600" cy="2979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891539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0033CC"/>
                </a:solidFill>
              </a:rPr>
              <a:t>What are Systems?</a:t>
            </a:r>
            <a:endParaRPr lang="en-US" sz="3800" baseline="30000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200" y="1066800"/>
            <a:ext cx="89154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/>
              <a:t>Systems are used to </a:t>
            </a:r>
            <a:r>
              <a:rPr lang="en-US" sz="2400" b="1" dirty="0">
                <a:solidFill>
                  <a:srgbClr val="FF0000"/>
                </a:solidFill>
              </a:rPr>
              <a:t>process signals to modify or extract information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Physical system – characterized by their </a:t>
            </a:r>
            <a:r>
              <a:rPr lang="en-US" sz="2400" b="1" dirty="0">
                <a:solidFill>
                  <a:srgbClr val="FF0000"/>
                </a:solidFill>
              </a:rPr>
              <a:t>input-output relationships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E.g. Electrical systems are characterized by voltage-current relationships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E.g. Mechanical systems are characterized by force-displacement relationships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From this, we derive a </a:t>
            </a:r>
            <a:r>
              <a:rPr lang="en-US" sz="2400" b="1" dirty="0"/>
              <a:t>mathematical model of the system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“</a:t>
            </a:r>
            <a:r>
              <a:rPr lang="en-US" sz="2400" b="1" dirty="0"/>
              <a:t>Black box” </a:t>
            </a:r>
            <a:r>
              <a:rPr lang="en-US" sz="2400" dirty="0"/>
              <a:t>model of a system</a:t>
            </a:r>
            <a:r>
              <a:rPr lang="en-US" sz="2400" b="1" dirty="0"/>
              <a:t>: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68970" y="4676775"/>
            <a:ext cx="3698830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891539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0033CC"/>
                </a:solidFill>
              </a:rPr>
              <a:t>Classification of Systems</a:t>
            </a:r>
            <a:endParaRPr lang="en-US" sz="3800" baseline="30000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2400" y="1066800"/>
            <a:ext cx="88392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Systems may be classified into:</a:t>
            </a:r>
          </a:p>
          <a:p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Linear and non-linear systems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Constant parameter and time-varying-parameter systems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Instantaneous (</a:t>
            </a:r>
            <a:r>
              <a:rPr lang="en-US" sz="2400" dirty="0" err="1"/>
              <a:t>memoryless</a:t>
            </a:r>
            <a:r>
              <a:rPr lang="en-US" sz="2400" dirty="0"/>
              <a:t>) and dynamic (with memory) systems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Causal and non-causal systems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Continuous-time and discrete-time systems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Analog and digital systems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Invertible and noninvertible systems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Stable and unstable systems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891539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002060"/>
                </a:solidFill>
              </a:rPr>
              <a:t>Linear Systems</a:t>
            </a:r>
            <a:endParaRPr lang="en-US" sz="3800" baseline="30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2400" y="1219200"/>
            <a:ext cx="8839200" cy="5365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linear system exhibits the additivity property:</a:t>
            </a:r>
          </a:p>
          <a:p>
            <a:endParaRPr lang="en-US" sz="2400" b="1" dirty="0"/>
          </a:p>
          <a:p>
            <a:r>
              <a:rPr lang="en-US" sz="2400" dirty="0"/>
              <a:t>	</a:t>
            </a:r>
            <a:r>
              <a:rPr lang="en-US" sz="2800" dirty="0"/>
              <a:t>if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---&gt;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----&gt;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then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--&gt;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y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+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y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</a:p>
          <a:p>
            <a:endParaRPr 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/>
              <a:t>It also must satisfy the </a:t>
            </a:r>
            <a:r>
              <a:rPr lang="en-US" sz="2400" b="1" dirty="0"/>
              <a:t>homogeneity or scaling property:</a:t>
            </a:r>
          </a:p>
          <a:p>
            <a:r>
              <a:rPr lang="en-US" sz="2400" dirty="0"/>
              <a:t>    </a:t>
            </a:r>
          </a:p>
          <a:p>
            <a:r>
              <a:rPr lang="en-US" sz="2400" dirty="0"/>
              <a:t>	</a:t>
            </a:r>
            <a:r>
              <a:rPr lang="en-US" sz="2800" dirty="0"/>
              <a:t>if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---&gt;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800" dirty="0"/>
              <a:t>  then 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---&gt;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ky</a:t>
            </a:r>
            <a:r>
              <a:rPr lang="en-US" sz="2400" dirty="0"/>
              <a:t>  </a:t>
            </a:r>
          </a:p>
          <a:p>
            <a:endParaRPr lang="en-US" sz="2400" dirty="0"/>
          </a:p>
          <a:p>
            <a:pPr>
              <a:buFont typeface="Arial" pitchFamily="34" charset="0"/>
              <a:buChar char="•"/>
            </a:pPr>
            <a:r>
              <a:rPr lang="en-US" sz="2400" dirty="0"/>
              <a:t>These can be combined into the property of </a:t>
            </a:r>
            <a:r>
              <a:rPr lang="en-US" sz="2400" b="1" dirty="0"/>
              <a:t>superposition:</a:t>
            </a:r>
          </a:p>
          <a:p>
            <a:r>
              <a:rPr lang="en-US" sz="2400" dirty="0"/>
              <a:t>    </a:t>
            </a:r>
          </a:p>
          <a:p>
            <a:pPr lvl="0"/>
            <a:r>
              <a:rPr lang="en-US" sz="2800" dirty="0">
                <a:solidFill>
                  <a:srgbClr val="000000"/>
                </a:solidFill>
              </a:rPr>
              <a:t>if </a:t>
            </a:r>
            <a:r>
              <a:rPr lang="en-US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---&gt; </a:t>
            </a:r>
            <a:r>
              <a:rPr lang="en-US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and  </a:t>
            </a:r>
            <a:r>
              <a:rPr lang="en-US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----&gt; </a:t>
            </a:r>
            <a:r>
              <a:rPr lang="en-US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then </a:t>
            </a:r>
            <a:r>
              <a:rPr lang="en-US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--&gt;</a:t>
            </a:r>
            <a:r>
              <a:rPr lang="en-US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en-US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y</a:t>
            </a:r>
            <a:r>
              <a:rPr lang="en-US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+</a:t>
            </a:r>
            <a:r>
              <a:rPr lang="en-US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en-US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y</a:t>
            </a:r>
            <a:r>
              <a:rPr lang="en-US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</a:p>
          <a:p>
            <a:endParaRPr lang="en-US" sz="2400" dirty="0"/>
          </a:p>
          <a:p>
            <a:pPr>
              <a:buFont typeface="Arial" pitchFamily="34" charset="0"/>
              <a:buChar char="•"/>
            </a:pPr>
            <a:r>
              <a:rPr lang="en-US" sz="2400" dirty="0"/>
              <a:t>A non-linear system is one that is NOT linear (i.e. does not obey the principle of superposition)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891539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002060"/>
                </a:solidFill>
              </a:rPr>
              <a:t>Examples</a:t>
            </a:r>
            <a:endParaRPr lang="en-US" sz="3800" baseline="30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1000" y="1219200"/>
                <a:ext cx="7064755" cy="2867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Determine if the system linear or non-linear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	a)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	</a:t>
                </a:r>
              </a:p>
              <a:p>
                <a:r>
                  <a:rPr lang="en-US" sz="2800" dirty="0"/>
                  <a:t>	b)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8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219200"/>
                <a:ext cx="7064755" cy="2867323"/>
              </a:xfrm>
              <a:prstGeom prst="rect">
                <a:avLst/>
              </a:prstGeom>
              <a:blipFill rotWithShape="0">
                <a:blip r:embed="rId2"/>
                <a:stretch>
                  <a:fillRect l="-1813" t="-2128" r="-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891539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002060"/>
                </a:solidFill>
              </a:rPr>
              <a:t>Advantage of Linear Systems</a:t>
            </a:r>
            <a:endParaRPr lang="en-US" sz="3800" baseline="30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52400" y="1143000"/>
            <a:ext cx="876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complex input can be represented as a sum of simpler inputs (pulse, step, sinusoidal), and then use linearity to find the response to this simple inputs to find the system output to the complex input.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" y="3352800"/>
            <a:ext cx="8258175" cy="305752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891539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002060"/>
                </a:solidFill>
              </a:rPr>
              <a:t>Time-Invariant System</a:t>
            </a:r>
            <a:endParaRPr lang="en-US" sz="3800" baseline="30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66255" y="1143001"/>
            <a:ext cx="885193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Time-Invariant system </a:t>
            </a:r>
            <a:r>
              <a:rPr lang="en-US" sz="2800" dirty="0"/>
              <a:t>is a system whose parameters and response do not change with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" y="3992169"/>
            <a:ext cx="88519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Method to test time-invariant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4576432"/>
            <a:ext cx="5029200" cy="225289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58151"/>
            <a:ext cx="4565210" cy="14928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2" y="2249508"/>
            <a:ext cx="3912433" cy="133189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2675830"/>
            <a:ext cx="838200" cy="36880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675830"/>
            <a:ext cx="838200" cy="36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8695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891539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002060"/>
                </a:solidFill>
              </a:rPr>
              <a:t>Example</a:t>
            </a:r>
            <a:endParaRPr lang="en-US" sz="3800" baseline="30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200" y="1295400"/>
            <a:ext cx="85205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Determine if the system is time-invariant? </a:t>
            </a:r>
          </a:p>
          <a:p>
            <a:endParaRPr lang="en-US" sz="2400" dirty="0"/>
          </a:p>
          <a:p>
            <a:r>
              <a:rPr lang="en-US" sz="2400" dirty="0"/>
              <a:t>	(a)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3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/>
              <a:t>	    		(b)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891539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002060"/>
                </a:solidFill>
              </a:rPr>
              <a:t>Instantaneous and Dynamic Systems</a:t>
            </a:r>
            <a:endParaRPr lang="en-US" sz="3800" baseline="30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89507" y="1295400"/>
            <a:ext cx="89915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Dynamic System: </a:t>
            </a:r>
            <a:r>
              <a:rPr lang="en-US" sz="2800" dirty="0"/>
              <a:t>system’s output at time </a:t>
            </a:r>
            <a:r>
              <a:rPr lang="en-US" sz="2800" i="1" dirty="0">
                <a:solidFill>
                  <a:srgbClr val="C00000"/>
                </a:solidFill>
              </a:rPr>
              <a:t>t</a:t>
            </a:r>
            <a:r>
              <a:rPr lang="en-US" sz="2800" dirty="0"/>
              <a:t> depends on the current input and past input (</a:t>
            </a:r>
            <a:r>
              <a:rPr lang="en-US" sz="2800" dirty="0">
                <a:solidFill>
                  <a:srgbClr val="0000FF"/>
                </a:solidFill>
              </a:rPr>
              <a:t>system with memory</a:t>
            </a:r>
            <a:r>
              <a:rPr lang="en-US" sz="2800" dirty="0"/>
              <a:t>).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0000FF"/>
                </a:solidFill>
              </a:rPr>
              <a:t>Instantaneous System: </a:t>
            </a:r>
            <a:r>
              <a:rPr lang="en-US" sz="2800" dirty="0"/>
              <a:t>system’s output at time </a:t>
            </a:r>
            <a:r>
              <a:rPr lang="en-US" sz="2800" i="1" dirty="0">
                <a:solidFill>
                  <a:srgbClr val="C00000"/>
                </a:solidFill>
              </a:rPr>
              <a:t>t</a:t>
            </a:r>
            <a:r>
              <a:rPr lang="en-US" sz="2800" dirty="0"/>
              <a:t> depends only on the current input. (</a:t>
            </a:r>
            <a:r>
              <a:rPr lang="en-US" sz="2800" dirty="0">
                <a:solidFill>
                  <a:srgbClr val="0000FF"/>
                </a:solidFill>
              </a:rPr>
              <a:t>memoryless system</a:t>
            </a:r>
            <a:r>
              <a:rPr lang="en-US" sz="2800"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5410200"/>
            <a:ext cx="632577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Which of the two systems is instantaneous?  </a:t>
            </a:r>
          </a:p>
          <a:p>
            <a:r>
              <a:rPr lang="en-US" sz="2400" dirty="0">
                <a:solidFill>
                  <a:srgbClr val="C00000"/>
                </a:solidFill>
              </a:rPr>
              <a:t>a) 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3 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>
                <a:solidFill>
                  <a:srgbClr val="C00000"/>
                </a:solidFill>
              </a:rPr>
              <a:t>b) 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3 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-1)</a:t>
            </a:r>
          </a:p>
          <a:p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891539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002060"/>
                </a:solidFill>
              </a:rPr>
              <a:t>Causal and </a:t>
            </a:r>
            <a:r>
              <a:rPr lang="en-US" sz="4000" dirty="0" err="1">
                <a:solidFill>
                  <a:srgbClr val="002060"/>
                </a:solidFill>
              </a:rPr>
              <a:t>Noncausal</a:t>
            </a:r>
            <a:r>
              <a:rPr lang="en-US" sz="4000" dirty="0">
                <a:solidFill>
                  <a:srgbClr val="002060"/>
                </a:solidFill>
              </a:rPr>
              <a:t> Systems</a:t>
            </a:r>
            <a:endParaRPr lang="en-US" sz="3800" baseline="30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81000" y="5410200"/>
            <a:ext cx="52982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Which of the two systems is causal?  </a:t>
            </a:r>
          </a:p>
          <a:p>
            <a:r>
              <a:rPr lang="en-US" sz="2400" dirty="0">
                <a:solidFill>
                  <a:srgbClr val="C00000"/>
                </a:solidFill>
              </a:rPr>
              <a:t>a) 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3 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-2)</a:t>
            </a:r>
          </a:p>
          <a:p>
            <a:r>
              <a:rPr lang="en-US" sz="2400" dirty="0">
                <a:solidFill>
                  <a:srgbClr val="C00000"/>
                </a:solidFill>
              </a:rPr>
              <a:t>b) 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3 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40" y="1089958"/>
            <a:ext cx="892485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Causal System</a:t>
            </a:r>
            <a:r>
              <a:rPr lang="en-US" sz="2400" dirty="0"/>
              <a:t>: the output at any time instant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/>
              <a:t> depends only on the input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/>
              <a:t>for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/>
              <a:t> </a:t>
            </a:r>
            <a:r>
              <a:rPr lang="en-US" sz="2400" i="1" dirty="0"/>
              <a:t>≤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/>
              <a:t>Present output depends on the past and present inputs, not on future inputs.</a:t>
            </a:r>
          </a:p>
          <a:p>
            <a:endParaRPr lang="en-US" sz="2400" dirty="0"/>
          </a:p>
          <a:p>
            <a:r>
              <a:rPr lang="en-US" sz="2400" dirty="0"/>
              <a:t>All practical real time system must be causal system since it cannot predict future input and produce an output based on future input.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9067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002060"/>
                </a:solidFill>
              </a:rPr>
              <a:t>Analog and Digital Systems</a:t>
            </a:r>
            <a:endParaRPr lang="en-US" sz="4000" baseline="30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21143"/>
            <a:ext cx="4448175" cy="2428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40" y="1089958"/>
            <a:ext cx="8930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Analog System</a:t>
            </a:r>
            <a:r>
              <a:rPr lang="en-US" sz="2400" dirty="0"/>
              <a:t>: Input is continuous and the output is continuous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40" y="4034135"/>
            <a:ext cx="8004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Digital System</a:t>
            </a:r>
            <a:r>
              <a:rPr lang="en-US" sz="2400" dirty="0"/>
              <a:t>: Input is discrete and the output is discrete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850" y="4535975"/>
            <a:ext cx="6064950" cy="224582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9067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002060"/>
                </a:solidFill>
              </a:rPr>
              <a:t>Invertible and Noninvertible</a:t>
            </a:r>
            <a:endParaRPr lang="en-US" sz="4000" baseline="30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54713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Which of the two systems is invertible?</a:t>
            </a:r>
          </a:p>
          <a:p>
            <a:r>
              <a:rPr lang="en-US" sz="2400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a) 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sz="2400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b)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4270733"/>
            <a:ext cx="6267450" cy="904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2940" y="1249740"/>
            <a:ext cx="884866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Let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/>
              <a:t> be a system whose output is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/>
              <a:t>for input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/>
              <a:t>.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/>
              <a:t> is invertible if it is possible to design a system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/>
              <a:t> that takes the signal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/>
              <a:t>as an input and produces an output that is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/>
              <a:t>.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/>
              <a:t> is the inverse of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/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System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/>
              <a:t> is invertible if it produces a unique output for every unique input, one to one mapping of the inputs to the outputs.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9067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002060"/>
                </a:solidFill>
              </a:rPr>
              <a:t>System External Stability (</a:t>
            </a:r>
            <a:r>
              <a:rPr lang="en-US" sz="4000" dirty="0">
                <a:solidFill>
                  <a:srgbClr val="FF0000"/>
                </a:solidFill>
              </a:rPr>
              <a:t>BIBO</a:t>
            </a:r>
            <a:r>
              <a:rPr lang="en-US" sz="4000" dirty="0">
                <a:solidFill>
                  <a:srgbClr val="002060"/>
                </a:solidFill>
              </a:rPr>
              <a:t>)</a:t>
            </a:r>
            <a:endParaRPr lang="en-US" sz="4000" baseline="30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6200" y="1600200"/>
            <a:ext cx="90257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System is externally stable if for </a:t>
            </a:r>
            <a:r>
              <a:rPr lang="en-US" sz="2800" b="1" dirty="0">
                <a:solidFill>
                  <a:srgbClr val="C00000"/>
                </a:solidFill>
              </a:rPr>
              <a:t>b</a:t>
            </a:r>
            <a:r>
              <a:rPr lang="en-US" sz="2800" dirty="0"/>
              <a:t>ounded </a:t>
            </a:r>
            <a:r>
              <a:rPr lang="en-US" sz="2800" b="1" dirty="0">
                <a:solidFill>
                  <a:srgbClr val="C00000"/>
                </a:solidFill>
              </a:rPr>
              <a:t>i</a:t>
            </a:r>
            <a:r>
              <a:rPr lang="en-US" sz="2800" dirty="0"/>
              <a:t>nput it gives </a:t>
            </a:r>
            <a:r>
              <a:rPr lang="en-US" sz="2800" b="1" dirty="0">
                <a:solidFill>
                  <a:srgbClr val="C00000"/>
                </a:solidFill>
              </a:rPr>
              <a:t>b</a:t>
            </a:r>
            <a:r>
              <a:rPr lang="en-US" sz="2800" dirty="0"/>
              <a:t>ounded </a:t>
            </a:r>
            <a:r>
              <a:rPr lang="en-US" sz="2800" b="1" dirty="0">
                <a:solidFill>
                  <a:srgbClr val="C00000"/>
                </a:solidFill>
              </a:rPr>
              <a:t>o</a:t>
            </a:r>
            <a:r>
              <a:rPr lang="en-US" sz="2800" dirty="0"/>
              <a:t>utput.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9067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002060"/>
                </a:solidFill>
              </a:rPr>
              <a:t>System Model</a:t>
            </a:r>
            <a:endParaRPr lang="en-US" sz="4000" baseline="30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6200" y="1600200"/>
            <a:ext cx="902573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Many biological, electrical, and mechanical system can be modeled by a differential equation that relates the input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/>
              <a:t> to the output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/>
              <a:t>. </a:t>
            </a:r>
          </a:p>
          <a:p>
            <a:endParaRPr lang="en-US" sz="2800" dirty="0"/>
          </a:p>
          <a:p>
            <a:r>
              <a:rPr lang="en-US" sz="2800" dirty="0"/>
              <a:t>The next task in coming chapters is to solve the differential equation to find the output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/>
              <a:t> for specific input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37516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9067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002060"/>
                </a:solidFill>
              </a:rPr>
              <a:t>Electrical System</a:t>
            </a:r>
            <a:endParaRPr lang="en-US" sz="4000" baseline="30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355139"/>
              </p:ext>
            </p:extLst>
          </p:nvPr>
        </p:nvGraphicFramePr>
        <p:xfrm>
          <a:off x="979488" y="3124200"/>
          <a:ext cx="1341437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736560" imgH="203040" progId="Equation.3">
                  <p:embed/>
                </p:oleObj>
              </mc:Choice>
              <mc:Fallback>
                <p:oleObj name="Equation" r:id="rId3" imgW="736560" imgH="20304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488" y="3124200"/>
                        <a:ext cx="1341437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3852863" y="3048000"/>
          <a:ext cx="1293812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5" imgW="711000" imgH="393480" progId="Equation.3">
                  <p:embed/>
                </p:oleObj>
              </mc:Choice>
              <mc:Fallback>
                <p:oleObj name="Equation" r:id="rId5" imgW="711000" imgH="393480" progId="Equation.3">
                  <p:embed/>
                  <p:pic>
                    <p:nvPicPr>
                      <p:cNvPr id="368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2863" y="3048000"/>
                        <a:ext cx="1293812" cy="715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5"/>
          <p:cNvGraphicFramePr>
            <a:graphicFrameLocks noChangeAspect="1"/>
          </p:cNvGraphicFramePr>
          <p:nvPr/>
        </p:nvGraphicFramePr>
        <p:xfrm>
          <a:off x="6692900" y="3048000"/>
          <a:ext cx="1247775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7" imgW="685800" imgH="393480" progId="Equation.3">
                  <p:embed/>
                </p:oleObj>
              </mc:Choice>
              <mc:Fallback>
                <p:oleObj name="Equation" r:id="rId7" imgW="685800" imgH="393480" progId="Equation.3">
                  <p:embed/>
                  <p:pic>
                    <p:nvPicPr>
                      <p:cNvPr id="368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2900" y="3048000"/>
                        <a:ext cx="1247775" cy="715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600200" y="1676400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838200" y="2133600"/>
            <a:ext cx="1981200" cy="232368"/>
            <a:chOff x="838200" y="2133600"/>
            <a:chExt cx="1981200" cy="232368"/>
          </a:xfrm>
        </p:grpSpPr>
        <p:grpSp>
          <p:nvGrpSpPr>
            <p:cNvPr id="36870" name="Group 6"/>
            <p:cNvGrpSpPr>
              <a:grpSpLocks/>
            </p:cNvGrpSpPr>
            <p:nvPr/>
          </p:nvGrpSpPr>
          <p:grpSpPr bwMode="auto">
            <a:xfrm>
              <a:off x="1219200" y="2133600"/>
              <a:ext cx="1143000" cy="228600"/>
              <a:chOff x="5220" y="6078"/>
              <a:chExt cx="1800" cy="182"/>
            </a:xfrm>
          </p:grpSpPr>
          <p:sp>
            <p:nvSpPr>
              <p:cNvPr id="36871" name="Line 7"/>
              <p:cNvSpPr>
                <a:spLocks noChangeShapeType="1"/>
              </p:cNvSpPr>
              <p:nvPr/>
            </p:nvSpPr>
            <p:spPr bwMode="auto">
              <a:xfrm flipV="1">
                <a:off x="5580" y="6078"/>
                <a:ext cx="18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872" name="Line 8"/>
              <p:cNvSpPr>
                <a:spLocks noChangeShapeType="1"/>
              </p:cNvSpPr>
              <p:nvPr/>
            </p:nvSpPr>
            <p:spPr bwMode="auto">
              <a:xfrm>
                <a:off x="5760" y="6078"/>
                <a:ext cx="18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873" name="Line 9"/>
              <p:cNvSpPr>
                <a:spLocks noChangeShapeType="1"/>
              </p:cNvSpPr>
              <p:nvPr/>
            </p:nvSpPr>
            <p:spPr bwMode="auto">
              <a:xfrm flipV="1">
                <a:off x="5940" y="6078"/>
                <a:ext cx="18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874" name="Line 10"/>
              <p:cNvSpPr>
                <a:spLocks noChangeShapeType="1"/>
              </p:cNvSpPr>
              <p:nvPr/>
            </p:nvSpPr>
            <p:spPr bwMode="auto">
              <a:xfrm>
                <a:off x="6120" y="6078"/>
                <a:ext cx="18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875" name="Line 11"/>
              <p:cNvSpPr>
                <a:spLocks noChangeShapeType="1"/>
              </p:cNvSpPr>
              <p:nvPr/>
            </p:nvSpPr>
            <p:spPr bwMode="auto">
              <a:xfrm flipV="1">
                <a:off x="6300" y="6078"/>
                <a:ext cx="18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876" name="Line 12"/>
              <p:cNvSpPr>
                <a:spLocks noChangeShapeType="1"/>
              </p:cNvSpPr>
              <p:nvPr/>
            </p:nvSpPr>
            <p:spPr bwMode="auto">
              <a:xfrm>
                <a:off x="6480" y="6078"/>
                <a:ext cx="18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877" name="Line 13"/>
              <p:cNvSpPr>
                <a:spLocks noChangeShapeType="1"/>
              </p:cNvSpPr>
              <p:nvPr/>
            </p:nvSpPr>
            <p:spPr bwMode="auto">
              <a:xfrm>
                <a:off x="6660" y="6256"/>
                <a:ext cx="36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878" name="Line 14"/>
              <p:cNvSpPr>
                <a:spLocks noChangeShapeType="1"/>
              </p:cNvSpPr>
              <p:nvPr/>
            </p:nvSpPr>
            <p:spPr bwMode="auto">
              <a:xfrm>
                <a:off x="5220" y="6259"/>
                <a:ext cx="36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19" name="Straight Connector 18"/>
            <p:cNvCxnSpPr>
              <a:stCxn id="36877" idx="1"/>
            </p:cNvCxnSpPr>
            <p:nvPr/>
          </p:nvCxnSpPr>
          <p:spPr>
            <a:xfrm rot="16200000" flipH="1">
              <a:off x="2588916" y="2131716"/>
              <a:ext cx="3768" cy="457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H="1">
              <a:off x="1064916" y="2135484"/>
              <a:ext cx="3768" cy="457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990600" y="2362200"/>
              <a:ext cx="228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838200" y="19928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6969" y="2438400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/>
              <a:t>-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343400" y="1600200"/>
            <a:ext cx="457200" cy="1066800"/>
            <a:chOff x="4343400" y="1600200"/>
            <a:chExt cx="457200" cy="1066800"/>
          </a:xfrm>
        </p:grpSpPr>
        <p:cxnSp>
          <p:nvCxnSpPr>
            <p:cNvPr id="27" name="Straight Connector 26"/>
            <p:cNvCxnSpPr/>
            <p:nvPr/>
          </p:nvCxnSpPr>
          <p:spPr>
            <a:xfrm rot="5400000">
              <a:off x="4343400" y="1828800"/>
              <a:ext cx="457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4343400" y="2438400"/>
              <a:ext cx="457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10800000">
              <a:off x="4343400" y="2057400"/>
              <a:ext cx="457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10800000">
              <a:off x="4343400" y="2209799"/>
              <a:ext cx="457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rot="5400000">
              <a:off x="4495800" y="1752600"/>
              <a:ext cx="152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4" name="TextBox 33"/>
          <p:cNvSpPr txBox="1"/>
          <p:nvPr/>
        </p:nvSpPr>
        <p:spPr>
          <a:xfrm>
            <a:off x="4114800" y="160020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76800" y="1676400"/>
            <a:ext cx="5822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  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</a:t>
            </a:r>
          </a:p>
          <a:p>
            <a:r>
              <a:rPr lang="en-US" dirty="0"/>
              <a:t> -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248400" y="1981200"/>
            <a:ext cx="2286000" cy="363538"/>
            <a:chOff x="6248400" y="1981200"/>
            <a:chExt cx="2286000" cy="363538"/>
          </a:xfrm>
        </p:grpSpPr>
        <p:sp>
          <p:nvSpPr>
            <p:cNvPr id="36879" name="Freeform 15"/>
            <p:cNvSpPr>
              <a:spLocks/>
            </p:cNvSpPr>
            <p:nvPr/>
          </p:nvSpPr>
          <p:spPr bwMode="auto">
            <a:xfrm>
              <a:off x="6781800" y="1981200"/>
              <a:ext cx="1219200" cy="363538"/>
            </a:xfrm>
            <a:custGeom>
              <a:avLst/>
              <a:gdLst/>
              <a:ahLst/>
              <a:cxnLst>
                <a:cxn ang="0">
                  <a:pos x="0" y="210"/>
                </a:cxn>
                <a:cxn ang="0">
                  <a:pos x="180" y="30"/>
                </a:cxn>
                <a:cxn ang="0">
                  <a:pos x="540" y="390"/>
                </a:cxn>
                <a:cxn ang="0">
                  <a:pos x="360" y="390"/>
                </a:cxn>
                <a:cxn ang="0">
                  <a:pos x="540" y="30"/>
                </a:cxn>
                <a:cxn ang="0">
                  <a:pos x="900" y="390"/>
                </a:cxn>
                <a:cxn ang="0">
                  <a:pos x="720" y="390"/>
                </a:cxn>
                <a:cxn ang="0">
                  <a:pos x="900" y="30"/>
                </a:cxn>
                <a:cxn ang="0">
                  <a:pos x="1260" y="390"/>
                </a:cxn>
                <a:cxn ang="0">
                  <a:pos x="1080" y="390"/>
                </a:cxn>
                <a:cxn ang="0">
                  <a:pos x="1260" y="30"/>
                </a:cxn>
                <a:cxn ang="0">
                  <a:pos x="1440" y="210"/>
                </a:cxn>
              </a:cxnLst>
              <a:rect l="0" t="0" r="r" b="b"/>
              <a:pathLst>
                <a:path w="1440" h="450">
                  <a:moveTo>
                    <a:pt x="0" y="210"/>
                  </a:moveTo>
                  <a:cubicBezTo>
                    <a:pt x="45" y="105"/>
                    <a:pt x="90" y="0"/>
                    <a:pt x="180" y="30"/>
                  </a:cubicBezTo>
                  <a:cubicBezTo>
                    <a:pt x="270" y="60"/>
                    <a:pt x="510" y="330"/>
                    <a:pt x="540" y="390"/>
                  </a:cubicBezTo>
                  <a:cubicBezTo>
                    <a:pt x="570" y="450"/>
                    <a:pt x="360" y="450"/>
                    <a:pt x="360" y="390"/>
                  </a:cubicBezTo>
                  <a:cubicBezTo>
                    <a:pt x="360" y="330"/>
                    <a:pt x="450" y="30"/>
                    <a:pt x="540" y="30"/>
                  </a:cubicBezTo>
                  <a:cubicBezTo>
                    <a:pt x="630" y="30"/>
                    <a:pt x="870" y="330"/>
                    <a:pt x="900" y="390"/>
                  </a:cubicBezTo>
                  <a:cubicBezTo>
                    <a:pt x="930" y="450"/>
                    <a:pt x="720" y="450"/>
                    <a:pt x="720" y="390"/>
                  </a:cubicBezTo>
                  <a:cubicBezTo>
                    <a:pt x="720" y="330"/>
                    <a:pt x="810" y="30"/>
                    <a:pt x="900" y="30"/>
                  </a:cubicBezTo>
                  <a:cubicBezTo>
                    <a:pt x="990" y="30"/>
                    <a:pt x="1230" y="330"/>
                    <a:pt x="1260" y="390"/>
                  </a:cubicBezTo>
                  <a:cubicBezTo>
                    <a:pt x="1290" y="450"/>
                    <a:pt x="1080" y="450"/>
                    <a:pt x="1080" y="390"/>
                  </a:cubicBezTo>
                  <a:cubicBezTo>
                    <a:pt x="1080" y="330"/>
                    <a:pt x="1200" y="60"/>
                    <a:pt x="1260" y="30"/>
                  </a:cubicBezTo>
                  <a:cubicBezTo>
                    <a:pt x="1320" y="0"/>
                    <a:pt x="1380" y="105"/>
                    <a:pt x="1440" y="21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38" name="Straight Connector 37"/>
            <p:cNvCxnSpPr/>
            <p:nvPr/>
          </p:nvCxnSpPr>
          <p:spPr>
            <a:xfrm rot="10800000">
              <a:off x="6248400" y="2152454"/>
              <a:ext cx="5334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0800000">
              <a:off x="8001000" y="2152454"/>
              <a:ext cx="5334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6400800" y="2152454"/>
              <a:ext cx="228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1" name="TextBox 40"/>
          <p:cNvSpPr txBox="1"/>
          <p:nvPr/>
        </p:nvSpPr>
        <p:spPr>
          <a:xfrm>
            <a:off x="6934200" y="1524000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/>
              <a:t>-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8400" y="167640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85800" y="4343400"/>
            <a:ext cx="18229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Voltage</a:t>
            </a:r>
          </a:p>
          <a:p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: Current</a:t>
            </a:r>
          </a:p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Resistor</a:t>
            </a:r>
          </a:p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Capacitor</a:t>
            </a:r>
          </a:p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Inductor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9067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002060"/>
                </a:solidFill>
              </a:rPr>
              <a:t>Mechanical System</a:t>
            </a:r>
            <a:endParaRPr lang="en-US" sz="4000" baseline="30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553291"/>
              </p:ext>
            </p:extLst>
          </p:nvPr>
        </p:nvGraphicFramePr>
        <p:xfrm>
          <a:off x="573086" y="3636964"/>
          <a:ext cx="26114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1434960" imgH="419040" progId="Equation.3">
                  <p:embed/>
                </p:oleObj>
              </mc:Choice>
              <mc:Fallback>
                <p:oleObj name="Equation" r:id="rId3" imgW="1434960" imgH="41904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6" y="3636964"/>
                        <a:ext cx="2611438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9310255"/>
              </p:ext>
            </p:extLst>
          </p:nvPr>
        </p:nvGraphicFramePr>
        <p:xfrm>
          <a:off x="3748087" y="3821114"/>
          <a:ext cx="1433513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787320" imgH="203040" progId="Equation.3">
                  <p:embed/>
                </p:oleObj>
              </mc:Choice>
              <mc:Fallback>
                <p:oleObj name="Equation" r:id="rId5" imgW="787320" imgH="203040" progId="Equation.3">
                  <p:embed/>
                  <p:pic>
                    <p:nvPicPr>
                      <p:cNvPr id="368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8087" y="3821114"/>
                        <a:ext cx="1433513" cy="369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954703"/>
              </p:ext>
            </p:extLst>
          </p:nvPr>
        </p:nvGraphicFramePr>
        <p:xfrm>
          <a:off x="5745163" y="3636964"/>
          <a:ext cx="2289175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Microsoft Equation 3.0" r:id="rId7" imgW="1257120" imgH="393480" progId="Equation.3">
                  <p:embed/>
                </p:oleObj>
              </mc:Choice>
              <mc:Fallback>
                <p:oleObj name="Microsoft Equation 3.0" r:id="rId7" imgW="1257120" imgH="393480" progId="Equation.3">
                  <p:embed/>
                  <p:pic>
                    <p:nvPicPr>
                      <p:cNvPr id="368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5163" y="3636964"/>
                        <a:ext cx="2289175" cy="715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90277" y="4724400"/>
            <a:ext cx="495924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Mass</a:t>
            </a:r>
          </a:p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Force</a:t>
            </a:r>
          </a:p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Displacement</a:t>
            </a:r>
          </a:p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stiffness constant of the spring</a:t>
            </a:r>
          </a:p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Damping coefficient of the dashpot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538" y="1371599"/>
            <a:ext cx="7391178" cy="182880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5264883" y="5350377"/>
            <a:ext cx="1288317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9067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002060"/>
                </a:solidFill>
              </a:rPr>
              <a:t>Example</a:t>
            </a:r>
            <a:endParaRPr lang="en-US" sz="4000" baseline="30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191825" y="4768817"/>
            <a:ext cx="2190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+ 3D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86459" y="5335799"/>
            <a:ext cx="235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+ 3D + 2)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(D)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6019800" y="5734287"/>
            <a:ext cx="1" cy="5903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800600" y="6339178"/>
            <a:ext cx="278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Characteristic Polynomial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08822" y="1169122"/>
            <a:ext cx="878277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Find the input-output relationship for the electrical system shown below. The input is the voltage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/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/>
              <a:t>), and the output is the current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800" dirty="0"/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/>
              <a:t>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233196" y="3052034"/>
                <a:ext cx="747833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196" y="3052034"/>
                <a:ext cx="747833" cy="52591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62000" y="4861150"/>
                <a:ext cx="20277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861150"/>
                <a:ext cx="2027735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1802" r="-3303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09600" y="5371014"/>
                <a:ext cx="3162469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𝑦𝑑𝑡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371014"/>
                <a:ext cx="3162469" cy="7265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74895" y="6096000"/>
                <a:ext cx="2715230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𝐿𝐶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895" y="6096000"/>
                <a:ext cx="2715230" cy="55579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976244" y="3091524"/>
                <a:ext cx="984565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244" y="3091524"/>
                <a:ext cx="984565" cy="55579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105400" y="3890854"/>
                <a:ext cx="2713050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𝐿𝐶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3890854"/>
                <a:ext cx="2713050" cy="52039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75" y="2803187"/>
            <a:ext cx="3765710" cy="1729297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76200" y="130314"/>
            <a:ext cx="9067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002060"/>
                </a:solidFill>
              </a:rPr>
              <a:t>Example 2</a:t>
            </a:r>
            <a:endParaRPr lang="en-US" sz="4000" baseline="30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" y="1218336"/>
            <a:ext cx="883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Find the input-output relationship for the transitional mechanical system shown below. The input is the force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/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/>
              <a:t>), and the output is the mass position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/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/>
              <a:t>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" y="6211669"/>
            <a:ext cx="8763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HW2_Ch1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67225" y="3129629"/>
                <a:ext cx="30919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acc>
                        <m:accPr>
                          <m:chr m:val="̈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25" y="3129629"/>
                <a:ext cx="3091937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394" r="-2170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04800" y="2631626"/>
                <a:ext cx="22162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631626"/>
                <a:ext cx="2216248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824" r="-549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24400" y="2387065"/>
            <a:ext cx="4191000" cy="21657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33178</TotalTime>
  <Words>2219</Words>
  <Application>Microsoft Office PowerPoint</Application>
  <PresentationFormat>On-screen Show (4:3)</PresentationFormat>
  <Paragraphs>321</Paragraphs>
  <Slides>47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Arial</vt:lpstr>
      <vt:lpstr>Cambria Math</vt:lpstr>
      <vt:lpstr>Symbol</vt:lpstr>
      <vt:lpstr>Times New Roman</vt:lpstr>
      <vt:lpstr>Wingdings</vt:lpstr>
      <vt:lpstr>Default Design</vt:lpstr>
      <vt:lpstr>Equation</vt:lpstr>
      <vt:lpstr>Microsoft Equation 3.0</vt:lpstr>
      <vt:lpstr>Signals and Systems Chapter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XX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Continuous-Time System Analysis Using The Laplace Transform</dc:title>
  <dc:creator>mbingabr</dc:creator>
  <cp:lastModifiedBy>Mohamed Bingabr</cp:lastModifiedBy>
  <cp:revision>252</cp:revision>
  <dcterms:created xsi:type="dcterms:W3CDTF">2009-02-26T04:13:12Z</dcterms:created>
  <dcterms:modified xsi:type="dcterms:W3CDTF">2022-06-02T15:55:36Z</dcterms:modified>
</cp:coreProperties>
</file>