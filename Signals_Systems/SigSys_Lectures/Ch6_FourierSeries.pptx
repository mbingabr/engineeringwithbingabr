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8" r:id="rId3"/>
    <p:sldId id="311" r:id="rId4"/>
    <p:sldId id="307" r:id="rId5"/>
    <p:sldId id="308" r:id="rId6"/>
    <p:sldId id="309" r:id="rId7"/>
    <p:sldId id="310" r:id="rId8"/>
    <p:sldId id="290" r:id="rId9"/>
    <p:sldId id="291" r:id="rId10"/>
    <p:sldId id="292" r:id="rId11"/>
    <p:sldId id="313" r:id="rId12"/>
    <p:sldId id="304" r:id="rId13"/>
    <p:sldId id="297" r:id="rId14"/>
    <p:sldId id="275" r:id="rId15"/>
    <p:sldId id="278" r:id="rId16"/>
    <p:sldId id="329" r:id="rId17"/>
    <p:sldId id="321" r:id="rId18"/>
    <p:sldId id="322" r:id="rId19"/>
    <p:sldId id="314" r:id="rId20"/>
    <p:sldId id="270" r:id="rId21"/>
    <p:sldId id="316" r:id="rId22"/>
    <p:sldId id="273" r:id="rId23"/>
    <p:sldId id="315" r:id="rId24"/>
    <p:sldId id="326" r:id="rId25"/>
    <p:sldId id="328" r:id="rId26"/>
    <p:sldId id="296" r:id="rId27"/>
    <p:sldId id="281" r:id="rId28"/>
    <p:sldId id="282" r:id="rId29"/>
    <p:sldId id="319" r:id="rId30"/>
    <p:sldId id="274" r:id="rId31"/>
    <p:sldId id="283" r:id="rId32"/>
    <p:sldId id="318" r:id="rId33"/>
    <p:sldId id="320" r:id="rId34"/>
    <p:sldId id="323" r:id="rId35"/>
    <p:sldId id="325" r:id="rId36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03D7"/>
    <a:srgbClr val="CDD9EB"/>
    <a:srgbClr val="FFFACD"/>
    <a:srgbClr val="53FF5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0337F-AB35-4F15-AF6E-C5AAEF8B9D78}" v="78" dt="2022-04-15T04:03:42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79" autoAdjust="0"/>
  </p:normalViewPr>
  <p:slideViewPr>
    <p:cSldViewPr snapToGrid="0">
      <p:cViewPr>
        <p:scale>
          <a:sx n="94" d="100"/>
          <a:sy n="94" d="100"/>
        </p:scale>
        <p:origin x="975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9.xml"/><Relationship Id="rId2" Type="http://schemas.openxmlformats.org/officeDocument/2006/relationships/slide" Target="slides/slide25.xml"/><Relationship Id="rId1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Bingabr" userId="00864009-1172-4536-93d5-4dbe32f81f3e" providerId="ADAL" clId="{37122A24-4252-47D2-8EC0-59C6B356792E}"/>
    <pc:docChg chg="custSel delSld modSld">
      <pc:chgData name="Mohamed Bingabr" userId="00864009-1172-4536-93d5-4dbe32f81f3e" providerId="ADAL" clId="{37122A24-4252-47D2-8EC0-59C6B356792E}" dt="2022-04-11T21:23:44.111" v="44" actId="2696"/>
      <pc:docMkLst>
        <pc:docMk/>
      </pc:docMkLst>
      <pc:sldChg chg="addSp delSp modSp">
        <pc:chgData name="Mohamed Bingabr" userId="00864009-1172-4536-93d5-4dbe32f81f3e" providerId="ADAL" clId="{37122A24-4252-47D2-8EC0-59C6B356792E}" dt="2022-04-11T13:45:37.678" v="41" actId="5793"/>
        <pc:sldMkLst>
          <pc:docMk/>
          <pc:sldMk cId="0" sldId="273"/>
        </pc:sldMkLst>
        <pc:spChg chg="add mod">
          <ac:chgData name="Mohamed Bingabr" userId="00864009-1172-4536-93d5-4dbe32f81f3e" providerId="ADAL" clId="{37122A24-4252-47D2-8EC0-59C6B356792E}" dt="2022-04-11T13:39:33.887" v="8" actId="1035"/>
          <ac:spMkLst>
            <pc:docMk/>
            <pc:sldMk cId="0" sldId="273"/>
            <ac:spMk id="2" creationId="{36DA9DBD-779C-467D-B05D-68DB1E58499C}"/>
          </ac:spMkLst>
        </pc:spChg>
        <pc:spChg chg="mod">
          <ac:chgData name="Mohamed Bingabr" userId="00864009-1172-4536-93d5-4dbe32f81f3e" providerId="ADAL" clId="{37122A24-4252-47D2-8EC0-59C6B356792E}" dt="2022-04-11T13:45:37.678" v="41" actId="5793"/>
          <ac:spMkLst>
            <pc:docMk/>
            <pc:sldMk cId="0" sldId="273"/>
            <ac:spMk id="23554" creationId="{00000000-0000-0000-0000-000000000000}"/>
          </ac:spMkLst>
        </pc:spChg>
        <pc:spChg chg="add mod">
          <ac:chgData name="Mohamed Bingabr" userId="00864009-1172-4536-93d5-4dbe32f81f3e" providerId="ADAL" clId="{37122A24-4252-47D2-8EC0-59C6B356792E}" dt="2022-04-11T13:44:25.428" v="29" actId="20577"/>
          <ac:spMkLst>
            <pc:docMk/>
            <pc:sldMk cId="0" sldId="273"/>
            <ac:spMk id="23555" creationId="{00000000-0000-0000-0000-000000000000}"/>
          </ac:spMkLst>
        </pc:spChg>
        <pc:spChg chg="add mod">
          <ac:chgData name="Mohamed Bingabr" userId="00864009-1172-4536-93d5-4dbe32f81f3e" providerId="ADAL" clId="{37122A24-4252-47D2-8EC0-59C6B356792E}" dt="2022-04-11T13:44:01.557" v="19" actId="6549"/>
          <ac:spMkLst>
            <pc:docMk/>
            <pc:sldMk cId="0" sldId="273"/>
            <ac:spMk id="23557" creationId="{00000000-0000-0000-0000-000000000000}"/>
          </ac:spMkLst>
        </pc:spChg>
        <pc:spChg chg="add mod">
          <ac:chgData name="Mohamed Bingabr" userId="00864009-1172-4536-93d5-4dbe32f81f3e" providerId="ADAL" clId="{37122A24-4252-47D2-8EC0-59C6B356792E}" dt="2022-04-11T13:44:54.526" v="40" actId="27636"/>
          <ac:spMkLst>
            <pc:docMk/>
            <pc:sldMk cId="0" sldId="273"/>
            <ac:spMk id="23560" creationId="{00000000-0000-0000-0000-000000000000}"/>
          </ac:spMkLst>
        </pc:spChg>
        <pc:spChg chg="del">
          <ac:chgData name="Mohamed Bingabr" userId="00864009-1172-4536-93d5-4dbe32f81f3e" providerId="ADAL" clId="{37122A24-4252-47D2-8EC0-59C6B356792E}" dt="2022-04-11T13:38:56.155" v="0" actId="478"/>
          <ac:spMkLst>
            <pc:docMk/>
            <pc:sldMk cId="0" sldId="273"/>
            <ac:spMk id="23568" creationId="{00000000-0000-0000-0000-000000000000}"/>
          </ac:spMkLst>
        </pc:spChg>
        <pc:graphicFrameChg chg="del mod replId">
          <ac:chgData name="Mohamed Bingabr" userId="00864009-1172-4536-93d5-4dbe32f81f3e" providerId="ADAL" clId="{37122A24-4252-47D2-8EC0-59C6B356792E}" dt="2022-04-11T13:43:31.569" v="11"/>
          <ac:graphicFrameMkLst>
            <pc:docMk/>
            <pc:sldMk cId="0" sldId="273"/>
            <ac:graphicFrameMk id="3" creationId="{00000000-0000-0000-0000-000000000000}"/>
          </ac:graphicFrameMkLst>
        </pc:graphicFrameChg>
        <pc:graphicFrameChg chg="del mod replId">
          <ac:chgData name="Mohamed Bingabr" userId="00864009-1172-4536-93d5-4dbe32f81f3e" providerId="ADAL" clId="{37122A24-4252-47D2-8EC0-59C6B356792E}" dt="2022-04-11T13:44:07.436" v="22"/>
          <ac:graphicFrameMkLst>
            <pc:docMk/>
            <pc:sldMk cId="0" sldId="273"/>
            <ac:graphicFrameMk id="5" creationId="{00000000-0000-0000-0000-000000000000}"/>
          </ac:graphicFrameMkLst>
        </pc:graphicFrameChg>
        <pc:graphicFrameChg chg="del mod replId">
          <ac:chgData name="Mohamed Bingabr" userId="00864009-1172-4536-93d5-4dbe32f81f3e" providerId="ADAL" clId="{37122A24-4252-47D2-8EC0-59C6B356792E}" dt="2022-04-11T13:44:38.067" v="31"/>
          <ac:graphicFrameMkLst>
            <pc:docMk/>
            <pc:sldMk cId="0" sldId="273"/>
            <ac:graphicFrameMk id="7" creationId="{00000000-0000-0000-0000-000000000000}"/>
          </ac:graphicFrameMkLst>
        </pc:graphicFrameChg>
      </pc:sldChg>
      <pc:sldChg chg="modSp">
        <pc:chgData name="Mohamed Bingabr" userId="00864009-1172-4536-93d5-4dbe32f81f3e" providerId="ADAL" clId="{37122A24-4252-47D2-8EC0-59C6B356792E}" dt="2022-04-11T13:45:52.594" v="42" actId="5793"/>
        <pc:sldMkLst>
          <pc:docMk/>
          <pc:sldMk cId="0" sldId="315"/>
        </pc:sldMkLst>
        <pc:spChg chg="mod">
          <ac:chgData name="Mohamed Bingabr" userId="00864009-1172-4536-93d5-4dbe32f81f3e" providerId="ADAL" clId="{37122A24-4252-47D2-8EC0-59C6B356792E}" dt="2022-04-11T13:45:52.594" v="42" actId="5793"/>
          <ac:spMkLst>
            <pc:docMk/>
            <pc:sldMk cId="0" sldId="315"/>
            <ac:spMk id="202754" creationId="{00000000-0000-0000-0000-000000000000}"/>
          </ac:spMkLst>
        </pc:spChg>
      </pc:sldChg>
      <pc:sldChg chg="del">
        <pc:chgData name="Mohamed Bingabr" userId="00864009-1172-4536-93d5-4dbe32f81f3e" providerId="ADAL" clId="{37122A24-4252-47D2-8EC0-59C6B356792E}" dt="2022-04-11T21:22:26.154" v="43" actId="2696"/>
        <pc:sldMkLst>
          <pc:docMk/>
          <pc:sldMk cId="0" sldId="317"/>
        </pc:sldMkLst>
      </pc:sldChg>
      <pc:sldChg chg="del">
        <pc:chgData name="Mohamed Bingabr" userId="00864009-1172-4536-93d5-4dbe32f81f3e" providerId="ADAL" clId="{37122A24-4252-47D2-8EC0-59C6B356792E}" dt="2022-04-11T21:23:44.111" v="44" actId="2696"/>
        <pc:sldMkLst>
          <pc:docMk/>
          <pc:sldMk cId="373854644" sldId="330"/>
        </pc:sldMkLst>
      </pc:sldChg>
    </pc:docChg>
  </pc:docChgLst>
  <pc:docChgLst>
    <pc:chgData name="Mohamed Bingabr" userId="00864009-1172-4536-93d5-4dbe32f81f3e" providerId="ADAL" clId="{CEA0337F-AB35-4F15-AF6E-C5AAEF8B9D78}"/>
    <pc:docChg chg="undo custSel modSld">
      <pc:chgData name="Mohamed Bingabr" userId="00864009-1172-4536-93d5-4dbe32f81f3e" providerId="ADAL" clId="{CEA0337F-AB35-4F15-AF6E-C5AAEF8B9D78}" dt="2022-04-15T04:03:23.108" v="370" actId="20577"/>
      <pc:docMkLst>
        <pc:docMk/>
      </pc:docMkLst>
      <pc:sldChg chg="addSp delSp modSp mod addAnim delAnim">
        <pc:chgData name="Mohamed Bingabr" userId="00864009-1172-4536-93d5-4dbe32f81f3e" providerId="ADAL" clId="{CEA0337F-AB35-4F15-AF6E-C5AAEF8B9D78}" dt="2022-04-08T02:09:59.296" v="20" actId="1038"/>
        <pc:sldMkLst>
          <pc:docMk/>
          <pc:sldMk cId="0" sldId="304"/>
        </pc:sldMkLst>
        <pc:spChg chg="add del mod">
          <ac:chgData name="Mohamed Bingabr" userId="00864009-1172-4536-93d5-4dbe32f81f3e" providerId="ADAL" clId="{CEA0337F-AB35-4F15-AF6E-C5AAEF8B9D78}" dt="2022-04-08T02:08:13.263" v="1" actId="478"/>
          <ac:spMkLst>
            <pc:docMk/>
            <pc:sldMk cId="0" sldId="304"/>
            <ac:spMk id="3" creationId="{36BDEAE0-0F51-464B-8D3B-B1439CB3B6E7}"/>
          </ac:spMkLst>
        </pc:spChg>
        <pc:spChg chg="add del mod">
          <ac:chgData name="Mohamed Bingabr" userId="00864009-1172-4536-93d5-4dbe32f81f3e" providerId="ADAL" clId="{CEA0337F-AB35-4F15-AF6E-C5AAEF8B9D78}" dt="2022-04-08T02:08:13.263" v="1" actId="478"/>
          <ac:spMkLst>
            <pc:docMk/>
            <pc:sldMk cId="0" sldId="304"/>
            <ac:spMk id="5" creationId="{B248D03A-A081-44B6-88CE-ADA4D6284E52}"/>
          </ac:spMkLst>
        </pc:spChg>
        <pc:spChg chg="add del mod">
          <ac:chgData name="Mohamed Bingabr" userId="00864009-1172-4536-93d5-4dbe32f81f3e" providerId="ADAL" clId="{CEA0337F-AB35-4F15-AF6E-C5AAEF8B9D78}" dt="2022-04-08T02:08:20.753" v="3" actId="478"/>
          <ac:spMkLst>
            <pc:docMk/>
            <pc:sldMk cId="0" sldId="304"/>
            <ac:spMk id="7" creationId="{8917692C-DD65-4740-9611-7EA238187CFA}"/>
          </ac:spMkLst>
        </pc:spChg>
        <pc:spChg chg="add del mod">
          <ac:chgData name="Mohamed Bingabr" userId="00864009-1172-4536-93d5-4dbe32f81f3e" providerId="ADAL" clId="{CEA0337F-AB35-4F15-AF6E-C5AAEF8B9D78}" dt="2022-04-08T02:09:13.754" v="11" actId="478"/>
          <ac:spMkLst>
            <pc:docMk/>
            <pc:sldMk cId="0" sldId="304"/>
            <ac:spMk id="11" creationId="{1A1BB6DB-A16D-4AC8-B975-952E5B68F2EB}"/>
          </ac:spMkLst>
        </pc:spChg>
        <pc:graphicFrameChg chg="add del">
          <ac:chgData name="Mohamed Bingabr" userId="00864009-1172-4536-93d5-4dbe32f81f3e" providerId="ADAL" clId="{CEA0337F-AB35-4F15-AF6E-C5AAEF8B9D78}" dt="2022-04-08T02:08:17.214" v="2" actId="478"/>
          <ac:graphicFrameMkLst>
            <pc:docMk/>
            <pc:sldMk cId="0" sldId="304"/>
            <ac:graphicFrameMk id="183300" creationId="{00000000-0000-0000-0000-000000000000}"/>
          </ac:graphicFrameMkLst>
        </pc:graphicFrameChg>
        <pc:graphicFrameChg chg="add del">
          <ac:chgData name="Mohamed Bingabr" userId="00864009-1172-4536-93d5-4dbe32f81f3e" providerId="ADAL" clId="{CEA0337F-AB35-4F15-AF6E-C5AAEF8B9D78}" dt="2022-04-08T02:09:09.728" v="10" actId="478"/>
          <ac:graphicFrameMkLst>
            <pc:docMk/>
            <pc:sldMk cId="0" sldId="304"/>
            <ac:graphicFrameMk id="183321" creationId="{00000000-0000-0000-0000-000000000000}"/>
          </ac:graphicFrameMkLst>
        </pc:graphicFrameChg>
        <pc:picChg chg="add mod">
          <ac:chgData name="Mohamed Bingabr" userId="00864009-1172-4536-93d5-4dbe32f81f3e" providerId="ADAL" clId="{CEA0337F-AB35-4F15-AF6E-C5AAEF8B9D78}" dt="2022-04-08T02:09:02.826" v="9" actId="1038"/>
          <ac:picMkLst>
            <pc:docMk/>
            <pc:sldMk cId="0" sldId="304"/>
            <ac:picMk id="9" creationId="{B5B5BFB5-F0F0-4605-91BE-7603AA5F58A7}"/>
          </ac:picMkLst>
        </pc:picChg>
        <pc:picChg chg="add mod">
          <ac:chgData name="Mohamed Bingabr" userId="00864009-1172-4536-93d5-4dbe32f81f3e" providerId="ADAL" clId="{CEA0337F-AB35-4F15-AF6E-C5AAEF8B9D78}" dt="2022-04-08T02:09:59.296" v="20" actId="1038"/>
          <ac:picMkLst>
            <pc:docMk/>
            <pc:sldMk cId="0" sldId="304"/>
            <ac:picMk id="13" creationId="{1CCCA3AE-86FE-4EB1-AB40-F2A4ED13531B}"/>
          </ac:picMkLst>
        </pc:picChg>
      </pc:sldChg>
      <pc:sldChg chg="addSp delSp modSp mod">
        <pc:chgData name="Mohamed Bingabr" userId="00864009-1172-4536-93d5-4dbe32f81f3e" providerId="ADAL" clId="{CEA0337F-AB35-4F15-AF6E-C5AAEF8B9D78}" dt="2022-04-08T02:19:34.939" v="27" actId="1076"/>
        <pc:sldMkLst>
          <pc:docMk/>
          <pc:sldMk cId="0" sldId="314"/>
        </pc:sldMkLst>
        <pc:spChg chg="add del mod">
          <ac:chgData name="Mohamed Bingabr" userId="00864009-1172-4536-93d5-4dbe32f81f3e" providerId="ADAL" clId="{CEA0337F-AB35-4F15-AF6E-C5AAEF8B9D78}" dt="2022-04-08T02:18:33.355" v="22" actId="478"/>
          <ac:spMkLst>
            <pc:docMk/>
            <pc:sldMk cId="0" sldId="314"/>
            <ac:spMk id="3" creationId="{1648CDF5-5905-4A09-BF2F-44910F1DB4A7}"/>
          </ac:spMkLst>
        </pc:spChg>
        <pc:graphicFrameChg chg="del">
          <ac:chgData name="Mohamed Bingabr" userId="00864009-1172-4536-93d5-4dbe32f81f3e" providerId="ADAL" clId="{CEA0337F-AB35-4F15-AF6E-C5AAEF8B9D78}" dt="2022-04-08T02:18:28.229" v="21" actId="478"/>
          <ac:graphicFrameMkLst>
            <pc:docMk/>
            <pc:sldMk cId="0" sldId="314"/>
            <ac:graphicFrameMk id="20486" creationId="{00000000-0000-0000-0000-000000000000}"/>
          </ac:graphicFrameMkLst>
        </pc:graphicFrameChg>
        <pc:picChg chg="del">
          <ac:chgData name="Mohamed Bingabr" userId="00864009-1172-4536-93d5-4dbe32f81f3e" providerId="ADAL" clId="{CEA0337F-AB35-4F15-AF6E-C5AAEF8B9D78}" dt="2022-04-08T02:18:28.229" v="21" actId="478"/>
          <ac:picMkLst>
            <pc:docMk/>
            <pc:sldMk cId="0" sldId="314"/>
            <ac:picMk id="5" creationId="{C9DD93B5-CDDA-4D7D-B6CD-895BB97E0BD6}"/>
          </ac:picMkLst>
        </pc:picChg>
        <pc:picChg chg="add mod">
          <ac:chgData name="Mohamed Bingabr" userId="00864009-1172-4536-93d5-4dbe32f81f3e" providerId="ADAL" clId="{CEA0337F-AB35-4F15-AF6E-C5AAEF8B9D78}" dt="2022-04-08T02:19:34.939" v="27" actId="1076"/>
          <ac:picMkLst>
            <pc:docMk/>
            <pc:sldMk cId="0" sldId="314"/>
            <ac:picMk id="6" creationId="{69009A1A-3A11-4B00-88BF-1559E921C44A}"/>
          </ac:picMkLst>
        </pc:picChg>
        <pc:picChg chg="add mod">
          <ac:chgData name="Mohamed Bingabr" userId="00864009-1172-4536-93d5-4dbe32f81f3e" providerId="ADAL" clId="{CEA0337F-AB35-4F15-AF6E-C5AAEF8B9D78}" dt="2022-04-08T02:19:29.181" v="26" actId="1076"/>
          <ac:picMkLst>
            <pc:docMk/>
            <pc:sldMk cId="0" sldId="314"/>
            <ac:picMk id="8" creationId="{4C91BA57-9820-435B-AFE6-30DC7C9EF11A}"/>
          </ac:picMkLst>
        </pc:picChg>
      </pc:sldChg>
      <pc:sldChg chg="addSp delSp modSp mod">
        <pc:chgData name="Mohamed Bingabr" userId="00864009-1172-4536-93d5-4dbe32f81f3e" providerId="ADAL" clId="{CEA0337F-AB35-4F15-AF6E-C5AAEF8B9D78}" dt="2022-04-08T02:27:11.410" v="173" actId="20577"/>
        <pc:sldMkLst>
          <pc:docMk/>
          <pc:sldMk cId="0" sldId="316"/>
        </pc:sldMkLst>
        <pc:spChg chg="add mod">
          <ac:chgData name="Mohamed Bingabr" userId="00864009-1172-4536-93d5-4dbe32f81f3e" providerId="ADAL" clId="{CEA0337F-AB35-4F15-AF6E-C5AAEF8B9D78}" dt="2022-04-08T02:27:11.410" v="173" actId="20577"/>
          <ac:spMkLst>
            <pc:docMk/>
            <pc:sldMk cId="0" sldId="316"/>
            <ac:spMk id="69" creationId="{A6D68135-4215-40C2-BBD4-689DB9389877}"/>
          </ac:spMkLst>
        </pc:spChg>
        <pc:spChg chg="add mod">
          <ac:chgData name="Mohamed Bingabr" userId="00864009-1172-4536-93d5-4dbe32f81f3e" providerId="ADAL" clId="{CEA0337F-AB35-4F15-AF6E-C5AAEF8B9D78}" dt="2022-04-08T02:21:46.813" v="62" actId="114"/>
          <ac:spMkLst>
            <pc:docMk/>
            <pc:sldMk cId="0" sldId="316"/>
            <ac:spMk id="22531" creationId="{00000000-0000-0000-0000-000000000000}"/>
          </ac:spMkLst>
        </pc:spChg>
        <pc:spChg chg="add mod">
          <ac:chgData name="Mohamed Bingabr" userId="00864009-1172-4536-93d5-4dbe32f81f3e" providerId="ADAL" clId="{CEA0337F-AB35-4F15-AF6E-C5AAEF8B9D78}" dt="2022-04-08T02:21:38.254" v="60" actId="113"/>
          <ac:spMkLst>
            <pc:docMk/>
            <pc:sldMk cId="0" sldId="316"/>
            <ac:spMk id="22533" creationId="{00000000-0000-0000-0000-000000000000}"/>
          </ac:spMkLst>
        </pc:spChg>
        <pc:spChg chg="mod">
          <ac:chgData name="Mohamed Bingabr" userId="00864009-1172-4536-93d5-4dbe32f81f3e" providerId="ADAL" clId="{CEA0337F-AB35-4F15-AF6E-C5AAEF8B9D78}" dt="2022-04-08T02:24:12.472" v="78" actId="6549"/>
          <ac:spMkLst>
            <pc:docMk/>
            <pc:sldMk cId="0" sldId="316"/>
            <ac:spMk id="22534" creationId="{00000000-0000-0000-0000-000000000000}"/>
          </ac:spMkLst>
        </pc:spChg>
        <pc:spChg chg="mod">
          <ac:chgData name="Mohamed Bingabr" userId="00864009-1172-4536-93d5-4dbe32f81f3e" providerId="ADAL" clId="{CEA0337F-AB35-4F15-AF6E-C5AAEF8B9D78}" dt="2022-04-08T02:24:18.579" v="80" actId="6549"/>
          <ac:spMkLst>
            <pc:docMk/>
            <pc:sldMk cId="0" sldId="316"/>
            <ac:spMk id="22547" creationId="{00000000-0000-0000-0000-000000000000}"/>
          </ac:spMkLst>
        </pc:spChg>
        <pc:spChg chg="mod">
          <ac:chgData name="Mohamed Bingabr" userId="00864009-1172-4536-93d5-4dbe32f81f3e" providerId="ADAL" clId="{CEA0337F-AB35-4F15-AF6E-C5AAEF8B9D78}" dt="2022-04-08T02:24:47.414" v="107" actId="1038"/>
          <ac:spMkLst>
            <pc:docMk/>
            <pc:sldMk cId="0" sldId="316"/>
            <ac:spMk id="22548" creationId="{00000000-0000-0000-0000-000000000000}"/>
          </ac:spMkLst>
        </pc:spChg>
        <pc:spChg chg="mod">
          <ac:chgData name="Mohamed Bingabr" userId="00864009-1172-4536-93d5-4dbe32f81f3e" providerId="ADAL" clId="{CEA0337F-AB35-4F15-AF6E-C5AAEF8B9D78}" dt="2022-04-08T02:24:53.978" v="114" actId="1038"/>
          <ac:spMkLst>
            <pc:docMk/>
            <pc:sldMk cId="0" sldId="316"/>
            <ac:spMk id="22549" creationId="{00000000-0000-0000-0000-000000000000}"/>
          </ac:spMkLst>
        </pc:spChg>
        <pc:spChg chg="mod">
          <ac:chgData name="Mohamed Bingabr" userId="00864009-1172-4536-93d5-4dbe32f81f3e" providerId="ADAL" clId="{CEA0337F-AB35-4F15-AF6E-C5AAEF8B9D78}" dt="2022-04-08T02:24:29.145" v="83" actId="6549"/>
          <ac:spMkLst>
            <pc:docMk/>
            <pc:sldMk cId="0" sldId="316"/>
            <ac:spMk id="22553" creationId="{00000000-0000-0000-0000-000000000000}"/>
          </ac:spMkLst>
        </pc:spChg>
        <pc:spChg chg="mod">
          <ac:chgData name="Mohamed Bingabr" userId="00864009-1172-4536-93d5-4dbe32f81f3e" providerId="ADAL" clId="{CEA0337F-AB35-4F15-AF6E-C5AAEF8B9D78}" dt="2022-04-08T02:25:05.542" v="134" actId="1037"/>
          <ac:spMkLst>
            <pc:docMk/>
            <pc:sldMk cId="0" sldId="316"/>
            <ac:spMk id="22554" creationId="{00000000-0000-0000-0000-000000000000}"/>
          </ac:spMkLst>
        </pc:spChg>
        <pc:graphicFrameChg chg="del mod replId">
          <ac:chgData name="Mohamed Bingabr" userId="00864009-1172-4536-93d5-4dbe32f81f3e" providerId="ADAL" clId="{CEA0337F-AB35-4F15-AF6E-C5AAEF8B9D78}" dt="2022-04-08T02:20:20.137" v="30"/>
          <ac:graphicFrameMkLst>
            <pc:docMk/>
            <pc:sldMk cId="0" sldId="316"/>
            <ac:graphicFrameMk id="2" creationId="{00000000-0000-0000-0000-000000000000}"/>
          </ac:graphicFrameMkLst>
        </pc:graphicFrameChg>
        <pc:graphicFrameChg chg="del mod replId">
          <ac:chgData name="Mohamed Bingabr" userId="00864009-1172-4536-93d5-4dbe32f81f3e" providerId="ADAL" clId="{CEA0337F-AB35-4F15-AF6E-C5AAEF8B9D78}" dt="2022-04-08T02:21:10.128" v="49"/>
          <ac:graphicFrameMkLst>
            <pc:docMk/>
            <pc:sldMk cId="0" sldId="316"/>
            <ac:graphicFrameMk id="4" creationId="{00000000-0000-0000-0000-000000000000}"/>
          </ac:graphicFrameMkLst>
        </pc:graphicFrameChg>
      </pc:sldChg>
      <pc:sldChg chg="modSp mod">
        <pc:chgData name="Mohamed Bingabr" userId="00864009-1172-4536-93d5-4dbe32f81f3e" providerId="ADAL" clId="{CEA0337F-AB35-4F15-AF6E-C5AAEF8B9D78}" dt="2022-04-15T03:46:59.402" v="219" actId="947"/>
        <pc:sldMkLst>
          <pc:docMk/>
          <pc:sldMk cId="0" sldId="320"/>
        </pc:sldMkLst>
        <pc:spChg chg="mod">
          <ac:chgData name="Mohamed Bingabr" userId="00864009-1172-4536-93d5-4dbe32f81f3e" providerId="ADAL" clId="{CEA0337F-AB35-4F15-AF6E-C5AAEF8B9D78}" dt="2022-04-15T03:46:59.402" v="219" actId="947"/>
          <ac:spMkLst>
            <pc:docMk/>
            <pc:sldMk cId="0" sldId="320"/>
            <ac:spMk id="35843" creationId="{00000000-0000-0000-0000-000000000000}"/>
          </ac:spMkLst>
        </pc:spChg>
      </pc:sldChg>
      <pc:sldChg chg="addSp delSp modSp mod">
        <pc:chgData name="Mohamed Bingabr" userId="00864009-1172-4536-93d5-4dbe32f81f3e" providerId="ADAL" clId="{CEA0337F-AB35-4F15-AF6E-C5AAEF8B9D78}" dt="2022-04-15T04:03:23.108" v="370" actId="20577"/>
        <pc:sldMkLst>
          <pc:docMk/>
          <pc:sldMk cId="0" sldId="323"/>
        </pc:sldMkLst>
        <pc:spChg chg="add mod">
          <ac:chgData name="Mohamed Bingabr" userId="00864009-1172-4536-93d5-4dbe32f81f3e" providerId="ADAL" clId="{CEA0337F-AB35-4F15-AF6E-C5AAEF8B9D78}" dt="2022-04-15T04:03:23.108" v="370" actId="20577"/>
          <ac:spMkLst>
            <pc:docMk/>
            <pc:sldMk cId="0" sldId="323"/>
            <ac:spMk id="36866" creationId="{00000000-0000-0000-0000-000000000000}"/>
          </ac:spMkLst>
        </pc:spChg>
        <pc:spChg chg="mod">
          <ac:chgData name="Mohamed Bingabr" userId="00864009-1172-4536-93d5-4dbe32f81f3e" providerId="ADAL" clId="{CEA0337F-AB35-4F15-AF6E-C5AAEF8B9D78}" dt="2022-04-15T03:50:13.647" v="230" actId="1076"/>
          <ac:spMkLst>
            <pc:docMk/>
            <pc:sldMk cId="0" sldId="323"/>
            <ac:spMk id="36867" creationId="{00000000-0000-0000-0000-000000000000}"/>
          </ac:spMkLst>
        </pc:spChg>
        <pc:spChg chg="add mod">
          <ac:chgData name="Mohamed Bingabr" userId="00864009-1172-4536-93d5-4dbe32f81f3e" providerId="ADAL" clId="{CEA0337F-AB35-4F15-AF6E-C5AAEF8B9D78}" dt="2022-04-15T03:53:11.842" v="326" actId="1037"/>
          <ac:spMkLst>
            <pc:docMk/>
            <pc:sldMk cId="0" sldId="323"/>
            <ac:spMk id="36868" creationId="{00000000-0000-0000-0000-000000000000}"/>
          </ac:spMkLst>
        </pc:spChg>
        <pc:spChg chg="add mod">
          <ac:chgData name="Mohamed Bingabr" userId="00864009-1172-4536-93d5-4dbe32f81f3e" providerId="ADAL" clId="{CEA0337F-AB35-4F15-AF6E-C5AAEF8B9D78}" dt="2022-04-15T03:52:15.395" v="268" actId="14100"/>
          <ac:spMkLst>
            <pc:docMk/>
            <pc:sldMk cId="0" sldId="323"/>
            <ac:spMk id="36869" creationId="{00000000-0000-0000-0000-000000000000}"/>
          </ac:spMkLst>
        </pc:spChg>
        <pc:spChg chg="mod">
          <ac:chgData name="Mohamed Bingabr" userId="00864009-1172-4536-93d5-4dbe32f81f3e" providerId="ADAL" clId="{CEA0337F-AB35-4F15-AF6E-C5AAEF8B9D78}" dt="2022-04-15T03:52:24.545" v="293" actId="1038"/>
          <ac:spMkLst>
            <pc:docMk/>
            <pc:sldMk cId="0" sldId="323"/>
            <ac:spMk id="36870" creationId="{00000000-0000-0000-0000-000000000000}"/>
          </ac:spMkLst>
        </pc:spChg>
        <pc:graphicFrameChg chg="del mod replId">
          <ac:chgData name="Mohamed Bingabr" userId="00864009-1172-4536-93d5-4dbe32f81f3e" providerId="ADAL" clId="{CEA0337F-AB35-4F15-AF6E-C5AAEF8B9D78}" dt="2022-04-15T03:23:25.577" v="175"/>
          <ac:graphicFrameMkLst>
            <pc:docMk/>
            <pc:sldMk cId="0" sldId="323"/>
            <ac:graphicFrameMk id="2" creationId="{00000000-0000-0000-0000-000000000000}"/>
          </ac:graphicFrameMkLst>
        </pc:graphicFrameChg>
        <pc:graphicFrameChg chg="del mod replId">
          <ac:chgData name="Mohamed Bingabr" userId="00864009-1172-4536-93d5-4dbe32f81f3e" providerId="ADAL" clId="{CEA0337F-AB35-4F15-AF6E-C5AAEF8B9D78}" dt="2022-04-15T03:33:21.524" v="200"/>
          <ac:graphicFrameMkLst>
            <pc:docMk/>
            <pc:sldMk cId="0" sldId="323"/>
            <ac:graphicFrameMk id="4" creationId="{00000000-0000-0000-0000-000000000000}"/>
          </ac:graphicFrameMkLst>
        </pc:graphicFrameChg>
        <pc:graphicFrameChg chg="del mod replId">
          <ac:chgData name="Mohamed Bingabr" userId="00864009-1172-4536-93d5-4dbe32f81f3e" providerId="ADAL" clId="{CEA0337F-AB35-4F15-AF6E-C5AAEF8B9D78}" dt="2022-04-15T03:49:55.598" v="225"/>
          <ac:graphicFrameMkLst>
            <pc:docMk/>
            <pc:sldMk cId="0" sldId="323"/>
            <ac:graphicFrameMk id="6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49562"/>
          </a:xfrm>
          <a:prstGeom prst="rect">
            <a:avLst/>
          </a:prstGeom>
        </p:spPr>
        <p:txBody>
          <a:bodyPr vert="horz" lIns="87316" tIns="43658" rIns="87316" bIns="43658" rtlCol="0"/>
          <a:lstStyle>
            <a:lvl1pPr algn="l" eaLnBrk="1" hangingPunct="1">
              <a:defRPr sz="11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49562"/>
          </a:xfrm>
          <a:prstGeom prst="rect">
            <a:avLst/>
          </a:prstGeom>
        </p:spPr>
        <p:txBody>
          <a:bodyPr vert="horz" lIns="87316" tIns="43658" rIns="87316" bIns="43658" rtlCol="0"/>
          <a:lstStyle>
            <a:lvl1pPr algn="r" eaLnBrk="1" hangingPunct="1">
              <a:defRPr sz="11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A561A25-A2B3-41F3-8521-73A40BC15F84}" type="datetimeFigureOut">
              <a:rPr lang="en-US"/>
              <a:pPr>
                <a:defRPr/>
              </a:pPr>
              <a:t>4/14/2022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9641"/>
            <a:ext cx="4029282" cy="349562"/>
          </a:xfrm>
          <a:prstGeom prst="rect">
            <a:avLst/>
          </a:prstGeom>
        </p:spPr>
        <p:txBody>
          <a:bodyPr vert="horz" lIns="87316" tIns="43658" rIns="87316" bIns="43658" rtlCol="0" anchor="b"/>
          <a:lstStyle>
            <a:lvl1pPr algn="l" eaLnBrk="1" hangingPunct="1">
              <a:defRPr sz="11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9641"/>
            <a:ext cx="4029282" cy="349562"/>
          </a:xfrm>
          <a:prstGeom prst="rect">
            <a:avLst/>
          </a:prstGeom>
        </p:spPr>
        <p:txBody>
          <a:bodyPr vert="horz" wrap="square" lIns="87316" tIns="43658" rIns="87316" bIns="4365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pPr>
              <a:defRPr/>
            </a:pPr>
            <a:fld id="{AB89FCE9-1029-48E0-B7E9-172A77AD55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8906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2A1F0-44FB-4109-8B8C-F4258A412980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1813" y="876300"/>
            <a:ext cx="3152775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482" y="3373516"/>
            <a:ext cx="7435436" cy="2760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9CF1F-6712-4C77-B59E-1A06BA8AD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86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82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55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18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75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94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55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06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93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51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21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52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45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872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23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19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06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869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80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45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4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8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563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88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157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86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26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600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680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846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244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027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153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483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94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CF1F-6712-4C77-B59E-1A06BA8AD2C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95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027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412" name="Rectangle 1028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Comic Sans MS" pitchFamily="66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C72CE-4776-4442-AAC0-E888914BFD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15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F68954-4BA3-436C-8C29-91312F82D8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951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A22E60-9DCC-4F2C-B1A1-54A1D6D851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0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09A00E-CE17-49E4-8B32-3712F55529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860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1F214-0251-423C-800A-B584E09A62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518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BDED17-026B-479F-97EC-ECE80FD1E1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68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294C1-0C22-46BA-AA3B-F11B696F4F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06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349F9-6494-4B1D-A6B9-BB408CB837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148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3A6B9-AB2F-4ADF-AB10-64D55D86BB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7279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629A1A-476F-4D95-9FE7-72751F3753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17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0"/>
            <a:ext cx="20764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0769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1D60DD-B31A-41A2-BF36-DC085D1DC2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322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800" y="0"/>
            <a:ext cx="7391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838200"/>
            <a:ext cx="40767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AE35F-6D39-485D-8FBB-D0FD51524B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5300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800" y="0"/>
            <a:ext cx="7391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838200"/>
            <a:ext cx="40767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838200"/>
            <a:ext cx="40767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3543300"/>
            <a:ext cx="40767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34B6D8-AFD5-4D70-909C-3470AB2C1D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108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800" y="0"/>
            <a:ext cx="7391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838200"/>
            <a:ext cx="40767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3543300"/>
            <a:ext cx="4076700" cy="2552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013B9-32A4-4637-9D36-00FE3BA0F4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45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39800" y="0"/>
            <a:ext cx="7391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Comic Sans MS" pitchFamily="66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855596DF-9A2E-470F-A253-DB3C46A8F6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  <p:sldLayoutId id="2147483995" r:id="rId12"/>
    <p:sldLayoutId id="2147483996" r:id="rId13"/>
    <p:sldLayoutId id="2147483997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C03D7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C03D7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C03D7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C03D7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C03D7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1C03D7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1C03D7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1C03D7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1C03D7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fol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2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folHlink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9.wmf"/><Relationship Id="rId4" Type="http://schemas.openxmlformats.org/officeDocument/2006/relationships/image" Target="../media/image18.png"/><Relationship Id="rId9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0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jpeg"/><Relationship Id="rId4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emf"/><Relationship Id="rId5" Type="http://schemas.openxmlformats.org/officeDocument/2006/relationships/image" Target="../media/image25.jpeg"/><Relationship Id="rId4" Type="http://schemas.openxmlformats.org/officeDocument/2006/relationships/image" Target="../media/image2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0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image" Target="../media/image350.png"/><Relationship Id="rId7" Type="http://schemas.openxmlformats.org/officeDocument/2006/relationships/image" Target="../media/image38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0.png"/><Relationship Id="rId11" Type="http://schemas.openxmlformats.org/officeDocument/2006/relationships/image" Target="../media/image43.png"/><Relationship Id="rId5" Type="http://schemas.openxmlformats.org/officeDocument/2006/relationships/image" Target="../media/image370.png"/><Relationship Id="rId10" Type="http://schemas.openxmlformats.org/officeDocument/2006/relationships/image" Target="../media/image39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png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8.png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52.wmf"/><Relationship Id="rId4" Type="http://schemas.openxmlformats.org/officeDocument/2006/relationships/image" Target="../media/image49.png"/><Relationship Id="rId9" Type="http://schemas.openxmlformats.org/officeDocument/2006/relationships/oleObject" Target="../embeddings/oleObject2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5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33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wmf"/><Relationship Id="rId11" Type="http://schemas.openxmlformats.org/officeDocument/2006/relationships/image" Target="../media/image65.wmf"/><Relationship Id="rId5" Type="http://schemas.openxmlformats.org/officeDocument/2006/relationships/oleObject" Target="../embeddings/oleObject35.bin"/><Relationship Id="rId10" Type="http://schemas.openxmlformats.org/officeDocument/2006/relationships/oleObject" Target="../embeddings/oleObject38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37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58900" y="4279900"/>
            <a:ext cx="6032500" cy="16383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b="0" dirty="0">
                <a:solidFill>
                  <a:schemeClr val="accent2"/>
                </a:solidFill>
              </a:rPr>
              <a:t>Engineering and Physics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0" dirty="0">
                <a:solidFill>
                  <a:schemeClr val="accent2"/>
                </a:solidFill>
              </a:rPr>
              <a:t>University of Central Oklahoma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0" dirty="0">
                <a:solidFill>
                  <a:schemeClr val="tx1"/>
                </a:solidFill>
                <a:latin typeface="+mj-lt"/>
                <a:cs typeface="+mj-cs"/>
              </a:rPr>
              <a:t>Dr. Mohamed Bingabr</a:t>
            </a:r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1447800" y="2540000"/>
            <a:ext cx="69469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1C03D7"/>
                </a:solidFill>
              </a:rPr>
              <a:t>Ch6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1C03D7"/>
                </a:solidFill>
              </a:rPr>
              <a:t>Continuous-Time Signal Analysis</a:t>
            </a:r>
          </a:p>
        </p:txBody>
      </p:sp>
      <p:sp>
        <p:nvSpPr>
          <p:cNvPr id="4100" name="Text Box 8"/>
          <p:cNvSpPr txBox="1">
            <a:spLocks noChangeArrowheads="1"/>
          </p:cNvSpPr>
          <p:nvPr/>
        </p:nvSpPr>
        <p:spPr bwMode="auto">
          <a:xfrm>
            <a:off x="682625" y="1695450"/>
            <a:ext cx="83105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4000" b="0">
                <a:solidFill>
                  <a:srgbClr val="1C03D7"/>
                </a:solidFill>
              </a:rPr>
              <a:t>ENGR 3323: Signals and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39800" y="114300"/>
            <a:ext cx="7391400" cy="676275"/>
          </a:xfrm>
        </p:spPr>
        <p:txBody>
          <a:bodyPr/>
          <a:lstStyle/>
          <a:p>
            <a:pPr eaLnBrk="1" hangingPunct="1"/>
            <a:r>
              <a:rPr lang="en-US" altLang="en-US" sz="3600"/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0551" y="1130300"/>
            <a:ext cx="8660921" cy="5257800"/>
          </a:xfrm>
        </p:spPr>
        <p:txBody>
          <a:bodyPr/>
          <a:lstStyle/>
          <a:p>
            <a:pPr eaLnBrk="1" hangingPunct="1"/>
            <a:r>
              <a:rPr lang="en-US" altLang="en-US" b="0" dirty="0">
                <a:solidFill>
                  <a:schemeClr val="tx1"/>
                </a:solidFill>
              </a:rPr>
              <a:t>Introduction</a:t>
            </a:r>
          </a:p>
          <a:p>
            <a:pPr eaLnBrk="1" hangingPunct="1"/>
            <a:r>
              <a:rPr lang="en-US" altLang="en-US" b="0" dirty="0">
                <a:solidFill>
                  <a:schemeClr val="tx1"/>
                </a:solidFill>
              </a:rPr>
              <a:t>Fourier Series (FS) Representation of Periodic Signals.</a:t>
            </a:r>
          </a:p>
          <a:p>
            <a:pPr eaLnBrk="1" hangingPunct="1"/>
            <a:r>
              <a:rPr lang="en-US" altLang="en-US" b="0" dirty="0">
                <a:solidFill>
                  <a:schemeClr val="tx1"/>
                </a:solidFill>
              </a:rPr>
              <a:t>Trigonometric and Exponential Form of FS.</a:t>
            </a:r>
          </a:p>
          <a:p>
            <a:pPr eaLnBrk="1" hangingPunct="1"/>
            <a:r>
              <a:rPr lang="en-US" altLang="en-US" b="0" dirty="0">
                <a:solidFill>
                  <a:schemeClr val="tx1"/>
                </a:solidFill>
              </a:rPr>
              <a:t>Gibbs Phenomenon.</a:t>
            </a:r>
          </a:p>
          <a:p>
            <a:pPr eaLnBrk="1" hangingPunct="1"/>
            <a:r>
              <a:rPr lang="en-US" altLang="en-US" b="0" dirty="0" err="1">
                <a:solidFill>
                  <a:schemeClr val="tx1"/>
                </a:solidFill>
              </a:rPr>
              <a:t>Parseval’s</a:t>
            </a:r>
            <a:r>
              <a:rPr lang="en-US" altLang="en-US" b="0" dirty="0">
                <a:solidFill>
                  <a:schemeClr val="tx1"/>
                </a:solidFill>
              </a:rPr>
              <a:t> Theorem.</a:t>
            </a:r>
          </a:p>
          <a:p>
            <a:pPr eaLnBrk="1" hangingPunct="1"/>
            <a:r>
              <a:rPr lang="en-US" altLang="en-US" b="0" dirty="0">
                <a:solidFill>
                  <a:schemeClr val="tx1"/>
                </a:solidFill>
              </a:rPr>
              <a:t>Simplifications Through Signal Symmetry.</a:t>
            </a:r>
          </a:p>
          <a:p>
            <a:pPr eaLnBrk="1" hangingPunct="1"/>
            <a:r>
              <a:rPr lang="en-US" altLang="en-US" b="0" dirty="0">
                <a:solidFill>
                  <a:schemeClr val="tx1"/>
                </a:solidFill>
              </a:rPr>
              <a:t>LTIC System Response to Periodic Inputs.</a:t>
            </a:r>
          </a:p>
        </p:txBody>
      </p:sp>
      <p:sp>
        <p:nvSpPr>
          <p:cNvPr id="5124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39800" y="0"/>
            <a:ext cx="7391400" cy="676275"/>
          </a:xfrm>
        </p:spPr>
        <p:txBody>
          <a:bodyPr/>
          <a:lstStyle/>
          <a:p>
            <a:pPr eaLnBrk="1" hangingPunct="1"/>
            <a:r>
              <a:rPr lang="en-US" altLang="en-US" sz="3600"/>
              <a:t>Sinusoidal Wave and phase</a:t>
            </a:r>
          </a:p>
        </p:txBody>
      </p:sp>
      <p:sp>
        <p:nvSpPr>
          <p:cNvPr id="6147" name="Line 5"/>
          <p:cNvSpPr>
            <a:spLocks noChangeShapeType="1"/>
          </p:cNvSpPr>
          <p:nvPr/>
        </p:nvSpPr>
        <p:spPr bwMode="auto">
          <a:xfrm flipH="1">
            <a:off x="4394200" y="1676400"/>
            <a:ext cx="0" cy="170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" name="Line 6"/>
          <p:cNvSpPr>
            <a:spLocks noChangeShapeType="1"/>
          </p:cNvSpPr>
          <p:nvPr/>
        </p:nvSpPr>
        <p:spPr bwMode="auto">
          <a:xfrm>
            <a:off x="622300" y="2628900"/>
            <a:ext cx="753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Freeform 11"/>
          <p:cNvSpPr>
            <a:spLocks/>
          </p:cNvSpPr>
          <p:nvPr/>
        </p:nvSpPr>
        <p:spPr bwMode="auto">
          <a:xfrm>
            <a:off x="2654300" y="2144713"/>
            <a:ext cx="1739900" cy="981075"/>
          </a:xfrm>
          <a:custGeom>
            <a:avLst/>
            <a:gdLst>
              <a:gd name="T0" fmla="*/ 0 w 1096"/>
              <a:gd name="T1" fmla="*/ 2147483646 h 618"/>
              <a:gd name="T2" fmla="*/ 2147483646 w 1096"/>
              <a:gd name="T3" fmla="*/ 2147483646 h 618"/>
              <a:gd name="T4" fmla="*/ 2147483646 w 1096"/>
              <a:gd name="T5" fmla="*/ 2147483646 h 618"/>
              <a:gd name="T6" fmla="*/ 2147483646 w 1096"/>
              <a:gd name="T7" fmla="*/ 2147483646 h 618"/>
              <a:gd name="T8" fmla="*/ 2147483646 w 1096"/>
              <a:gd name="T9" fmla="*/ 2147483646 h 6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96"/>
              <a:gd name="T16" fmla="*/ 0 h 618"/>
              <a:gd name="T17" fmla="*/ 1096 w 1096"/>
              <a:gd name="T18" fmla="*/ 618 h 6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96" h="618">
                <a:moveTo>
                  <a:pt x="0" y="313"/>
                </a:moveTo>
                <a:cubicBezTo>
                  <a:pt x="93" y="157"/>
                  <a:pt x="187" y="2"/>
                  <a:pt x="280" y="1"/>
                </a:cubicBezTo>
                <a:cubicBezTo>
                  <a:pt x="373" y="0"/>
                  <a:pt x="469" y="202"/>
                  <a:pt x="560" y="305"/>
                </a:cubicBezTo>
                <a:cubicBezTo>
                  <a:pt x="651" y="408"/>
                  <a:pt x="735" y="616"/>
                  <a:pt x="824" y="617"/>
                </a:cubicBezTo>
                <a:cubicBezTo>
                  <a:pt x="913" y="618"/>
                  <a:pt x="1004" y="465"/>
                  <a:pt x="1096" y="31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0" name="Freeform 12"/>
          <p:cNvSpPr>
            <a:spLocks/>
          </p:cNvSpPr>
          <p:nvPr/>
        </p:nvSpPr>
        <p:spPr bwMode="auto">
          <a:xfrm>
            <a:off x="4381500" y="2144713"/>
            <a:ext cx="1739900" cy="981075"/>
          </a:xfrm>
          <a:custGeom>
            <a:avLst/>
            <a:gdLst>
              <a:gd name="T0" fmla="*/ 0 w 1096"/>
              <a:gd name="T1" fmla="*/ 2147483646 h 618"/>
              <a:gd name="T2" fmla="*/ 2147483646 w 1096"/>
              <a:gd name="T3" fmla="*/ 2147483646 h 618"/>
              <a:gd name="T4" fmla="*/ 2147483646 w 1096"/>
              <a:gd name="T5" fmla="*/ 2147483646 h 618"/>
              <a:gd name="T6" fmla="*/ 2147483646 w 1096"/>
              <a:gd name="T7" fmla="*/ 2147483646 h 618"/>
              <a:gd name="T8" fmla="*/ 2147483646 w 1096"/>
              <a:gd name="T9" fmla="*/ 2147483646 h 6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96"/>
              <a:gd name="T16" fmla="*/ 0 h 618"/>
              <a:gd name="T17" fmla="*/ 1096 w 1096"/>
              <a:gd name="T18" fmla="*/ 618 h 6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96" h="618">
                <a:moveTo>
                  <a:pt x="0" y="313"/>
                </a:moveTo>
                <a:cubicBezTo>
                  <a:pt x="93" y="157"/>
                  <a:pt x="187" y="2"/>
                  <a:pt x="280" y="1"/>
                </a:cubicBezTo>
                <a:cubicBezTo>
                  <a:pt x="373" y="0"/>
                  <a:pt x="469" y="202"/>
                  <a:pt x="560" y="305"/>
                </a:cubicBezTo>
                <a:cubicBezTo>
                  <a:pt x="651" y="408"/>
                  <a:pt x="735" y="616"/>
                  <a:pt x="824" y="617"/>
                </a:cubicBezTo>
                <a:cubicBezTo>
                  <a:pt x="913" y="618"/>
                  <a:pt x="1004" y="465"/>
                  <a:pt x="1096" y="31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Freeform 13"/>
          <p:cNvSpPr>
            <a:spLocks/>
          </p:cNvSpPr>
          <p:nvPr/>
        </p:nvSpPr>
        <p:spPr bwMode="auto">
          <a:xfrm>
            <a:off x="6121400" y="2132013"/>
            <a:ext cx="1739900" cy="981075"/>
          </a:xfrm>
          <a:custGeom>
            <a:avLst/>
            <a:gdLst>
              <a:gd name="T0" fmla="*/ 0 w 1096"/>
              <a:gd name="T1" fmla="*/ 2147483646 h 618"/>
              <a:gd name="T2" fmla="*/ 2147483646 w 1096"/>
              <a:gd name="T3" fmla="*/ 2147483646 h 618"/>
              <a:gd name="T4" fmla="*/ 2147483646 w 1096"/>
              <a:gd name="T5" fmla="*/ 2147483646 h 618"/>
              <a:gd name="T6" fmla="*/ 2147483646 w 1096"/>
              <a:gd name="T7" fmla="*/ 2147483646 h 618"/>
              <a:gd name="T8" fmla="*/ 2147483646 w 1096"/>
              <a:gd name="T9" fmla="*/ 2147483646 h 6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96"/>
              <a:gd name="T16" fmla="*/ 0 h 618"/>
              <a:gd name="T17" fmla="*/ 1096 w 1096"/>
              <a:gd name="T18" fmla="*/ 618 h 6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96" h="618">
                <a:moveTo>
                  <a:pt x="0" y="313"/>
                </a:moveTo>
                <a:cubicBezTo>
                  <a:pt x="93" y="157"/>
                  <a:pt x="187" y="2"/>
                  <a:pt x="280" y="1"/>
                </a:cubicBezTo>
                <a:cubicBezTo>
                  <a:pt x="373" y="0"/>
                  <a:pt x="469" y="202"/>
                  <a:pt x="560" y="305"/>
                </a:cubicBezTo>
                <a:cubicBezTo>
                  <a:pt x="651" y="408"/>
                  <a:pt x="735" y="616"/>
                  <a:pt x="824" y="617"/>
                </a:cubicBezTo>
                <a:cubicBezTo>
                  <a:pt x="913" y="618"/>
                  <a:pt x="1004" y="465"/>
                  <a:pt x="1096" y="31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Freeform 14"/>
          <p:cNvSpPr>
            <a:spLocks/>
          </p:cNvSpPr>
          <p:nvPr/>
        </p:nvSpPr>
        <p:spPr bwMode="auto">
          <a:xfrm>
            <a:off x="927100" y="2132013"/>
            <a:ext cx="1739900" cy="981075"/>
          </a:xfrm>
          <a:custGeom>
            <a:avLst/>
            <a:gdLst>
              <a:gd name="T0" fmla="*/ 0 w 1096"/>
              <a:gd name="T1" fmla="*/ 2147483646 h 618"/>
              <a:gd name="T2" fmla="*/ 2147483646 w 1096"/>
              <a:gd name="T3" fmla="*/ 2147483646 h 618"/>
              <a:gd name="T4" fmla="*/ 2147483646 w 1096"/>
              <a:gd name="T5" fmla="*/ 2147483646 h 618"/>
              <a:gd name="T6" fmla="*/ 2147483646 w 1096"/>
              <a:gd name="T7" fmla="*/ 2147483646 h 618"/>
              <a:gd name="T8" fmla="*/ 2147483646 w 1096"/>
              <a:gd name="T9" fmla="*/ 2147483646 h 6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96"/>
              <a:gd name="T16" fmla="*/ 0 h 618"/>
              <a:gd name="T17" fmla="*/ 1096 w 1096"/>
              <a:gd name="T18" fmla="*/ 618 h 6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96" h="618">
                <a:moveTo>
                  <a:pt x="0" y="313"/>
                </a:moveTo>
                <a:cubicBezTo>
                  <a:pt x="93" y="157"/>
                  <a:pt x="187" y="2"/>
                  <a:pt x="280" y="1"/>
                </a:cubicBezTo>
                <a:cubicBezTo>
                  <a:pt x="373" y="0"/>
                  <a:pt x="469" y="202"/>
                  <a:pt x="560" y="305"/>
                </a:cubicBezTo>
                <a:cubicBezTo>
                  <a:pt x="651" y="408"/>
                  <a:pt x="735" y="616"/>
                  <a:pt x="824" y="617"/>
                </a:cubicBezTo>
                <a:cubicBezTo>
                  <a:pt x="913" y="618"/>
                  <a:pt x="1004" y="465"/>
                  <a:pt x="1096" y="313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Text Box 15"/>
          <p:cNvSpPr txBox="1">
            <a:spLocks noChangeArrowheads="1"/>
          </p:cNvSpPr>
          <p:nvPr/>
        </p:nvSpPr>
        <p:spPr bwMode="auto">
          <a:xfrm>
            <a:off x="454025" y="835025"/>
            <a:ext cx="44047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sz="28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50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6154" name="Line 16"/>
          <p:cNvSpPr>
            <a:spLocks noChangeShapeType="1"/>
          </p:cNvSpPr>
          <p:nvPr/>
        </p:nvSpPr>
        <p:spPr bwMode="auto">
          <a:xfrm flipH="1">
            <a:off x="4292600" y="2146300"/>
            <a:ext cx="20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Text Box 17"/>
          <p:cNvSpPr txBox="1">
            <a:spLocks noChangeArrowheads="1"/>
          </p:cNvSpPr>
          <p:nvPr/>
        </p:nvSpPr>
        <p:spPr bwMode="auto">
          <a:xfrm>
            <a:off x="4010025" y="1941513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156" name="Line 18"/>
          <p:cNvSpPr>
            <a:spLocks noChangeShapeType="1"/>
          </p:cNvSpPr>
          <p:nvPr/>
        </p:nvSpPr>
        <p:spPr bwMode="auto">
          <a:xfrm>
            <a:off x="7962900" y="2628900"/>
            <a:ext cx="368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7" name="Text Box 19"/>
          <p:cNvSpPr txBox="1">
            <a:spLocks noChangeArrowheads="1"/>
          </p:cNvSpPr>
          <p:nvPr/>
        </p:nvSpPr>
        <p:spPr bwMode="auto">
          <a:xfrm>
            <a:off x="8340725" y="2462213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6158" name="Line 20"/>
          <p:cNvSpPr>
            <a:spLocks noChangeShapeType="1"/>
          </p:cNvSpPr>
          <p:nvPr/>
        </p:nvSpPr>
        <p:spPr bwMode="auto">
          <a:xfrm flipH="1" flipV="1">
            <a:off x="4368800" y="3187700"/>
            <a:ext cx="1752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" name="Text Box 21"/>
          <p:cNvSpPr txBox="1">
            <a:spLocks noChangeArrowheads="1"/>
          </p:cNvSpPr>
          <p:nvPr/>
        </p:nvSpPr>
        <p:spPr bwMode="auto">
          <a:xfrm>
            <a:off x="4632325" y="3275013"/>
            <a:ext cx="1511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 b="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1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0" dirty="0">
                <a:solidFill>
                  <a:schemeClr val="tx1"/>
                </a:solidFill>
              </a:rPr>
              <a:t>= 20 </a:t>
            </a:r>
            <a:r>
              <a:rPr lang="en-US" altLang="en-US" sz="1800" b="0" dirty="0" err="1">
                <a:solidFill>
                  <a:schemeClr val="tx1"/>
                </a:solidFill>
              </a:rPr>
              <a:t>msec</a:t>
            </a:r>
            <a:endParaRPr lang="en-US" altLang="en-US" sz="1800" b="0" baseline="-25000" dirty="0">
              <a:solidFill>
                <a:schemeClr val="tx1"/>
              </a:solidFill>
            </a:endParaRPr>
          </a:p>
        </p:txBody>
      </p:sp>
      <p:sp>
        <p:nvSpPr>
          <p:cNvPr id="6160" name="Text Box 22"/>
          <p:cNvSpPr txBox="1">
            <a:spLocks noChangeArrowheads="1"/>
          </p:cNvSpPr>
          <p:nvPr/>
        </p:nvSpPr>
        <p:spPr bwMode="auto">
          <a:xfrm>
            <a:off x="3273425" y="1449388"/>
            <a:ext cx="698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69771" y="3743325"/>
            <a:ext cx="8832851" cy="2968625"/>
            <a:chOff x="20" y="2358"/>
            <a:chExt cx="5564" cy="1870"/>
          </a:xfrm>
        </p:grpSpPr>
        <p:sp>
          <p:nvSpPr>
            <p:cNvPr id="6163" name="Line 23"/>
            <p:cNvSpPr>
              <a:spLocks noChangeShapeType="1"/>
            </p:cNvSpPr>
            <p:nvPr/>
          </p:nvSpPr>
          <p:spPr bwMode="auto">
            <a:xfrm flipH="1">
              <a:off x="2760" y="2960"/>
              <a:ext cx="8" cy="9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Line 24"/>
            <p:cNvSpPr>
              <a:spLocks noChangeShapeType="1"/>
            </p:cNvSpPr>
            <p:nvPr/>
          </p:nvSpPr>
          <p:spPr bwMode="auto">
            <a:xfrm>
              <a:off x="392" y="3488"/>
              <a:ext cx="47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165" name="Group 36"/>
            <p:cNvGrpSpPr>
              <a:grpSpLocks/>
            </p:cNvGrpSpPr>
            <p:nvPr/>
          </p:nvGrpSpPr>
          <p:grpSpPr bwMode="auto">
            <a:xfrm>
              <a:off x="728" y="3175"/>
              <a:ext cx="4368" cy="626"/>
              <a:chOff x="584" y="3175"/>
              <a:chExt cx="4368" cy="626"/>
            </a:xfrm>
          </p:grpSpPr>
          <p:sp>
            <p:nvSpPr>
              <p:cNvPr id="6174" name="Freeform 25"/>
              <p:cNvSpPr>
                <a:spLocks/>
              </p:cNvSpPr>
              <p:nvPr/>
            </p:nvSpPr>
            <p:spPr bwMode="auto">
              <a:xfrm>
                <a:off x="1672" y="3183"/>
                <a:ext cx="1096" cy="618"/>
              </a:xfrm>
              <a:custGeom>
                <a:avLst/>
                <a:gdLst>
                  <a:gd name="T0" fmla="*/ 0 w 1096"/>
                  <a:gd name="T1" fmla="*/ 313 h 618"/>
                  <a:gd name="T2" fmla="*/ 280 w 1096"/>
                  <a:gd name="T3" fmla="*/ 1 h 618"/>
                  <a:gd name="T4" fmla="*/ 560 w 1096"/>
                  <a:gd name="T5" fmla="*/ 305 h 618"/>
                  <a:gd name="T6" fmla="*/ 824 w 1096"/>
                  <a:gd name="T7" fmla="*/ 617 h 618"/>
                  <a:gd name="T8" fmla="*/ 1096 w 1096"/>
                  <a:gd name="T9" fmla="*/ 313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96"/>
                  <a:gd name="T16" fmla="*/ 0 h 618"/>
                  <a:gd name="T17" fmla="*/ 1096 w 1096"/>
                  <a:gd name="T18" fmla="*/ 618 h 6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96" h="618">
                    <a:moveTo>
                      <a:pt x="0" y="313"/>
                    </a:moveTo>
                    <a:cubicBezTo>
                      <a:pt x="93" y="157"/>
                      <a:pt x="187" y="2"/>
                      <a:pt x="280" y="1"/>
                    </a:cubicBezTo>
                    <a:cubicBezTo>
                      <a:pt x="373" y="0"/>
                      <a:pt x="469" y="202"/>
                      <a:pt x="560" y="305"/>
                    </a:cubicBezTo>
                    <a:cubicBezTo>
                      <a:pt x="651" y="408"/>
                      <a:pt x="735" y="616"/>
                      <a:pt x="824" y="617"/>
                    </a:cubicBezTo>
                    <a:cubicBezTo>
                      <a:pt x="913" y="618"/>
                      <a:pt x="1004" y="465"/>
                      <a:pt x="1096" y="31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5" name="Freeform 26"/>
              <p:cNvSpPr>
                <a:spLocks/>
              </p:cNvSpPr>
              <p:nvPr/>
            </p:nvSpPr>
            <p:spPr bwMode="auto">
              <a:xfrm>
                <a:off x="2760" y="3183"/>
                <a:ext cx="1096" cy="618"/>
              </a:xfrm>
              <a:custGeom>
                <a:avLst/>
                <a:gdLst>
                  <a:gd name="T0" fmla="*/ 0 w 1096"/>
                  <a:gd name="T1" fmla="*/ 313 h 618"/>
                  <a:gd name="T2" fmla="*/ 280 w 1096"/>
                  <a:gd name="T3" fmla="*/ 1 h 618"/>
                  <a:gd name="T4" fmla="*/ 560 w 1096"/>
                  <a:gd name="T5" fmla="*/ 305 h 618"/>
                  <a:gd name="T6" fmla="*/ 824 w 1096"/>
                  <a:gd name="T7" fmla="*/ 617 h 618"/>
                  <a:gd name="T8" fmla="*/ 1096 w 1096"/>
                  <a:gd name="T9" fmla="*/ 313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96"/>
                  <a:gd name="T16" fmla="*/ 0 h 618"/>
                  <a:gd name="T17" fmla="*/ 1096 w 1096"/>
                  <a:gd name="T18" fmla="*/ 618 h 6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96" h="618">
                    <a:moveTo>
                      <a:pt x="0" y="313"/>
                    </a:moveTo>
                    <a:cubicBezTo>
                      <a:pt x="93" y="157"/>
                      <a:pt x="187" y="2"/>
                      <a:pt x="280" y="1"/>
                    </a:cubicBezTo>
                    <a:cubicBezTo>
                      <a:pt x="373" y="0"/>
                      <a:pt x="469" y="202"/>
                      <a:pt x="560" y="305"/>
                    </a:cubicBezTo>
                    <a:cubicBezTo>
                      <a:pt x="651" y="408"/>
                      <a:pt x="735" y="616"/>
                      <a:pt x="824" y="617"/>
                    </a:cubicBezTo>
                    <a:cubicBezTo>
                      <a:pt x="913" y="618"/>
                      <a:pt x="1004" y="465"/>
                      <a:pt x="1096" y="31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6" name="Freeform 27"/>
              <p:cNvSpPr>
                <a:spLocks/>
              </p:cNvSpPr>
              <p:nvPr/>
            </p:nvSpPr>
            <p:spPr bwMode="auto">
              <a:xfrm>
                <a:off x="3856" y="3175"/>
                <a:ext cx="1096" cy="618"/>
              </a:xfrm>
              <a:custGeom>
                <a:avLst/>
                <a:gdLst>
                  <a:gd name="T0" fmla="*/ 0 w 1096"/>
                  <a:gd name="T1" fmla="*/ 313 h 618"/>
                  <a:gd name="T2" fmla="*/ 280 w 1096"/>
                  <a:gd name="T3" fmla="*/ 1 h 618"/>
                  <a:gd name="T4" fmla="*/ 560 w 1096"/>
                  <a:gd name="T5" fmla="*/ 305 h 618"/>
                  <a:gd name="T6" fmla="*/ 824 w 1096"/>
                  <a:gd name="T7" fmla="*/ 617 h 618"/>
                  <a:gd name="T8" fmla="*/ 1096 w 1096"/>
                  <a:gd name="T9" fmla="*/ 313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96"/>
                  <a:gd name="T16" fmla="*/ 0 h 618"/>
                  <a:gd name="T17" fmla="*/ 1096 w 1096"/>
                  <a:gd name="T18" fmla="*/ 618 h 6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96" h="618">
                    <a:moveTo>
                      <a:pt x="0" y="313"/>
                    </a:moveTo>
                    <a:cubicBezTo>
                      <a:pt x="93" y="157"/>
                      <a:pt x="187" y="2"/>
                      <a:pt x="280" y="1"/>
                    </a:cubicBezTo>
                    <a:cubicBezTo>
                      <a:pt x="373" y="0"/>
                      <a:pt x="469" y="202"/>
                      <a:pt x="560" y="305"/>
                    </a:cubicBezTo>
                    <a:cubicBezTo>
                      <a:pt x="651" y="408"/>
                      <a:pt x="735" y="616"/>
                      <a:pt x="824" y="617"/>
                    </a:cubicBezTo>
                    <a:cubicBezTo>
                      <a:pt x="913" y="618"/>
                      <a:pt x="1004" y="465"/>
                      <a:pt x="1096" y="31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7" name="Freeform 28"/>
              <p:cNvSpPr>
                <a:spLocks/>
              </p:cNvSpPr>
              <p:nvPr/>
            </p:nvSpPr>
            <p:spPr bwMode="auto">
              <a:xfrm>
                <a:off x="584" y="3175"/>
                <a:ext cx="1096" cy="618"/>
              </a:xfrm>
              <a:custGeom>
                <a:avLst/>
                <a:gdLst>
                  <a:gd name="T0" fmla="*/ 0 w 1096"/>
                  <a:gd name="T1" fmla="*/ 313 h 618"/>
                  <a:gd name="T2" fmla="*/ 280 w 1096"/>
                  <a:gd name="T3" fmla="*/ 1 h 618"/>
                  <a:gd name="T4" fmla="*/ 560 w 1096"/>
                  <a:gd name="T5" fmla="*/ 305 h 618"/>
                  <a:gd name="T6" fmla="*/ 824 w 1096"/>
                  <a:gd name="T7" fmla="*/ 617 h 618"/>
                  <a:gd name="T8" fmla="*/ 1096 w 1096"/>
                  <a:gd name="T9" fmla="*/ 313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96"/>
                  <a:gd name="T16" fmla="*/ 0 h 618"/>
                  <a:gd name="T17" fmla="*/ 1096 w 1096"/>
                  <a:gd name="T18" fmla="*/ 618 h 6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96" h="618">
                    <a:moveTo>
                      <a:pt x="0" y="313"/>
                    </a:moveTo>
                    <a:cubicBezTo>
                      <a:pt x="93" y="157"/>
                      <a:pt x="187" y="2"/>
                      <a:pt x="280" y="1"/>
                    </a:cubicBezTo>
                    <a:cubicBezTo>
                      <a:pt x="373" y="0"/>
                      <a:pt x="469" y="202"/>
                      <a:pt x="560" y="305"/>
                    </a:cubicBezTo>
                    <a:cubicBezTo>
                      <a:pt x="651" y="408"/>
                      <a:pt x="735" y="616"/>
                      <a:pt x="824" y="617"/>
                    </a:cubicBezTo>
                    <a:cubicBezTo>
                      <a:pt x="913" y="618"/>
                      <a:pt x="1004" y="465"/>
                      <a:pt x="1096" y="31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66" name="Line 29"/>
            <p:cNvSpPr>
              <a:spLocks noChangeShapeType="1"/>
            </p:cNvSpPr>
            <p:nvPr/>
          </p:nvSpPr>
          <p:spPr bwMode="auto">
            <a:xfrm flipH="1">
              <a:off x="2704" y="3184"/>
              <a:ext cx="1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Text Box 30"/>
            <p:cNvSpPr txBox="1">
              <a:spLocks noChangeArrowheads="1"/>
            </p:cNvSpPr>
            <p:nvPr/>
          </p:nvSpPr>
          <p:spPr bwMode="auto">
            <a:xfrm>
              <a:off x="2526" y="3055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6168" name="Line 31"/>
            <p:cNvSpPr>
              <a:spLocks noChangeShapeType="1"/>
            </p:cNvSpPr>
            <p:nvPr/>
          </p:nvSpPr>
          <p:spPr bwMode="auto">
            <a:xfrm>
              <a:off x="5016" y="3488"/>
              <a:ext cx="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Text Box 32"/>
            <p:cNvSpPr txBox="1">
              <a:spLocks noChangeArrowheads="1"/>
            </p:cNvSpPr>
            <p:nvPr/>
          </p:nvSpPr>
          <p:spPr bwMode="auto">
            <a:xfrm>
              <a:off x="5254" y="3383"/>
              <a:ext cx="1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6170" name="Line 33"/>
            <p:cNvSpPr>
              <a:spLocks noChangeShapeType="1"/>
            </p:cNvSpPr>
            <p:nvPr/>
          </p:nvSpPr>
          <p:spPr bwMode="auto">
            <a:xfrm flipH="1" flipV="1">
              <a:off x="2744" y="348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1" name="Text Box 34"/>
            <p:cNvSpPr txBox="1">
              <a:spLocks noChangeArrowheads="1"/>
            </p:cNvSpPr>
            <p:nvPr/>
          </p:nvSpPr>
          <p:spPr bwMode="auto">
            <a:xfrm>
              <a:off x="2846" y="3559"/>
              <a:ext cx="9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chemeClr val="tx1"/>
                  </a:solidFill>
                </a:rPr>
                <a:t>t</a:t>
              </a:r>
              <a:r>
                <a:rPr lang="en-US" altLang="en-US" sz="1800" b="0" baseline="-25000">
                  <a:solidFill>
                    <a:schemeClr val="tx1"/>
                  </a:solidFill>
                </a:rPr>
                <a:t>d </a:t>
              </a:r>
              <a:r>
                <a:rPr lang="en-US" altLang="en-US" sz="1800" b="0">
                  <a:solidFill>
                    <a:schemeClr val="tx1"/>
                  </a:solidFill>
                </a:rPr>
                <a:t>= 2.5 msec</a:t>
              </a:r>
              <a:endParaRPr lang="en-US" altLang="en-US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6172" name="Text Box 35"/>
            <p:cNvSpPr txBox="1">
              <a:spLocks noChangeArrowheads="1"/>
            </p:cNvSpPr>
            <p:nvPr/>
          </p:nvSpPr>
          <p:spPr bwMode="auto">
            <a:xfrm>
              <a:off x="70" y="2358"/>
              <a:ext cx="4860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-0.0025)= </a:t>
              </a:r>
              <a:r>
                <a:rPr lang="en-US" altLang="en-US" sz="2800" b="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en-US" sz="28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50[</a:t>
              </a:r>
              <a:r>
                <a:rPr lang="en-US" altLang="en-US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 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- 0.0025])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= </a:t>
              </a:r>
              <a:r>
                <a:rPr lang="en-US" altLang="en-US" sz="2800" b="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en-US" sz="28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50</a:t>
              </a:r>
              <a:r>
                <a:rPr lang="en-US" altLang="en-US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 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- 0.25)= </a:t>
              </a:r>
              <a:r>
                <a:rPr lang="en-US" altLang="en-US" sz="2800" b="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en-US" sz="2800" b="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50</a:t>
              </a:r>
              <a:r>
                <a:rPr lang="en-US" altLang="en-US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 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- 45</a:t>
              </a:r>
              <a:r>
                <a:rPr lang="en-US" altLang="en-US" sz="2800" b="0" baseline="30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</a:p>
          </p:txBody>
        </p:sp>
        <p:sp>
          <p:nvSpPr>
            <p:cNvPr id="6173" name="Text Box 40"/>
            <p:cNvSpPr txBox="1">
              <a:spLocks noChangeArrowheads="1"/>
            </p:cNvSpPr>
            <p:nvPr/>
          </p:nvSpPr>
          <p:spPr bwMode="auto">
            <a:xfrm>
              <a:off x="20" y="3918"/>
              <a:ext cx="55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600" b="0" dirty="0">
                  <a:solidFill>
                    <a:schemeClr val="tx1"/>
                  </a:solidFill>
                </a:rPr>
                <a:t>Time delay </a:t>
              </a:r>
              <a:r>
                <a:rPr lang="en-US" altLang="en-US" sz="26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600" b="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en-US" sz="26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 sz="2600" b="0" dirty="0">
                  <a:solidFill>
                    <a:schemeClr val="tx1"/>
                  </a:solidFill>
                </a:rPr>
                <a:t>= 2.5 </a:t>
              </a:r>
              <a:r>
                <a:rPr lang="en-US" altLang="en-US" sz="2600" b="0" dirty="0" err="1">
                  <a:solidFill>
                    <a:schemeClr val="tx1"/>
                  </a:solidFill>
                </a:rPr>
                <a:t>msec</a:t>
              </a:r>
              <a:r>
                <a:rPr lang="en-US" altLang="en-US" sz="2600" b="0" dirty="0">
                  <a:solidFill>
                    <a:schemeClr val="tx1"/>
                  </a:solidFill>
                </a:rPr>
                <a:t> correspond to phase shift </a:t>
              </a:r>
              <a:r>
                <a:rPr lang="en-US" altLang="en-US" sz="26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</a:t>
              </a:r>
              <a:r>
                <a:rPr lang="en-US" altLang="en-US" sz="2600" b="0" dirty="0">
                  <a:solidFill>
                    <a:schemeClr val="tx1"/>
                  </a:solidFill>
                  <a:sym typeface="Symbol" panose="05050102010706020507" pitchFamily="18" charset="2"/>
                </a:rPr>
                <a:t> = </a:t>
              </a:r>
              <a:r>
                <a:rPr lang="en-US" altLang="en-US" sz="2600" b="0" dirty="0">
                  <a:solidFill>
                    <a:schemeClr val="tx1"/>
                  </a:solidFill>
                </a:rPr>
                <a:t>45</a:t>
              </a:r>
              <a:r>
                <a:rPr lang="en-US" altLang="en-US" sz="2600" b="0" baseline="30000" dirty="0">
                  <a:solidFill>
                    <a:schemeClr val="tx1"/>
                  </a:solidFill>
                </a:rPr>
                <a:t>o</a:t>
              </a:r>
              <a:endParaRPr lang="en-US" altLang="en-US" sz="2600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6162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" y="76200"/>
            <a:ext cx="8991600" cy="676275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Representation of Quantity using Basis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79500"/>
            <a:ext cx="8305800" cy="2120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0" dirty="0">
                <a:solidFill>
                  <a:schemeClr val="tx1"/>
                </a:solidFill>
              </a:rPr>
              <a:t>Any number can be represented as a linear sum of the basis number {1, 10, 100, 1000}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0" dirty="0">
                <a:solidFill>
                  <a:srgbClr val="1C03D7"/>
                </a:solidFill>
              </a:rPr>
              <a:t>Ex: 10437 =10(1000) + 4(100) + 3(10) +7(1)</a:t>
            </a:r>
          </a:p>
        </p:txBody>
      </p:sp>
      <p:sp>
        <p:nvSpPr>
          <p:cNvPr id="189445" name="Rectangle 5"/>
          <p:cNvSpPr>
            <a:spLocks noChangeArrowheads="1"/>
          </p:cNvSpPr>
          <p:nvPr/>
        </p:nvSpPr>
        <p:spPr bwMode="auto">
          <a:xfrm>
            <a:off x="520700" y="3149600"/>
            <a:ext cx="83058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800" b="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b="0" dirty="0">
                <a:solidFill>
                  <a:schemeClr val="tx1"/>
                </a:solidFill>
              </a:rPr>
              <a:t>Any 3-D vector can be represented as a linear sum of the basis vectors {[1 0 0], [0 1 0], [0 0 1]}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 b="0" dirty="0">
                <a:solidFill>
                  <a:srgbClr val="1C03D7"/>
                </a:solidFill>
              </a:rPr>
              <a:t>Ex: [2 4 5]= 2 [1 0 0] + 4[0 1 0]+ 5[0 0 1]</a:t>
            </a:r>
            <a:endParaRPr lang="en-US" altLang="en-US" sz="2800" b="0" dirty="0">
              <a:solidFill>
                <a:schemeClr val="tx1"/>
              </a:solidFill>
            </a:endParaRPr>
          </a:p>
        </p:txBody>
      </p:sp>
      <p:sp>
        <p:nvSpPr>
          <p:cNvPr id="7173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39800" y="88900"/>
            <a:ext cx="7391400" cy="676275"/>
          </a:xfrm>
        </p:spPr>
        <p:txBody>
          <a:bodyPr/>
          <a:lstStyle/>
          <a:p>
            <a:pPr eaLnBrk="1" hangingPunct="1"/>
            <a:r>
              <a:rPr lang="en-US" altLang="en-US" sz="3600"/>
              <a:t>Basis Functions for Time Signal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100" y="960438"/>
            <a:ext cx="8839200" cy="2705100"/>
          </a:xfrm>
        </p:spPr>
        <p:txBody>
          <a:bodyPr/>
          <a:lstStyle/>
          <a:p>
            <a:pPr eaLnBrk="1" hangingPunct="1"/>
            <a:r>
              <a:rPr lang="en-US" altLang="en-US" sz="2800" b="0" dirty="0">
                <a:solidFill>
                  <a:schemeClr val="tx1"/>
                </a:solidFill>
              </a:rPr>
              <a:t>Any periodic signal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0" dirty="0">
                <a:solidFill>
                  <a:schemeClr val="tx1"/>
                </a:solidFill>
              </a:rPr>
              <a:t> with fundamental frequency </a:t>
            </a:r>
            <a:r>
              <a:rPr lang="en-US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</a:t>
            </a:r>
            <a:r>
              <a:rPr lang="en-US" altLang="en-US" sz="2800" b="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0 </a:t>
            </a:r>
            <a:r>
              <a:rPr lang="en-US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can be represented by a linear sum of the basis functions </a:t>
            </a:r>
            <a:r>
              <a:rPr lang="en-US" altLang="en-US" sz="2800" dirty="0">
                <a:solidFill>
                  <a:srgbClr val="1C03D7"/>
                </a:solidFill>
                <a:sym typeface="Symbol" panose="05050102010706020507" pitchFamily="18" charset="2"/>
              </a:rPr>
              <a:t>{1, cos(</a:t>
            </a:r>
            <a:r>
              <a:rPr lang="en-US" altLang="en-US" sz="2800" baseline="-25000" dirty="0">
                <a:solidFill>
                  <a:srgbClr val="1C03D7"/>
                </a:solidFill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1C03D7"/>
                </a:solidFill>
                <a:sym typeface="Symbol" panose="05050102010706020507" pitchFamily="18" charset="2"/>
              </a:rPr>
              <a:t>t), cos(2</a:t>
            </a:r>
            <a:r>
              <a:rPr lang="en-US" altLang="en-US" sz="2800" baseline="-25000" dirty="0">
                <a:solidFill>
                  <a:srgbClr val="1C03D7"/>
                </a:solidFill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1C03D7"/>
                </a:solidFill>
                <a:sym typeface="Symbol" panose="05050102010706020507" pitchFamily="18" charset="2"/>
              </a:rPr>
              <a:t>t),…, cos(n</a:t>
            </a:r>
            <a:r>
              <a:rPr lang="en-US" altLang="en-US" sz="2800" baseline="-25000" dirty="0">
                <a:solidFill>
                  <a:srgbClr val="1C03D7"/>
                </a:solidFill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1C03D7"/>
                </a:solidFill>
                <a:sym typeface="Symbol" panose="05050102010706020507" pitchFamily="18" charset="2"/>
              </a:rPr>
              <a:t>t), sin(</a:t>
            </a:r>
            <a:r>
              <a:rPr lang="en-US" altLang="en-US" sz="2800" baseline="-25000" dirty="0">
                <a:solidFill>
                  <a:srgbClr val="1C03D7"/>
                </a:solidFill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1C03D7"/>
                </a:solidFill>
                <a:sym typeface="Symbol" panose="05050102010706020507" pitchFamily="18" charset="2"/>
              </a:rPr>
              <a:t>t), sin(2</a:t>
            </a:r>
            <a:r>
              <a:rPr lang="en-US" altLang="en-US" sz="2800" baseline="-25000" dirty="0">
                <a:solidFill>
                  <a:srgbClr val="1C03D7"/>
                </a:solidFill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1C03D7"/>
                </a:solidFill>
                <a:sym typeface="Symbol" panose="05050102010706020507" pitchFamily="18" charset="2"/>
              </a:rPr>
              <a:t>t),…, sin(n</a:t>
            </a:r>
            <a:r>
              <a:rPr lang="en-US" altLang="en-US" sz="2800" baseline="-25000" dirty="0">
                <a:solidFill>
                  <a:srgbClr val="1C03D7"/>
                </a:solidFill>
                <a:sym typeface="Symbol" panose="05050102010706020507" pitchFamily="18" charset="2"/>
              </a:rPr>
              <a:t>0</a:t>
            </a:r>
            <a:r>
              <a:rPr lang="en-US" altLang="en-US" sz="2800" dirty="0">
                <a:solidFill>
                  <a:srgbClr val="1C03D7"/>
                </a:solidFill>
                <a:sym typeface="Symbol" panose="05050102010706020507" pitchFamily="18" charset="2"/>
              </a:rPr>
              <a:t>t)}</a:t>
            </a:r>
            <a:r>
              <a:rPr lang="en-US" altLang="en-US" sz="2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38125" y="2789602"/>
            <a:ext cx="8756650" cy="3973512"/>
            <a:chOff x="150" y="1817"/>
            <a:chExt cx="5516" cy="2503"/>
          </a:xfrm>
        </p:grpSpPr>
        <p:sp>
          <p:nvSpPr>
            <p:cNvPr id="8198" name="Text Box 5"/>
            <p:cNvSpPr txBox="1">
              <a:spLocks noChangeArrowheads="1"/>
            </p:cNvSpPr>
            <p:nvPr/>
          </p:nvSpPr>
          <p:spPr bwMode="auto">
            <a:xfrm>
              <a:off x="150" y="1817"/>
              <a:ext cx="5516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 dirty="0">
                  <a:solidFill>
                    <a:srgbClr val="1C03D7"/>
                  </a:solidFill>
                </a:rPr>
                <a:t>Ex: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800" b="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en-US" sz="2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en-US" sz="2800" b="0" dirty="0">
                  <a:solidFill>
                    <a:schemeClr val="tx1"/>
                  </a:solidFill>
                </a:rPr>
                <a:t>=1+ cos(2</a:t>
              </a:r>
              <a:r>
                <a:rPr lang="en-US" altLang="en-US" sz="2800" b="0" dirty="0">
                  <a:solidFill>
                    <a:schemeClr val="tx1"/>
                  </a:solidFill>
                  <a:sym typeface="Symbol" panose="05050102010706020507" pitchFamily="18" charset="2"/>
                </a:rPr>
                <a:t></a:t>
              </a:r>
              <a:r>
                <a:rPr lang="en-US" altLang="en-US" sz="2800" b="0" dirty="0">
                  <a:solidFill>
                    <a:schemeClr val="tx1"/>
                  </a:solidFill>
                </a:rPr>
                <a:t>t)+ 2cos(2 </a:t>
              </a:r>
              <a:r>
                <a:rPr lang="en-US" altLang="en-US" sz="2800" b="0" dirty="0">
                  <a:solidFill>
                    <a:schemeClr val="tx1"/>
                  </a:solidFill>
                  <a:sym typeface="Symbol" panose="05050102010706020507" pitchFamily="18" charset="2"/>
                </a:rPr>
                <a:t></a:t>
              </a:r>
              <a:r>
                <a:rPr lang="en-US" altLang="en-US" sz="2800" b="0" dirty="0">
                  <a:solidFill>
                    <a:schemeClr val="tx1"/>
                  </a:solidFill>
                </a:rPr>
                <a:t>2t)+ 0.5sin(2</a:t>
              </a:r>
              <a:r>
                <a:rPr lang="en-US" altLang="en-US" sz="2800" b="0" dirty="0">
                  <a:solidFill>
                    <a:schemeClr val="tx1"/>
                  </a:solidFill>
                  <a:sym typeface="Symbol" panose="05050102010706020507" pitchFamily="18" charset="2"/>
                </a:rPr>
                <a:t></a:t>
              </a:r>
              <a:r>
                <a:rPr lang="en-US" altLang="en-US" sz="2800" b="0" dirty="0">
                  <a:solidFill>
                    <a:schemeClr val="tx1"/>
                  </a:solidFill>
                </a:rPr>
                <a:t>3t)+ 3sin(2</a:t>
              </a:r>
              <a:r>
                <a:rPr lang="en-US" altLang="en-US" sz="2800" b="0" dirty="0">
                  <a:solidFill>
                    <a:schemeClr val="tx1"/>
                  </a:solidFill>
                  <a:sym typeface="Symbol" panose="05050102010706020507" pitchFamily="18" charset="2"/>
                </a:rPr>
                <a:t></a:t>
              </a:r>
              <a:r>
                <a:rPr lang="en-US" altLang="en-US" sz="2800" b="0" dirty="0">
                  <a:solidFill>
                    <a:schemeClr val="tx1"/>
                  </a:solidFill>
                </a:rPr>
                <a:t>t)</a:t>
              </a:r>
            </a:p>
          </p:txBody>
        </p:sp>
        <p:pic>
          <p:nvPicPr>
            <p:cNvPr id="8199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9" y="2431"/>
              <a:ext cx="2351" cy="1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197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/>
          <p:cNvSpPr txBox="1">
            <a:spLocks noChangeArrowheads="1"/>
          </p:cNvSpPr>
          <p:nvPr/>
        </p:nvSpPr>
        <p:spPr bwMode="auto">
          <a:xfrm>
            <a:off x="161925" y="682625"/>
            <a:ext cx="8756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x(t) =1+ cos(2</a:t>
            </a:r>
            <a:r>
              <a:rPr lang="en-US" altLang="en-US" sz="2800" b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n-US" sz="2800" b="0">
                <a:solidFill>
                  <a:schemeClr val="tx1"/>
                </a:solidFill>
              </a:rPr>
              <a:t>t)+ 2cos(2 </a:t>
            </a:r>
            <a:r>
              <a:rPr lang="en-US" altLang="en-US" sz="2800" b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n-US" sz="2800" b="0">
                <a:solidFill>
                  <a:schemeClr val="tx1"/>
                </a:solidFill>
              </a:rPr>
              <a:t>2t)+ 3sin(2</a:t>
            </a:r>
            <a:r>
              <a:rPr lang="en-US" altLang="en-US" sz="2800" b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n-US" sz="2800" b="0">
                <a:solidFill>
                  <a:schemeClr val="tx1"/>
                </a:solidFill>
              </a:rPr>
              <a:t>t)+ 0.5sin(2</a:t>
            </a:r>
            <a:r>
              <a:rPr lang="en-US" altLang="en-US" sz="2800" b="0">
                <a:solidFill>
                  <a:schemeClr val="tx1"/>
                </a:solidFill>
                <a:sym typeface="Symbol" panose="05050102010706020507" pitchFamily="18" charset="2"/>
              </a:rPr>
              <a:t></a:t>
            </a:r>
            <a:r>
              <a:rPr lang="en-US" altLang="en-US" sz="2800" b="0">
                <a:solidFill>
                  <a:schemeClr val="tx1"/>
                </a:solidFill>
              </a:rPr>
              <a:t>3t)</a:t>
            </a:r>
          </a:p>
        </p:txBody>
      </p:sp>
      <p:pic>
        <p:nvPicPr>
          <p:cNvPr id="921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050" y="4513263"/>
            <a:ext cx="2901950" cy="233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1555750"/>
            <a:ext cx="2797175" cy="223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1598613"/>
            <a:ext cx="2782888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325" y="4637088"/>
            <a:ext cx="2805113" cy="220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" y="4635500"/>
            <a:ext cx="2759075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600200"/>
            <a:ext cx="28321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5" name="Text Box 12"/>
          <p:cNvSpPr txBox="1">
            <a:spLocks noChangeArrowheads="1"/>
          </p:cNvSpPr>
          <p:nvPr/>
        </p:nvSpPr>
        <p:spPr bwMode="auto">
          <a:xfrm>
            <a:off x="2867025" y="2352675"/>
            <a:ext cx="422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9226" name="Text Box 13"/>
          <p:cNvSpPr txBox="1">
            <a:spLocks noChangeArrowheads="1"/>
          </p:cNvSpPr>
          <p:nvPr/>
        </p:nvSpPr>
        <p:spPr bwMode="auto">
          <a:xfrm>
            <a:off x="5889625" y="2378075"/>
            <a:ext cx="422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9227" name="Text Box 14"/>
          <p:cNvSpPr txBox="1">
            <a:spLocks noChangeArrowheads="1"/>
          </p:cNvSpPr>
          <p:nvPr/>
        </p:nvSpPr>
        <p:spPr bwMode="auto">
          <a:xfrm>
            <a:off x="2841625" y="5413375"/>
            <a:ext cx="422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9228" name="Text Box 15"/>
          <p:cNvSpPr txBox="1">
            <a:spLocks noChangeArrowheads="1"/>
          </p:cNvSpPr>
          <p:nvPr/>
        </p:nvSpPr>
        <p:spPr bwMode="auto">
          <a:xfrm>
            <a:off x="5953125" y="5438775"/>
            <a:ext cx="422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</a:rPr>
              <a:t>=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84138"/>
            <a:ext cx="8775700" cy="676275"/>
          </a:xfrm>
        </p:spPr>
        <p:txBody>
          <a:bodyPr/>
          <a:lstStyle/>
          <a:p>
            <a:pPr eaLnBrk="1" hangingPunct="1"/>
            <a:r>
              <a:rPr lang="en-US" altLang="en-US" sz="3600"/>
              <a:t>Purpose of the Fourier Series (FS)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339725" y="1055688"/>
            <a:ext cx="8458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dirty="0">
                <a:solidFill>
                  <a:schemeClr val="tx1"/>
                </a:solidFill>
              </a:rPr>
              <a:t>FS is used to find the frequency components and their strengths for a given periodic signal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1024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2079625"/>
            <a:ext cx="4921250" cy="394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77788"/>
            <a:ext cx="8026400" cy="719137"/>
          </a:xfrm>
        </p:spPr>
        <p:txBody>
          <a:bodyPr/>
          <a:lstStyle/>
          <a:p>
            <a:pPr eaLnBrk="1" hangingPunct="1"/>
            <a:r>
              <a:rPr lang="en-US" altLang="en-US" sz="3600"/>
              <a:t>The Three forms of Fourier Series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27981"/>
            <a:ext cx="8305800" cy="4078857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rgbClr val="1C03D7"/>
              </a:solidFill>
            </a:endParaRPr>
          </a:p>
          <a:p>
            <a:pPr eaLnBrk="1" hangingPunct="1"/>
            <a:r>
              <a:rPr lang="en-US" altLang="en-US" sz="2800" b="0" dirty="0">
                <a:solidFill>
                  <a:schemeClr val="tx1"/>
                </a:solidFill>
              </a:rPr>
              <a:t>Trigonometric Form</a:t>
            </a:r>
          </a:p>
          <a:p>
            <a:pPr eaLnBrk="1" hangingPunct="1"/>
            <a:endParaRPr lang="en-US" altLang="en-US" sz="2800" b="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b="0" dirty="0">
                <a:solidFill>
                  <a:schemeClr val="tx1"/>
                </a:solidFill>
              </a:rPr>
              <a:t>Compact Trigonometric (Polar) Form. </a:t>
            </a:r>
          </a:p>
          <a:p>
            <a:pPr eaLnBrk="1" hangingPunct="1"/>
            <a:endParaRPr lang="en-US" altLang="en-US" sz="2800" b="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b="0" dirty="0">
                <a:solidFill>
                  <a:schemeClr val="tx1"/>
                </a:solidFill>
              </a:rPr>
              <a:t>Complex Exponential Form.</a:t>
            </a:r>
          </a:p>
          <a:p>
            <a:pPr eaLnBrk="1" hangingPunct="1"/>
            <a:endParaRPr lang="en-US" altLang="en-US" dirty="0">
              <a:solidFill>
                <a:srgbClr val="1C03D7"/>
              </a:solidFill>
            </a:endParaRPr>
          </a:p>
        </p:txBody>
      </p:sp>
      <p:sp>
        <p:nvSpPr>
          <p:cNvPr id="11268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39800" y="33338"/>
            <a:ext cx="7391400" cy="762000"/>
          </a:xfrm>
        </p:spPr>
        <p:txBody>
          <a:bodyPr/>
          <a:lstStyle/>
          <a:p>
            <a:pPr eaLnBrk="1" hangingPunct="1"/>
            <a:r>
              <a:rPr lang="en-US" altLang="en-US" sz="3600"/>
              <a:t>Trigonometric Form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168400"/>
            <a:ext cx="8001000" cy="5257800"/>
          </a:xfrm>
        </p:spPr>
        <p:txBody>
          <a:bodyPr/>
          <a:lstStyle/>
          <a:p>
            <a:pPr eaLnBrk="1" hangingPunct="1"/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simply a linear combination of sines and cosines at multiples of its fundamental frequency,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800" b="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=1/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sz="2800" dirty="0">
              <a:solidFill>
                <a:srgbClr val="1C03D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>
              <a:solidFill>
                <a:srgbClr val="1C03D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>
              <a:solidFill>
                <a:srgbClr val="1C03D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i="1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aseline="-250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counts for any dc offset in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1" hangingPunct="1"/>
            <a:r>
              <a:rPr lang="en-US" altLang="en-US" sz="2800" i="1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aseline="-250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i="1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i="1" baseline="-250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800" i="1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i="1" baseline="-250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called the trigonometric Fourier Series Coefficients. </a:t>
            </a:r>
          </a:p>
          <a:p>
            <a:pPr eaLnBrk="1" hangingPunct="1"/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i="1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i="1" baseline="300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harmonic frequency is </a:t>
            </a:r>
            <a:r>
              <a:rPr lang="en-US" altLang="en-US" sz="2800" i="1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en-US" altLang="en-US" sz="2800" baseline="-250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1229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203325" y="2770188"/>
          <a:ext cx="6737350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2100" imgH="431800" progId="Equation.3">
                  <p:embed/>
                </p:oleObj>
              </mc:Choice>
              <mc:Fallback>
                <p:oleObj name="Equation" r:id="rId3" imgW="2832100" imgH="431800" progId="Equation.3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2770188"/>
                        <a:ext cx="6737350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"/>
          <p:cNvSpPr>
            <a:spLocks noGrp="1" noChangeArrowheads="1"/>
          </p:cNvSpPr>
          <p:nvPr>
            <p:ph type="title"/>
          </p:nvPr>
        </p:nvSpPr>
        <p:spPr>
          <a:xfrm>
            <a:off x="939800" y="49213"/>
            <a:ext cx="7391400" cy="762000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Trigonometric Form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838200"/>
            <a:ext cx="8153400" cy="17526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evaluate the Fourier Series Coefficients (FSC) of </a:t>
            </a:r>
            <a:r>
              <a:rPr lang="en-US" altLang="en-US" sz="2800" i="1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  <a:p>
            <a:pPr eaLnBrk="1" hangingPunct="1"/>
            <a:endParaRPr lang="en-US" altLang="en-US" sz="2800">
              <a:solidFill>
                <a:srgbClr val="1C03D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316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217613" y="3514725"/>
          <a:ext cx="28606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52500" imgH="457200" progId="Equation.3">
                  <p:embed/>
                </p:oleObj>
              </mc:Choice>
              <mc:Fallback>
                <p:oleObj name="Equation" r:id="rId3" imgW="952500" imgH="457200" progId="Equation.3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3514725"/>
                        <a:ext cx="286067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12"/>
          <p:cNvSpPr txBox="1">
            <a:spLocks noChangeArrowheads="1"/>
          </p:cNvSpPr>
          <p:nvPr/>
        </p:nvSpPr>
        <p:spPr bwMode="auto">
          <a:xfrm>
            <a:off x="250825" y="2962275"/>
            <a:ext cx="79233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find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integrate both side of the equation over a full period</a:t>
            </a:r>
          </a:p>
        </p:txBody>
      </p:sp>
      <p:graphicFrame>
        <p:nvGraphicFramePr>
          <p:cNvPr id="13318" name="Object 13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232905242"/>
              </p:ext>
            </p:extLst>
          </p:nvPr>
        </p:nvGraphicFramePr>
        <p:xfrm>
          <a:off x="600075" y="1724025"/>
          <a:ext cx="7902575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31760" imgH="431640" progId="Equation.3">
                  <p:embed/>
                </p:oleObj>
              </mc:Choice>
              <mc:Fallback>
                <p:oleObj name="Equation" r:id="rId5" imgW="2831760" imgH="431640" progId="Equation.3">
                  <p:embed/>
                  <p:pic>
                    <p:nvPicPr>
                      <p:cNvPr id="1331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" y="1724025"/>
                        <a:ext cx="7902575" cy="120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39800" y="57150"/>
            <a:ext cx="7391400" cy="715963"/>
          </a:xfrm>
          <a:noFill/>
        </p:spPr>
        <p:txBody>
          <a:bodyPr/>
          <a:lstStyle/>
          <a:p>
            <a:pPr eaLnBrk="1" hangingPunct="1"/>
            <a:r>
              <a:rPr lang="en-US" altLang="en-US" sz="3600"/>
              <a:t>Trigonometric Form</a:t>
            </a:r>
          </a:p>
        </p:txBody>
      </p:sp>
      <p:graphicFrame>
        <p:nvGraphicFramePr>
          <p:cNvPr id="14339" name="Object 6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21916777"/>
              </p:ext>
            </p:extLst>
          </p:nvPr>
        </p:nvGraphicFramePr>
        <p:xfrm>
          <a:off x="692150" y="1017588"/>
          <a:ext cx="718185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1760" imgH="431640" progId="Equation.3">
                  <p:embed/>
                </p:oleObj>
              </mc:Choice>
              <mc:Fallback>
                <p:oleObj name="Equation" r:id="rId3" imgW="2831760" imgH="431640" progId="Equation.3">
                  <p:embed/>
                  <p:pic>
                    <p:nvPicPr>
                      <p:cNvPr id="1433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1017588"/>
                        <a:ext cx="718185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9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954865080"/>
              </p:ext>
            </p:extLst>
          </p:nvPr>
        </p:nvGraphicFramePr>
        <p:xfrm>
          <a:off x="654050" y="3219450"/>
          <a:ext cx="420370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0960" imgH="457200" progId="Equation.3">
                  <p:embed/>
                </p:oleObj>
              </mc:Choice>
              <mc:Fallback>
                <p:oleObj name="Equation" r:id="rId5" imgW="1650960" imgH="457200" progId="Equation.3">
                  <p:embed/>
                  <p:pic>
                    <p:nvPicPr>
                      <p:cNvPr id="1434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3219450"/>
                        <a:ext cx="420370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250825" y="2136775"/>
            <a:ext cx="8659813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find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multiply both side by cos(2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en-US" sz="24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mf</a:t>
            </a:r>
            <a:r>
              <a:rPr lang="en-US" altLang="en-US" sz="2400" b="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4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and then 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over a full period, </a:t>
            </a:r>
            <a:r>
              <a:rPr lang="en-US" altLang="en-US" sz="24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=1,2,…,</a:t>
            </a:r>
            <a:r>
              <a:rPr lang="en-US" altLang="en-US" sz="24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5595" name="Text Box 11"/>
          <p:cNvSpPr txBox="1">
            <a:spLocks noChangeArrowheads="1"/>
          </p:cNvSpPr>
          <p:nvPr/>
        </p:nvSpPr>
        <p:spPr bwMode="auto">
          <a:xfrm>
            <a:off x="238125" y="4397375"/>
            <a:ext cx="8659813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find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multiply both side by sin(2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en-US" sz="24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mf</a:t>
            </a:r>
            <a:r>
              <a:rPr lang="en-US" altLang="en-US" sz="2400" b="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en-US" sz="24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and then 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over a full period, </a:t>
            </a:r>
            <a:r>
              <a:rPr lang="en-US" altLang="en-US" sz="24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=1,2,…,</a:t>
            </a:r>
            <a:r>
              <a:rPr lang="en-US" altLang="en-US" sz="24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  <a:r>
              <a:rPr lang="en-US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graphicFrame>
        <p:nvGraphicFramePr>
          <p:cNvPr id="195597" name="Object 13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273482223"/>
              </p:ext>
            </p:extLst>
          </p:nvPr>
        </p:nvGraphicFramePr>
        <p:xfrm>
          <a:off x="812800" y="5472113"/>
          <a:ext cx="41529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25400" imgH="457200" progId="Equation.3">
                  <p:embed/>
                </p:oleObj>
              </mc:Choice>
              <mc:Fallback>
                <p:oleObj name="Equation" r:id="rId7" imgW="1625400" imgH="457200" progId="Equation.3">
                  <p:embed/>
                  <p:pic>
                    <p:nvPicPr>
                      <p:cNvPr id="19559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5472113"/>
                        <a:ext cx="41529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600" dirty="0"/>
              <a:t>Example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9700" y="2667000"/>
            <a:ext cx="3352800" cy="2743200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rgbClr val="1C03D7"/>
                </a:solidFill>
              </a:rPr>
              <a:t>Fundamental period</a:t>
            </a:r>
          </a:p>
          <a:p>
            <a:pPr lvl="1" eaLnBrk="1" hangingPunct="1">
              <a:buFontTx/>
              <a:buNone/>
            </a:pPr>
            <a:r>
              <a:rPr lang="en-US" altLang="en-US" sz="2000" i="1">
                <a:solidFill>
                  <a:schemeClr val="tx1"/>
                </a:solidFill>
              </a:rPr>
              <a:t>T</a:t>
            </a:r>
            <a:r>
              <a:rPr lang="en-US" altLang="en-US" sz="2000" baseline="-25000">
                <a:solidFill>
                  <a:schemeClr val="tx1"/>
                </a:solidFill>
              </a:rPr>
              <a:t>0</a:t>
            </a:r>
            <a:r>
              <a:rPr lang="en-US" altLang="en-US" sz="2000">
                <a:solidFill>
                  <a:schemeClr val="tx1"/>
                </a:solidFill>
              </a:rPr>
              <a:t> = </a:t>
            </a:r>
            <a:r>
              <a:rPr lang="en-US" altLang="en-US" sz="2000">
                <a:solidFill>
                  <a:schemeClr val="tx1"/>
                </a:solidFill>
                <a:latin typeface="Symbol" panose="05050102010706020507" pitchFamily="18" charset="2"/>
              </a:rPr>
              <a:t>p</a:t>
            </a:r>
            <a:endParaRPr lang="en-US" altLang="en-US" sz="200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000">
                <a:solidFill>
                  <a:srgbClr val="1C03D7"/>
                </a:solidFill>
              </a:rPr>
              <a:t>Fundamental frequency</a:t>
            </a:r>
          </a:p>
          <a:p>
            <a:pPr lvl="1" eaLnBrk="1" hangingPunct="1">
              <a:buFontTx/>
              <a:buNone/>
            </a:pPr>
            <a:r>
              <a:rPr lang="en-US" altLang="en-US" sz="2000" i="1">
                <a:solidFill>
                  <a:schemeClr val="tx1"/>
                </a:solidFill>
              </a:rPr>
              <a:t>f</a:t>
            </a:r>
            <a:r>
              <a:rPr lang="en-US" altLang="en-US" sz="2000" baseline="-25000">
                <a:solidFill>
                  <a:schemeClr val="tx1"/>
                </a:solidFill>
              </a:rPr>
              <a:t>0</a:t>
            </a:r>
            <a:r>
              <a:rPr lang="en-US" altLang="en-US" sz="2000">
                <a:solidFill>
                  <a:schemeClr val="tx1"/>
                </a:solidFill>
              </a:rPr>
              <a:t> = 1/</a:t>
            </a:r>
            <a:r>
              <a:rPr lang="en-US" altLang="en-US" sz="2000" i="1">
                <a:solidFill>
                  <a:schemeClr val="tx1"/>
                </a:solidFill>
              </a:rPr>
              <a:t>T</a:t>
            </a:r>
            <a:r>
              <a:rPr lang="en-US" altLang="en-US" sz="2000" baseline="-25000">
                <a:solidFill>
                  <a:schemeClr val="tx1"/>
                </a:solidFill>
              </a:rPr>
              <a:t>0</a:t>
            </a:r>
            <a:r>
              <a:rPr lang="en-US" altLang="en-US" sz="2000">
                <a:solidFill>
                  <a:schemeClr val="tx1"/>
                </a:solidFill>
              </a:rPr>
              <a:t> = 1/</a:t>
            </a:r>
            <a:r>
              <a:rPr lang="en-US" altLang="en-US" sz="2000">
                <a:solidFill>
                  <a:schemeClr val="tx1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2000">
                <a:solidFill>
                  <a:schemeClr val="tx1"/>
                </a:solidFill>
              </a:rPr>
              <a:t> Hz</a:t>
            </a:r>
          </a:p>
          <a:p>
            <a:pPr lvl="1" eaLnBrk="1" hangingPunct="1">
              <a:buFontTx/>
              <a:buNone/>
            </a:pPr>
            <a:r>
              <a:rPr lang="en-US" altLang="en-US" sz="2000" i="1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2000" baseline="-25000">
                <a:solidFill>
                  <a:schemeClr val="tx1"/>
                </a:solidFill>
              </a:rPr>
              <a:t>0</a:t>
            </a:r>
            <a:r>
              <a:rPr lang="en-US" altLang="en-US" sz="2000">
                <a:solidFill>
                  <a:schemeClr val="tx1"/>
                </a:solidFill>
              </a:rPr>
              <a:t> = 2</a:t>
            </a:r>
            <a:r>
              <a:rPr lang="en-US" altLang="en-US" sz="2000">
                <a:solidFill>
                  <a:schemeClr val="tx1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2000">
                <a:solidFill>
                  <a:schemeClr val="tx1"/>
                </a:solidFill>
              </a:rPr>
              <a:t>/</a:t>
            </a:r>
            <a:r>
              <a:rPr lang="en-US" altLang="en-US" sz="2000" i="1">
                <a:solidFill>
                  <a:schemeClr val="tx1"/>
                </a:solidFill>
              </a:rPr>
              <a:t>T</a:t>
            </a:r>
            <a:r>
              <a:rPr lang="en-US" altLang="en-US" sz="2000" baseline="-25000">
                <a:solidFill>
                  <a:schemeClr val="tx1"/>
                </a:solidFill>
              </a:rPr>
              <a:t>0</a:t>
            </a:r>
            <a:r>
              <a:rPr lang="en-US" altLang="en-US" sz="2000">
                <a:solidFill>
                  <a:schemeClr val="tx1"/>
                </a:solidFill>
              </a:rPr>
              <a:t> = 2 rad/s</a:t>
            </a:r>
          </a:p>
          <a:p>
            <a:pPr eaLnBrk="1" hangingPunct="1"/>
            <a:endParaRPr lang="en-US" altLang="en-US" sz="2400">
              <a:solidFill>
                <a:schemeClr val="tx1"/>
              </a:solidFill>
            </a:endParaRPr>
          </a:p>
          <a:p>
            <a:pPr eaLnBrk="1" hangingPunct="1"/>
            <a:endParaRPr lang="en-US" altLang="en-US" sz="2400">
              <a:solidFill>
                <a:schemeClr val="tx1"/>
              </a:solidFill>
            </a:endParaRPr>
          </a:p>
        </p:txBody>
      </p:sp>
      <p:grpSp>
        <p:nvGrpSpPr>
          <p:cNvPr id="15365" name="Group 5"/>
          <p:cNvGrpSpPr>
            <a:grpSpLocks/>
          </p:cNvGrpSpPr>
          <p:nvPr/>
        </p:nvGrpSpPr>
        <p:grpSpPr bwMode="auto">
          <a:xfrm>
            <a:off x="381000" y="838200"/>
            <a:ext cx="3124200" cy="1631950"/>
            <a:chOff x="3360" y="2064"/>
            <a:chExt cx="1968" cy="1028"/>
          </a:xfrm>
        </p:grpSpPr>
        <p:sp>
          <p:nvSpPr>
            <p:cNvPr id="15369" name="Line 6"/>
            <p:cNvSpPr>
              <a:spLocks noChangeShapeType="1"/>
            </p:cNvSpPr>
            <p:nvPr/>
          </p:nvSpPr>
          <p:spPr bwMode="auto">
            <a:xfrm>
              <a:off x="4320" y="225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0" name="Line 7"/>
            <p:cNvSpPr>
              <a:spLocks noChangeShapeType="1"/>
            </p:cNvSpPr>
            <p:nvPr/>
          </p:nvSpPr>
          <p:spPr bwMode="auto">
            <a:xfrm>
              <a:off x="3408" y="2880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371" name="Group 8"/>
            <p:cNvGrpSpPr>
              <a:grpSpLocks/>
            </p:cNvGrpSpPr>
            <p:nvPr/>
          </p:nvGrpSpPr>
          <p:grpSpPr bwMode="auto">
            <a:xfrm>
              <a:off x="3360" y="2400"/>
              <a:ext cx="1920" cy="384"/>
              <a:chOff x="3360" y="2400"/>
              <a:chExt cx="1920" cy="384"/>
            </a:xfrm>
          </p:grpSpPr>
          <p:sp>
            <p:nvSpPr>
              <p:cNvPr id="15381" name="Freeform 9"/>
              <p:cNvSpPr>
                <a:spLocks/>
              </p:cNvSpPr>
              <p:nvPr/>
            </p:nvSpPr>
            <p:spPr bwMode="auto">
              <a:xfrm>
                <a:off x="432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2" name="Freeform 10"/>
              <p:cNvSpPr>
                <a:spLocks/>
              </p:cNvSpPr>
              <p:nvPr/>
            </p:nvSpPr>
            <p:spPr bwMode="auto">
              <a:xfrm>
                <a:off x="480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3" name="Freeform 11"/>
              <p:cNvSpPr>
                <a:spLocks/>
              </p:cNvSpPr>
              <p:nvPr/>
            </p:nvSpPr>
            <p:spPr bwMode="auto">
              <a:xfrm>
                <a:off x="384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84" name="Freeform 12"/>
              <p:cNvSpPr>
                <a:spLocks/>
              </p:cNvSpPr>
              <p:nvPr/>
            </p:nvSpPr>
            <p:spPr bwMode="auto">
              <a:xfrm>
                <a:off x="336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15385" name="AutoShape 13"/>
              <p:cNvCxnSpPr>
                <a:cxnSpLocks noChangeShapeType="1"/>
                <a:stCxn id="15383" idx="0"/>
                <a:endCxn id="15384" idx="2"/>
              </p:cNvCxnSpPr>
              <p:nvPr/>
            </p:nvCxnSpPr>
            <p:spPr bwMode="auto">
              <a:xfrm>
                <a:off x="3840" y="2400"/>
                <a:ext cx="0" cy="384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6" name="AutoShape 14"/>
              <p:cNvCxnSpPr>
                <a:cxnSpLocks noChangeShapeType="1"/>
                <a:stCxn id="15382" idx="0"/>
                <a:endCxn id="15381" idx="2"/>
              </p:cNvCxnSpPr>
              <p:nvPr/>
            </p:nvCxnSpPr>
            <p:spPr bwMode="auto">
              <a:xfrm>
                <a:off x="4800" y="2400"/>
                <a:ext cx="0" cy="384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7" name="AutoShape 15"/>
              <p:cNvCxnSpPr>
                <a:cxnSpLocks noChangeShapeType="1"/>
                <a:stCxn id="15381" idx="0"/>
                <a:endCxn id="15383" idx="2"/>
              </p:cNvCxnSpPr>
              <p:nvPr/>
            </p:nvCxnSpPr>
            <p:spPr bwMode="auto">
              <a:xfrm>
                <a:off x="4320" y="2400"/>
                <a:ext cx="0" cy="384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5372" name="Text Box 16"/>
            <p:cNvSpPr txBox="1">
              <a:spLocks noChangeArrowheads="1"/>
            </p:cNvSpPr>
            <p:nvPr/>
          </p:nvSpPr>
          <p:spPr bwMode="auto">
            <a:xfrm>
              <a:off x="4320" y="288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3" name="Line 17"/>
            <p:cNvSpPr>
              <a:spLocks noChangeShapeType="1"/>
            </p:cNvSpPr>
            <p:nvPr/>
          </p:nvSpPr>
          <p:spPr bwMode="auto">
            <a:xfrm>
              <a:off x="4800" y="28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4" name="Line 18"/>
            <p:cNvSpPr>
              <a:spLocks noChangeShapeType="1"/>
            </p:cNvSpPr>
            <p:nvPr/>
          </p:nvSpPr>
          <p:spPr bwMode="auto">
            <a:xfrm>
              <a:off x="3840" y="28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5" name="Text Box 19"/>
            <p:cNvSpPr txBox="1">
              <a:spLocks noChangeArrowheads="1"/>
            </p:cNvSpPr>
            <p:nvPr/>
          </p:nvSpPr>
          <p:spPr bwMode="auto">
            <a:xfrm>
              <a:off x="4752" y="288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Symbol" panose="05050102010706020507" pitchFamily="18" charset="2"/>
                </a:rPr>
                <a:t>p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6" name="Text Box 20"/>
            <p:cNvSpPr txBox="1">
              <a:spLocks noChangeArrowheads="1"/>
            </p:cNvSpPr>
            <p:nvPr/>
          </p:nvSpPr>
          <p:spPr bwMode="auto">
            <a:xfrm>
              <a:off x="3744" y="288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Symbol" panose="05050102010706020507" pitchFamily="18" charset="2"/>
                </a:rPr>
                <a:t>-p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7" name="Line 21"/>
            <p:cNvSpPr>
              <a:spLocks noChangeShapeType="1"/>
            </p:cNvSpPr>
            <p:nvPr/>
          </p:nvSpPr>
          <p:spPr bwMode="auto">
            <a:xfrm>
              <a:off x="4272" y="240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8" name="Text Box 22"/>
            <p:cNvSpPr txBox="1">
              <a:spLocks noChangeArrowheads="1"/>
            </p:cNvSpPr>
            <p:nvPr/>
          </p:nvSpPr>
          <p:spPr bwMode="auto">
            <a:xfrm>
              <a:off x="4128" y="2304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9" name="Text Box 23"/>
            <p:cNvSpPr txBox="1">
              <a:spLocks noChangeArrowheads="1"/>
            </p:cNvSpPr>
            <p:nvPr/>
          </p:nvSpPr>
          <p:spPr bwMode="auto">
            <a:xfrm>
              <a:off x="4416" y="2448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en-US" sz="1600" b="0" baseline="30000">
                  <a:solidFill>
                    <a:schemeClr val="tx1"/>
                  </a:solidFill>
                  <a:latin typeface="Times New Roman" panose="02020603050405020304" pitchFamily="18" charset="0"/>
                </a:rPr>
                <a:t>-</a:t>
              </a:r>
              <a:r>
                <a:rPr lang="en-US" altLang="en-US" sz="1600" b="0" i="1" baseline="3000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en-US" sz="1600" b="0" baseline="30000">
                  <a:solidFill>
                    <a:schemeClr val="tx1"/>
                  </a:solidFill>
                  <a:latin typeface="Times New Roman" panose="02020603050405020304" pitchFamily="18" charset="0"/>
                </a:rPr>
                <a:t>/2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0" name="Text Box 24"/>
            <p:cNvSpPr txBox="1">
              <a:spLocks noChangeArrowheads="1"/>
            </p:cNvSpPr>
            <p:nvPr/>
          </p:nvSpPr>
          <p:spPr bwMode="auto">
            <a:xfrm>
              <a:off x="4224" y="2064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)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83322" name="Text Box 26"/>
          <p:cNvSpPr txBox="1">
            <a:spLocks noChangeArrowheads="1"/>
          </p:cNvSpPr>
          <p:nvPr/>
        </p:nvSpPr>
        <p:spPr bwMode="auto">
          <a:xfrm>
            <a:off x="123825" y="6237288"/>
            <a:ext cx="901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rgbClr val="FF3300"/>
                </a:solidFill>
              </a:rPr>
              <a:t>To what value does the FS converge at the point of discontinuity?</a:t>
            </a:r>
          </a:p>
        </p:txBody>
      </p:sp>
      <p:sp>
        <p:nvSpPr>
          <p:cNvPr id="15368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B5BFB5-F0F0-4605-91BE-7603AA5F5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420" y="946150"/>
            <a:ext cx="5162550" cy="4152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CCA3AE-86FE-4EB1-AB40-F2A4ED135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907" y="5251450"/>
            <a:ext cx="6448425" cy="971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5088"/>
            <a:ext cx="9144000" cy="673100"/>
          </a:xfrm>
        </p:spPr>
        <p:txBody>
          <a:bodyPr/>
          <a:lstStyle/>
          <a:p>
            <a:pPr eaLnBrk="1" hangingPunct="1"/>
            <a:r>
              <a:rPr lang="en-US" altLang="en-US" sz="3400"/>
              <a:t>Simplifications Through Signal Symmetry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9706" y="3289094"/>
            <a:ext cx="8764588" cy="2561783"/>
          </a:xfrm>
        </p:spPr>
        <p:txBody>
          <a:bodyPr/>
          <a:lstStyle/>
          <a:p>
            <a:pPr eaLnBrk="1" hangingPunct="1"/>
            <a:r>
              <a:rPr lang="en-US" altLang="en-US" sz="2800" b="0" dirty="0">
                <a:solidFill>
                  <a:schemeClr val="tx1"/>
                </a:solidFill>
              </a:rPr>
              <a:t>If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0" dirty="0">
                <a:solidFill>
                  <a:schemeClr val="tx1"/>
                </a:solidFill>
              </a:rPr>
              <a:t> is EVEN: It must contain Cosine Terms and it may contain DC. Hence </a:t>
            </a:r>
            <a:r>
              <a:rPr lang="en-US" altLang="en-US" sz="28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en-US" sz="2800" b="0" dirty="0">
                <a:solidFill>
                  <a:schemeClr val="tx1"/>
                </a:solidFill>
              </a:rPr>
              <a:t>.</a:t>
            </a:r>
          </a:p>
          <a:p>
            <a:pPr eaLnBrk="1" hangingPunct="1"/>
            <a:endParaRPr lang="en-US" altLang="en-US" sz="2800" b="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800" b="0" dirty="0">
                <a:solidFill>
                  <a:schemeClr val="tx1"/>
                </a:solidFill>
              </a:rPr>
              <a:t>If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0" dirty="0">
                <a:solidFill>
                  <a:schemeClr val="tx1"/>
                </a:solidFill>
              </a:rPr>
              <a:t> is ODD: It must contain ONLY Sines Terms. Hence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en-US" altLang="en-US" sz="2800" b="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3796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D086CD0F-D9AB-41E9-BC31-C8B4F4E1E205}"/>
                  </a:ext>
                </a:extLst>
              </p:cNvPr>
              <p:cNvSpPr txBox="1"/>
              <p:nvPr/>
            </p:nvSpPr>
            <p:spPr bwMode="auto">
              <a:xfrm>
                <a:off x="657148" y="1140093"/>
                <a:ext cx="7988087" cy="15243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2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280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D086CD0F-D9AB-41E9-BC31-C8B4F4E1E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148" y="1140093"/>
                <a:ext cx="7988087" cy="15243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130300"/>
            <a:ext cx="8432800" cy="52578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2800" b="0" dirty="0">
                <a:solidFill>
                  <a:schemeClr val="tx1"/>
                </a:solidFill>
              </a:rPr>
              <a:t>A periodic signal </a:t>
            </a:r>
            <a:r>
              <a:rPr lang="en-US" sz="28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),</a:t>
            </a:r>
            <a:r>
              <a:rPr lang="en-US" sz="2800" b="0" dirty="0">
                <a:solidFill>
                  <a:schemeClr val="tx1"/>
                </a:solidFill>
              </a:rPr>
              <a:t> has a Fourier series if it satisfies the following conditions:</a:t>
            </a:r>
          </a:p>
          <a:p>
            <a:pPr marL="609600" indent="-609600" eaLnBrk="1" hangingPunct="1">
              <a:buFontTx/>
              <a:buAutoNum type="arabicPeriod"/>
              <a:defRPr/>
            </a:pPr>
            <a:r>
              <a:rPr lang="en-US" sz="28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0" dirty="0">
                <a:solidFill>
                  <a:schemeClr val="tx1"/>
                </a:solidFill>
              </a:rPr>
              <a:t> is </a:t>
            </a:r>
            <a:r>
              <a:rPr lang="en-US" sz="2800" dirty="0">
                <a:solidFill>
                  <a:schemeClr val="tx1"/>
                </a:solidFill>
              </a:rPr>
              <a:t>absolutely integrable </a:t>
            </a:r>
            <a:r>
              <a:rPr lang="en-US" sz="2800" b="0" dirty="0">
                <a:solidFill>
                  <a:schemeClr val="tx1"/>
                </a:solidFill>
              </a:rPr>
              <a:t>over any period, namely </a:t>
            </a:r>
          </a:p>
          <a:p>
            <a:pPr marL="609600" indent="-609600" eaLnBrk="1" hangingPunct="1">
              <a:buFontTx/>
              <a:buAutoNum type="arabicPeriod"/>
              <a:defRPr/>
            </a:pPr>
            <a:endParaRPr lang="en-US" sz="2800" b="0" dirty="0">
              <a:solidFill>
                <a:schemeClr val="tx1"/>
              </a:solidFill>
            </a:endParaRPr>
          </a:p>
          <a:p>
            <a:pPr marL="609600" indent="-609600" eaLnBrk="1" hangingPunct="1">
              <a:buFontTx/>
              <a:buAutoNum type="arabicPeriod"/>
              <a:defRPr/>
            </a:pPr>
            <a:endParaRPr lang="en-US" sz="2800" b="0" dirty="0">
              <a:solidFill>
                <a:schemeClr val="tx1"/>
              </a:solidFill>
            </a:endParaRPr>
          </a:p>
          <a:p>
            <a:pPr marL="609600" indent="-609600" eaLnBrk="1" hangingPunct="1">
              <a:buFontTx/>
              <a:buAutoNum type="arabicPeriod"/>
              <a:defRPr/>
            </a:pPr>
            <a:r>
              <a:rPr lang="en-US" sz="28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0" dirty="0">
                <a:solidFill>
                  <a:schemeClr val="tx1"/>
                </a:solidFill>
              </a:rPr>
              <a:t> has only a </a:t>
            </a:r>
            <a:r>
              <a:rPr lang="en-US" sz="2800" dirty="0">
                <a:solidFill>
                  <a:schemeClr val="tx1"/>
                </a:solidFill>
              </a:rPr>
              <a:t>finite number of maxima and minima</a:t>
            </a:r>
            <a:r>
              <a:rPr lang="en-US" sz="2800" b="0" dirty="0">
                <a:solidFill>
                  <a:schemeClr val="tx1"/>
                </a:solidFill>
              </a:rPr>
              <a:t> over any period</a:t>
            </a:r>
          </a:p>
          <a:p>
            <a:pPr marL="609600" indent="-609600" eaLnBrk="1" hangingPunct="1">
              <a:buFontTx/>
              <a:buAutoNum type="arabicPeriod"/>
              <a:defRPr/>
            </a:pPr>
            <a:r>
              <a:rPr lang="en-US" sz="28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b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b="0" dirty="0">
                <a:solidFill>
                  <a:schemeClr val="tx1"/>
                </a:solidFill>
              </a:rPr>
              <a:t> has only a </a:t>
            </a:r>
            <a:r>
              <a:rPr lang="en-US" sz="2800" dirty="0">
                <a:solidFill>
                  <a:schemeClr val="tx1"/>
                </a:solidFill>
              </a:rPr>
              <a:t>finite number of discontinuities</a:t>
            </a:r>
            <a:r>
              <a:rPr lang="en-US" sz="2800" b="0" dirty="0">
                <a:solidFill>
                  <a:schemeClr val="tx1"/>
                </a:solidFill>
              </a:rPr>
              <a:t> over any period</a:t>
            </a:r>
          </a:p>
        </p:txBody>
      </p:sp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927100" y="139700"/>
            <a:ext cx="73914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1C03D7"/>
                </a:solidFill>
              </a:rPr>
              <a:t>Dirichlet Conditions</a:t>
            </a:r>
          </a:p>
        </p:txBody>
      </p:sp>
      <p:graphicFrame>
        <p:nvGraphicFramePr>
          <p:cNvPr id="16388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2959100" y="2735263"/>
          <a:ext cx="2578100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447" imgH="393529" progId="Equation.3">
                  <p:embed/>
                </p:oleObj>
              </mc:Choice>
              <mc:Fallback>
                <p:oleObj name="Equation" r:id="rId3" imgW="812447" imgH="393529" progId="Equation.3">
                  <p:embed/>
                  <p:pic>
                    <p:nvPicPr>
                      <p:cNvPr id="1638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735263"/>
                        <a:ext cx="2578100" cy="124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5100" y="838200"/>
            <a:ext cx="8826500" cy="3695700"/>
          </a:xfrm>
        </p:spPr>
        <p:txBody>
          <a:bodyPr/>
          <a:lstStyle/>
          <a:p>
            <a:pPr eaLnBrk="1" hangingPunct="1"/>
            <a:r>
              <a:rPr lang="en-US" altLang="en-US" sz="2400">
                <a:solidFill>
                  <a:srgbClr val="1C03D7"/>
                </a:solidFill>
              </a:rPr>
              <a:t>Using single sinusoid, </a:t>
            </a:r>
          </a:p>
          <a:p>
            <a:pPr eaLnBrk="1" hangingPunct="1">
              <a:buFontTx/>
              <a:buNone/>
            </a:pPr>
            <a:endParaRPr lang="en-US" altLang="en-US" sz="2400">
              <a:solidFill>
                <a:srgbClr val="1C03D7"/>
              </a:solidFill>
            </a:endParaRPr>
          </a:p>
          <a:p>
            <a:pPr eaLnBrk="1" hangingPunct="1">
              <a:buFontTx/>
              <a:buNone/>
            </a:pPr>
            <a:endParaRPr lang="en-US" altLang="en-US" sz="2400">
              <a:solidFill>
                <a:srgbClr val="1C03D7"/>
              </a:solidFill>
            </a:endParaRPr>
          </a:p>
          <a:p>
            <a:pPr eaLnBrk="1" hangingPunct="1"/>
            <a:endParaRPr lang="en-US" altLang="en-US" sz="2400">
              <a:solidFill>
                <a:srgbClr val="1C03D7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24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buFontTx/>
              <a:buNone/>
            </a:pPr>
            <a:endParaRPr lang="en-US" altLang="en-US" sz="2400">
              <a:solidFill>
                <a:srgbClr val="1C03D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4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en-US" sz="26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related to the trigonometric coefficients </a:t>
            </a:r>
            <a:r>
              <a:rPr lang="en-US" altLang="en-US" sz="2600" i="1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600" baseline="-250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6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600" i="1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600" i="1" baseline="-250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6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as: </a:t>
            </a:r>
          </a:p>
          <a:p>
            <a:pPr eaLnBrk="1" hangingPunct="1"/>
            <a:endParaRPr lang="en-US" altLang="en-US" sz="2600">
              <a:solidFill>
                <a:srgbClr val="1C03D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Object 10"/>
              <p:cNvSpPr txBox="1">
                <a:spLocks noGrp="1"/>
              </p:cNvSpPr>
              <p:nvPr>
                <p:ph sz="quarter" idx="2"/>
              </p:nvPr>
            </p:nvSpPr>
            <p:spPr bwMode="auto">
              <a:xfrm>
                <a:off x="719138" y="1101725"/>
                <a:ext cx="7246937" cy="1481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dc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component</m:t>
                          </m:r>
                        </m:lim>
                      </m:limLow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limLow>
                            <m:limLow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l-GR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𝑛𝑡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nth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harmonic</m:t>
                              </m:r>
                            </m:lim>
                          </m:limLow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41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719138" y="1101725"/>
                <a:ext cx="7246937" cy="14811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412" name="Object 1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7200" y="2741613"/>
          <a:ext cx="1219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228501" progId="Equation.3">
                  <p:embed/>
                </p:oleObj>
              </mc:Choice>
              <mc:Fallback>
                <p:oleObj name="Equation" r:id="rId5" imgW="482391" imgH="228501" progId="Equation.3">
                  <p:embed/>
                  <p:pic>
                    <p:nvPicPr>
                      <p:cNvPr id="1741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741613"/>
                        <a:ext cx="12192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16"/>
          <p:cNvGraphicFramePr>
            <a:graphicFrameLocks noChangeAspect="1"/>
          </p:cNvGraphicFramePr>
          <p:nvPr/>
        </p:nvGraphicFramePr>
        <p:xfrm>
          <a:off x="530225" y="3479800"/>
          <a:ext cx="15049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7700" imgH="228600" progId="Equation.3">
                  <p:embed/>
                </p:oleObj>
              </mc:Choice>
              <mc:Fallback>
                <p:oleObj name="Equation" r:id="rId7" imgW="647700" imgH="228600" progId="Equation.3">
                  <p:embed/>
                  <p:pic>
                    <p:nvPicPr>
                      <p:cNvPr id="1741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3479800"/>
                        <a:ext cx="15049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17"/>
          <p:cNvSpPr txBox="1">
            <a:spLocks noChangeArrowheads="1"/>
          </p:cNvSpPr>
          <p:nvPr/>
        </p:nvSpPr>
        <p:spPr bwMode="auto">
          <a:xfrm>
            <a:off x="4114800" y="4533900"/>
            <a:ext cx="725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and</a:t>
            </a:r>
          </a:p>
        </p:txBody>
      </p:sp>
      <p:graphicFrame>
        <p:nvGraphicFramePr>
          <p:cNvPr id="17415" name="Object 18"/>
          <p:cNvGraphicFramePr>
            <a:graphicFrameLocks noChangeAspect="1"/>
          </p:cNvGraphicFramePr>
          <p:nvPr/>
        </p:nvGraphicFramePr>
        <p:xfrm>
          <a:off x="854075" y="4330700"/>
          <a:ext cx="27178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90170" imgH="304668" progId="Equation.3">
                  <p:embed/>
                </p:oleObj>
              </mc:Choice>
              <mc:Fallback>
                <p:oleObj name="Equation" r:id="rId9" imgW="990170" imgH="304668" progId="Equation.3">
                  <p:embed/>
                  <p:pic>
                    <p:nvPicPr>
                      <p:cNvPr id="1741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075" y="4330700"/>
                        <a:ext cx="2717800" cy="836613"/>
                      </a:xfrm>
                      <a:prstGeom prst="rect">
                        <a:avLst/>
                      </a:prstGeom>
                      <a:solidFill>
                        <a:srgbClr val="FFFACD"/>
                      </a:solidFill>
                      <a:ln w="9525">
                        <a:solidFill>
                          <a:srgbClr val="FFFACD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19"/>
          <p:cNvGraphicFramePr>
            <a:graphicFrameLocks noChangeAspect="1"/>
          </p:cNvGraphicFramePr>
          <p:nvPr/>
        </p:nvGraphicFramePr>
        <p:xfrm>
          <a:off x="5346700" y="4178300"/>
          <a:ext cx="26670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54100" imgH="482600" progId="Equation.3">
                  <p:embed/>
                </p:oleObj>
              </mc:Choice>
              <mc:Fallback>
                <p:oleObj name="Equation" r:id="rId11" imgW="1054100" imgH="482600" progId="Equation.3">
                  <p:embed/>
                  <p:pic>
                    <p:nvPicPr>
                      <p:cNvPr id="1741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700" y="4178300"/>
                        <a:ext cx="2667000" cy="1220788"/>
                      </a:xfrm>
                      <a:prstGeom prst="rect">
                        <a:avLst/>
                      </a:prstGeom>
                      <a:solidFill>
                        <a:srgbClr val="FFFACD"/>
                      </a:solidFill>
                      <a:ln w="9525">
                        <a:solidFill>
                          <a:srgbClr val="FFFACD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927100" y="74613"/>
            <a:ext cx="73914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1C03D7"/>
                </a:solidFill>
              </a:rPr>
              <a:t>Compact Trigonometric Form</a:t>
            </a:r>
          </a:p>
        </p:txBody>
      </p:sp>
      <p:sp>
        <p:nvSpPr>
          <p:cNvPr id="17418" name="Text Box 22"/>
          <p:cNvSpPr txBox="1">
            <a:spLocks noChangeArrowheads="1"/>
          </p:cNvSpPr>
          <p:nvPr/>
        </p:nvSpPr>
        <p:spPr bwMode="auto">
          <a:xfrm>
            <a:off x="106363" y="5387975"/>
            <a:ext cx="8880475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The above relationships are obtained from the trigonometric identity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                    </a:t>
            </a:r>
            <a:r>
              <a:rPr lang="en-US" altLang="en-US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cos(</a:t>
            </a:r>
            <a:r>
              <a:rPr lang="en-US" altLang="en-US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en-US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sin(</a:t>
            </a:r>
            <a:r>
              <a:rPr lang="en-US" altLang="en-US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cos(</a:t>
            </a:r>
            <a:r>
              <a:rPr lang="en-US" altLang="en-US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en-US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7419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1" name="Object 10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724946174"/>
              </p:ext>
            </p:extLst>
          </p:nvPr>
        </p:nvGraphicFramePr>
        <p:xfrm>
          <a:off x="325787" y="4372570"/>
          <a:ext cx="7246937" cy="148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61960" imgH="482400" progId="Equation.3">
                  <p:embed/>
                </p:oleObj>
              </mc:Choice>
              <mc:Fallback>
                <p:oleObj name="Equation" r:id="rId3" imgW="2361960" imgH="482400" progId="Equation.3">
                  <p:embed/>
                  <p:pic>
                    <p:nvPicPr>
                      <p:cNvPr id="174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87" y="4372570"/>
                        <a:ext cx="7246937" cy="148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13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456473773"/>
              </p:ext>
            </p:extLst>
          </p:nvPr>
        </p:nvGraphicFramePr>
        <p:xfrm>
          <a:off x="356998" y="3149120"/>
          <a:ext cx="12192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228501" progId="Equation.3">
                  <p:embed/>
                </p:oleObj>
              </mc:Choice>
              <mc:Fallback>
                <p:oleObj name="Equation" r:id="rId5" imgW="482391" imgH="228501" progId="Equation.3">
                  <p:embed/>
                  <p:pic>
                    <p:nvPicPr>
                      <p:cNvPr id="1741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998" y="3149120"/>
                        <a:ext cx="12192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350888"/>
              </p:ext>
            </p:extLst>
          </p:nvPr>
        </p:nvGraphicFramePr>
        <p:xfrm>
          <a:off x="2700375" y="3030196"/>
          <a:ext cx="27178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90170" imgH="304668" progId="Equation.3">
                  <p:embed/>
                </p:oleObj>
              </mc:Choice>
              <mc:Fallback>
                <p:oleObj name="Equation" r:id="rId7" imgW="990170" imgH="304668" progId="Equation.3">
                  <p:embed/>
                  <p:pic>
                    <p:nvPicPr>
                      <p:cNvPr id="1741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75" y="3030196"/>
                        <a:ext cx="2717800" cy="836613"/>
                      </a:xfrm>
                      <a:prstGeom prst="rect">
                        <a:avLst/>
                      </a:prstGeom>
                      <a:solidFill>
                        <a:srgbClr val="FFFACD"/>
                      </a:solidFill>
                      <a:ln w="9525">
                        <a:solidFill>
                          <a:srgbClr val="FFFACD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215707"/>
              </p:ext>
            </p:extLst>
          </p:nvPr>
        </p:nvGraphicFramePr>
        <p:xfrm>
          <a:off x="6239224" y="2849851"/>
          <a:ext cx="26670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54100" imgH="482600" progId="Equation.3">
                  <p:embed/>
                </p:oleObj>
              </mc:Choice>
              <mc:Fallback>
                <p:oleObj name="Equation" r:id="rId9" imgW="1054100" imgH="482600" progId="Equation.3">
                  <p:embed/>
                  <p:pic>
                    <p:nvPicPr>
                      <p:cNvPr id="1741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9224" y="2849851"/>
                        <a:ext cx="2667000" cy="1220788"/>
                      </a:xfrm>
                      <a:prstGeom prst="rect">
                        <a:avLst/>
                      </a:prstGeom>
                      <a:solidFill>
                        <a:srgbClr val="FFFACD"/>
                      </a:solidFill>
                      <a:ln w="9525">
                        <a:solidFill>
                          <a:srgbClr val="FFFACD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927100" y="74613"/>
            <a:ext cx="73914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1C03D7"/>
                </a:solidFill>
              </a:rPr>
              <a:t>Compact Trigonometric Form</a:t>
            </a:r>
          </a:p>
        </p:txBody>
      </p:sp>
      <p:sp>
        <p:nvSpPr>
          <p:cNvPr id="17418" name="Text Box 22"/>
          <p:cNvSpPr txBox="1">
            <a:spLocks noChangeArrowheads="1"/>
          </p:cNvSpPr>
          <p:nvPr/>
        </p:nvSpPr>
        <p:spPr bwMode="auto">
          <a:xfrm>
            <a:off x="210953" y="6155639"/>
            <a:ext cx="88804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cos(</a:t>
            </a:r>
            <a:r>
              <a:rPr lang="en-US" alt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sin(</a:t>
            </a:r>
            <a:r>
              <a:rPr lang="en-US" alt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cos(</a:t>
            </a:r>
            <a:r>
              <a:rPr lang="en-US" alt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7419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BCFEFBEA-573C-4121-B304-B119111CA21F}"/>
                  </a:ext>
                </a:extLst>
              </p:cNvPr>
              <p:cNvSpPr txBox="1"/>
              <p:nvPr/>
            </p:nvSpPr>
            <p:spPr bwMode="auto">
              <a:xfrm>
                <a:off x="657148" y="1140093"/>
                <a:ext cx="7988087" cy="15243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28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𝑛𝑡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280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𝑛𝑡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BCFEFBEA-573C-4121-B304-B119111CA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148" y="1140093"/>
                <a:ext cx="7988087" cy="152435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D1F4D23-D0B2-487E-B7FA-6011937853D5}"/>
              </a:ext>
            </a:extLst>
          </p:cNvPr>
          <p:cNvCxnSpPr/>
          <p:nvPr/>
        </p:nvCxnSpPr>
        <p:spPr>
          <a:xfrm flipH="1">
            <a:off x="1404413" y="2094709"/>
            <a:ext cx="525015" cy="1139479"/>
          </a:xfrm>
          <a:prstGeom prst="straightConnector1">
            <a:avLst/>
          </a:prstGeom>
          <a:ln w="12700">
            <a:solidFill>
              <a:srgbClr val="1C03D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657D92-46B5-4945-B7DF-202409790F4A}"/>
              </a:ext>
            </a:extLst>
          </p:cNvPr>
          <p:cNvCxnSpPr>
            <a:cxnSpLocks/>
          </p:cNvCxnSpPr>
          <p:nvPr/>
        </p:nvCxnSpPr>
        <p:spPr>
          <a:xfrm>
            <a:off x="625642" y="3661975"/>
            <a:ext cx="1401701" cy="1203377"/>
          </a:xfrm>
          <a:prstGeom prst="straightConnector1">
            <a:avLst/>
          </a:prstGeom>
          <a:ln w="12700">
            <a:solidFill>
              <a:srgbClr val="1C03D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431065-CC6A-463D-ACD4-07F665992D77}"/>
              </a:ext>
            </a:extLst>
          </p:cNvPr>
          <p:cNvCxnSpPr>
            <a:cxnSpLocks/>
          </p:cNvCxnSpPr>
          <p:nvPr/>
        </p:nvCxnSpPr>
        <p:spPr>
          <a:xfrm>
            <a:off x="3429793" y="2094708"/>
            <a:ext cx="897200" cy="945758"/>
          </a:xfrm>
          <a:prstGeom prst="straightConnector1">
            <a:avLst/>
          </a:prstGeom>
          <a:ln w="12700">
            <a:solidFill>
              <a:srgbClr val="1C03D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92572A-953C-4955-85C5-832738C6EA7E}"/>
              </a:ext>
            </a:extLst>
          </p:cNvPr>
          <p:cNvCxnSpPr>
            <a:cxnSpLocks/>
          </p:cNvCxnSpPr>
          <p:nvPr/>
        </p:nvCxnSpPr>
        <p:spPr>
          <a:xfrm flipH="1">
            <a:off x="4326993" y="2159935"/>
            <a:ext cx="1982776" cy="865179"/>
          </a:xfrm>
          <a:prstGeom prst="straightConnector1">
            <a:avLst/>
          </a:prstGeom>
          <a:ln w="12700">
            <a:solidFill>
              <a:srgbClr val="1C03D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4EACDD-FDFA-44BC-BC37-BE191B11820E}"/>
              </a:ext>
            </a:extLst>
          </p:cNvPr>
          <p:cNvCxnSpPr>
            <a:cxnSpLocks/>
          </p:cNvCxnSpPr>
          <p:nvPr/>
        </p:nvCxnSpPr>
        <p:spPr>
          <a:xfrm>
            <a:off x="2913818" y="3732979"/>
            <a:ext cx="1295047" cy="1016470"/>
          </a:xfrm>
          <a:prstGeom prst="straightConnector1">
            <a:avLst/>
          </a:prstGeom>
          <a:ln w="12700">
            <a:solidFill>
              <a:srgbClr val="1C03D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F78655-7117-474D-A9AD-9A8901022D0B}"/>
              </a:ext>
            </a:extLst>
          </p:cNvPr>
          <p:cNvCxnSpPr>
            <a:cxnSpLocks/>
            <a:endCxn id="17416" idx="0"/>
          </p:cNvCxnSpPr>
          <p:nvPr/>
        </p:nvCxnSpPr>
        <p:spPr>
          <a:xfrm>
            <a:off x="3424561" y="2099601"/>
            <a:ext cx="4148163" cy="750250"/>
          </a:xfrm>
          <a:prstGeom prst="straightConnector1">
            <a:avLst/>
          </a:prstGeom>
          <a:ln w="12700">
            <a:solidFill>
              <a:srgbClr val="1C03D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1D9183A-FE97-4245-951B-4E4A0F5E6B68}"/>
              </a:ext>
            </a:extLst>
          </p:cNvPr>
          <p:cNvCxnSpPr>
            <a:cxnSpLocks/>
            <a:endCxn id="17416" idx="0"/>
          </p:cNvCxnSpPr>
          <p:nvPr/>
        </p:nvCxnSpPr>
        <p:spPr>
          <a:xfrm>
            <a:off x="6309768" y="2170570"/>
            <a:ext cx="1262956" cy="679281"/>
          </a:xfrm>
          <a:prstGeom prst="straightConnector1">
            <a:avLst/>
          </a:prstGeom>
          <a:ln w="12700">
            <a:solidFill>
              <a:srgbClr val="1C03D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0DDA416-B847-4216-BC13-48418AA60719}"/>
              </a:ext>
            </a:extLst>
          </p:cNvPr>
          <p:cNvCxnSpPr>
            <a:cxnSpLocks/>
          </p:cNvCxnSpPr>
          <p:nvPr/>
        </p:nvCxnSpPr>
        <p:spPr>
          <a:xfrm>
            <a:off x="6353715" y="3755422"/>
            <a:ext cx="720853" cy="1025812"/>
          </a:xfrm>
          <a:prstGeom prst="straightConnector1">
            <a:avLst/>
          </a:prstGeom>
          <a:ln w="12700">
            <a:solidFill>
              <a:srgbClr val="1C03D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130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9"/>
          <p:cNvSpPr>
            <a:spLocks noChangeArrowheads="1"/>
          </p:cNvSpPr>
          <p:nvPr/>
        </p:nvSpPr>
        <p:spPr bwMode="auto">
          <a:xfrm>
            <a:off x="88900" y="74613"/>
            <a:ext cx="89535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1C03D7"/>
                </a:solidFill>
              </a:rPr>
              <a:t>Role of Amplitude in Shaping Waveform</a:t>
            </a:r>
          </a:p>
        </p:txBody>
      </p:sp>
      <p:graphicFrame>
        <p:nvGraphicFramePr>
          <p:cNvPr id="18436" name="Object 1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44985919"/>
              </p:ext>
            </p:extLst>
          </p:nvPr>
        </p:nvGraphicFramePr>
        <p:xfrm>
          <a:off x="4249738" y="1257300"/>
          <a:ext cx="489426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1840" imgH="431640" progId="Equation.3">
                  <p:embed/>
                </p:oleObj>
              </mc:Choice>
              <mc:Fallback>
                <p:oleObj name="Equation" r:id="rId3" imgW="2031840" imgH="431640" progId="Equation.3">
                  <p:embed/>
                  <p:pic>
                    <p:nvPicPr>
                      <p:cNvPr id="1843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8" y="1257300"/>
                        <a:ext cx="4894262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9" y="912064"/>
            <a:ext cx="3950773" cy="58871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150813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100">
                <a:solidFill>
                  <a:srgbClr val="1C03D7"/>
                </a:solidFill>
              </a:rPr>
              <a:t>Role of the Phase in Shaping a Periodic Signal</a:t>
            </a:r>
          </a:p>
        </p:txBody>
      </p:sp>
      <p:graphicFrame>
        <p:nvGraphicFramePr>
          <p:cNvPr id="19460" name="Object 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795998680"/>
              </p:ext>
            </p:extLst>
          </p:nvPr>
        </p:nvGraphicFramePr>
        <p:xfrm>
          <a:off x="112713" y="917575"/>
          <a:ext cx="489426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1840" imgH="431640" progId="Equation.3">
                  <p:embed/>
                </p:oleObj>
              </mc:Choice>
              <mc:Fallback>
                <p:oleObj name="Equation" r:id="rId3" imgW="2031840" imgH="431640" progId="Equation.3">
                  <p:embed/>
                  <p:pic>
                    <p:nvPicPr>
                      <p:cNvPr id="1946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3" y="917575"/>
                        <a:ext cx="4894262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648" y="1991933"/>
            <a:ext cx="6174304" cy="43029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895" y="6448022"/>
            <a:ext cx="6578295" cy="3799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600"/>
              <a:t>Compact Trigonometric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1300" y="2851725"/>
            <a:ext cx="4254500" cy="2354257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1C03D7"/>
                </a:solidFill>
              </a:rPr>
              <a:t>Fundamental period</a:t>
            </a:r>
          </a:p>
          <a:p>
            <a:pPr lvl="1" eaLnBrk="1" hangingPunct="1">
              <a:buFontTx/>
              <a:buNone/>
            </a:pPr>
            <a:r>
              <a:rPr lang="en-US" altLang="en-US" sz="2400" i="1" dirty="0">
                <a:solidFill>
                  <a:schemeClr val="tx1"/>
                </a:solidFill>
              </a:rPr>
              <a:t>T</a:t>
            </a:r>
            <a:r>
              <a:rPr lang="en-US" altLang="en-US" sz="2400" baseline="-25000" dirty="0">
                <a:solidFill>
                  <a:schemeClr val="tx1"/>
                </a:solidFill>
              </a:rPr>
              <a:t>0</a:t>
            </a:r>
            <a:r>
              <a:rPr lang="en-US" altLang="en-US" sz="2400" dirty="0">
                <a:solidFill>
                  <a:schemeClr val="tx1"/>
                </a:solidFill>
              </a:rPr>
              <a:t> = </a:t>
            </a:r>
            <a:r>
              <a:rPr lang="en-US" altLang="en-US" sz="2400" dirty="0">
                <a:solidFill>
                  <a:schemeClr val="tx1"/>
                </a:solidFill>
                <a:latin typeface="Symbol" panose="05050102010706020507" pitchFamily="18" charset="2"/>
              </a:rPr>
              <a:t>p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400" dirty="0">
                <a:solidFill>
                  <a:srgbClr val="1C03D7"/>
                </a:solidFill>
              </a:rPr>
              <a:t>Fundamental frequency</a:t>
            </a:r>
          </a:p>
          <a:p>
            <a:pPr lvl="1" eaLnBrk="1" hangingPunct="1">
              <a:buFontTx/>
              <a:buNone/>
            </a:pPr>
            <a:r>
              <a:rPr lang="en-US" altLang="en-US" sz="2400" i="1" dirty="0">
                <a:solidFill>
                  <a:schemeClr val="tx1"/>
                </a:solidFill>
              </a:rPr>
              <a:t>f</a:t>
            </a:r>
            <a:r>
              <a:rPr lang="en-US" altLang="en-US" sz="2400" baseline="-25000" dirty="0">
                <a:solidFill>
                  <a:schemeClr val="tx1"/>
                </a:solidFill>
              </a:rPr>
              <a:t>0</a:t>
            </a:r>
            <a:r>
              <a:rPr lang="en-US" altLang="en-US" sz="2400" dirty="0">
                <a:solidFill>
                  <a:schemeClr val="tx1"/>
                </a:solidFill>
              </a:rPr>
              <a:t> = 1/</a:t>
            </a:r>
            <a:r>
              <a:rPr lang="en-US" altLang="en-US" sz="2400" i="1" dirty="0">
                <a:solidFill>
                  <a:schemeClr val="tx1"/>
                </a:solidFill>
              </a:rPr>
              <a:t>T</a:t>
            </a:r>
            <a:r>
              <a:rPr lang="en-US" altLang="en-US" sz="2400" baseline="-25000" dirty="0">
                <a:solidFill>
                  <a:schemeClr val="tx1"/>
                </a:solidFill>
              </a:rPr>
              <a:t>0</a:t>
            </a:r>
            <a:r>
              <a:rPr lang="en-US" altLang="en-US" sz="2400" dirty="0">
                <a:solidFill>
                  <a:schemeClr val="tx1"/>
                </a:solidFill>
              </a:rPr>
              <a:t> = 1/</a:t>
            </a:r>
            <a:r>
              <a:rPr lang="en-US" altLang="en-US" sz="2400" dirty="0">
                <a:solidFill>
                  <a:schemeClr val="tx1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</a:rPr>
              <a:t> Hz</a:t>
            </a:r>
          </a:p>
          <a:p>
            <a:pPr lvl="1" eaLnBrk="1" hangingPunct="1">
              <a:buFontTx/>
              <a:buNone/>
            </a:pPr>
            <a:r>
              <a:rPr lang="en-US" altLang="en-US" sz="2400" i="1" dirty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2400" baseline="-25000" dirty="0">
                <a:solidFill>
                  <a:schemeClr val="tx1"/>
                </a:solidFill>
              </a:rPr>
              <a:t>0</a:t>
            </a:r>
            <a:r>
              <a:rPr lang="en-US" altLang="en-US" sz="2400" dirty="0">
                <a:solidFill>
                  <a:schemeClr val="tx1"/>
                </a:solidFill>
              </a:rPr>
              <a:t> = 2</a:t>
            </a:r>
            <a:r>
              <a:rPr lang="en-US" altLang="en-US" sz="2400" dirty="0">
                <a:solidFill>
                  <a:schemeClr val="tx1"/>
                </a:solidFill>
                <a:latin typeface="Symbol" panose="05050102010706020507" pitchFamily="18" charset="2"/>
              </a:rPr>
              <a:t>p</a:t>
            </a:r>
            <a:r>
              <a:rPr lang="en-US" altLang="en-US" sz="2400" dirty="0">
                <a:solidFill>
                  <a:schemeClr val="tx1"/>
                </a:solidFill>
              </a:rPr>
              <a:t>/</a:t>
            </a:r>
            <a:r>
              <a:rPr lang="en-US" altLang="en-US" sz="2400" i="1" dirty="0">
                <a:solidFill>
                  <a:schemeClr val="tx1"/>
                </a:solidFill>
              </a:rPr>
              <a:t>T</a:t>
            </a:r>
            <a:r>
              <a:rPr lang="en-US" altLang="en-US" sz="2400" baseline="-25000" dirty="0">
                <a:solidFill>
                  <a:schemeClr val="tx1"/>
                </a:solidFill>
              </a:rPr>
              <a:t>0</a:t>
            </a:r>
            <a:r>
              <a:rPr lang="en-US" altLang="en-US" sz="2400" dirty="0">
                <a:solidFill>
                  <a:schemeClr val="tx1"/>
                </a:solidFill>
              </a:rPr>
              <a:t> = 2 rad/s</a:t>
            </a:r>
            <a:endParaRPr lang="en-US" altLang="en-US" sz="2400" dirty="0"/>
          </a:p>
          <a:p>
            <a:pPr eaLnBrk="1" hangingPunct="1"/>
            <a:endParaRPr lang="en-US" altLang="en-US" sz="2400" dirty="0"/>
          </a:p>
        </p:txBody>
      </p:sp>
      <p:grpSp>
        <p:nvGrpSpPr>
          <p:cNvPr id="20485" name="Group 5"/>
          <p:cNvGrpSpPr>
            <a:grpSpLocks/>
          </p:cNvGrpSpPr>
          <p:nvPr/>
        </p:nvGrpSpPr>
        <p:grpSpPr bwMode="auto">
          <a:xfrm>
            <a:off x="381000" y="1124525"/>
            <a:ext cx="3124200" cy="1631950"/>
            <a:chOff x="3360" y="2064"/>
            <a:chExt cx="1968" cy="1028"/>
          </a:xfrm>
        </p:grpSpPr>
        <p:sp>
          <p:nvSpPr>
            <p:cNvPr id="20488" name="Line 6"/>
            <p:cNvSpPr>
              <a:spLocks noChangeShapeType="1"/>
            </p:cNvSpPr>
            <p:nvPr/>
          </p:nvSpPr>
          <p:spPr bwMode="auto">
            <a:xfrm>
              <a:off x="4320" y="225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9" name="Line 7"/>
            <p:cNvSpPr>
              <a:spLocks noChangeShapeType="1"/>
            </p:cNvSpPr>
            <p:nvPr/>
          </p:nvSpPr>
          <p:spPr bwMode="auto">
            <a:xfrm>
              <a:off x="3408" y="2880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490" name="Group 8"/>
            <p:cNvGrpSpPr>
              <a:grpSpLocks/>
            </p:cNvGrpSpPr>
            <p:nvPr/>
          </p:nvGrpSpPr>
          <p:grpSpPr bwMode="auto">
            <a:xfrm>
              <a:off x="3360" y="2400"/>
              <a:ext cx="1920" cy="384"/>
              <a:chOff x="3360" y="2400"/>
              <a:chExt cx="1920" cy="384"/>
            </a:xfrm>
          </p:grpSpPr>
          <p:sp>
            <p:nvSpPr>
              <p:cNvPr id="20500" name="Freeform 9"/>
              <p:cNvSpPr>
                <a:spLocks/>
              </p:cNvSpPr>
              <p:nvPr/>
            </p:nvSpPr>
            <p:spPr bwMode="auto">
              <a:xfrm>
                <a:off x="432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1" name="Freeform 10"/>
              <p:cNvSpPr>
                <a:spLocks/>
              </p:cNvSpPr>
              <p:nvPr/>
            </p:nvSpPr>
            <p:spPr bwMode="auto">
              <a:xfrm>
                <a:off x="480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2" name="Freeform 11"/>
              <p:cNvSpPr>
                <a:spLocks/>
              </p:cNvSpPr>
              <p:nvPr/>
            </p:nvSpPr>
            <p:spPr bwMode="auto">
              <a:xfrm>
                <a:off x="384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3" name="Freeform 12"/>
              <p:cNvSpPr>
                <a:spLocks/>
              </p:cNvSpPr>
              <p:nvPr/>
            </p:nvSpPr>
            <p:spPr bwMode="auto">
              <a:xfrm>
                <a:off x="336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0504" name="AutoShape 13"/>
              <p:cNvCxnSpPr>
                <a:cxnSpLocks noChangeShapeType="1"/>
                <a:stCxn id="20502" idx="0"/>
                <a:endCxn id="20503" idx="2"/>
              </p:cNvCxnSpPr>
              <p:nvPr/>
            </p:nvCxnSpPr>
            <p:spPr bwMode="auto">
              <a:xfrm>
                <a:off x="3840" y="2400"/>
                <a:ext cx="0" cy="384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505" name="AutoShape 14"/>
              <p:cNvCxnSpPr>
                <a:cxnSpLocks noChangeShapeType="1"/>
                <a:stCxn id="20501" idx="0"/>
                <a:endCxn id="20500" idx="2"/>
              </p:cNvCxnSpPr>
              <p:nvPr/>
            </p:nvCxnSpPr>
            <p:spPr bwMode="auto">
              <a:xfrm>
                <a:off x="4800" y="2400"/>
                <a:ext cx="0" cy="384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506" name="AutoShape 15"/>
              <p:cNvCxnSpPr>
                <a:cxnSpLocks noChangeShapeType="1"/>
                <a:stCxn id="20500" idx="0"/>
                <a:endCxn id="20502" idx="2"/>
              </p:cNvCxnSpPr>
              <p:nvPr/>
            </p:nvCxnSpPr>
            <p:spPr bwMode="auto">
              <a:xfrm>
                <a:off x="4320" y="2400"/>
                <a:ext cx="0" cy="384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0491" name="Text Box 16"/>
            <p:cNvSpPr txBox="1">
              <a:spLocks noChangeArrowheads="1"/>
            </p:cNvSpPr>
            <p:nvPr/>
          </p:nvSpPr>
          <p:spPr bwMode="auto">
            <a:xfrm>
              <a:off x="4320" y="288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2" name="Line 17"/>
            <p:cNvSpPr>
              <a:spLocks noChangeShapeType="1"/>
            </p:cNvSpPr>
            <p:nvPr/>
          </p:nvSpPr>
          <p:spPr bwMode="auto">
            <a:xfrm>
              <a:off x="4800" y="28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3" name="Line 18"/>
            <p:cNvSpPr>
              <a:spLocks noChangeShapeType="1"/>
            </p:cNvSpPr>
            <p:nvPr/>
          </p:nvSpPr>
          <p:spPr bwMode="auto">
            <a:xfrm>
              <a:off x="3840" y="28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4" name="Text Box 19"/>
            <p:cNvSpPr txBox="1">
              <a:spLocks noChangeArrowheads="1"/>
            </p:cNvSpPr>
            <p:nvPr/>
          </p:nvSpPr>
          <p:spPr bwMode="auto">
            <a:xfrm>
              <a:off x="4752" y="288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Symbol" panose="05050102010706020507" pitchFamily="18" charset="2"/>
                </a:rPr>
                <a:t>p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5" name="Text Box 20"/>
            <p:cNvSpPr txBox="1">
              <a:spLocks noChangeArrowheads="1"/>
            </p:cNvSpPr>
            <p:nvPr/>
          </p:nvSpPr>
          <p:spPr bwMode="auto">
            <a:xfrm>
              <a:off x="3744" y="288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Symbol" panose="05050102010706020507" pitchFamily="18" charset="2"/>
                </a:rPr>
                <a:t>-p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6" name="Line 21"/>
            <p:cNvSpPr>
              <a:spLocks noChangeShapeType="1"/>
            </p:cNvSpPr>
            <p:nvPr/>
          </p:nvSpPr>
          <p:spPr bwMode="auto">
            <a:xfrm>
              <a:off x="4272" y="240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7" name="Text Box 22"/>
            <p:cNvSpPr txBox="1">
              <a:spLocks noChangeArrowheads="1"/>
            </p:cNvSpPr>
            <p:nvPr/>
          </p:nvSpPr>
          <p:spPr bwMode="auto">
            <a:xfrm>
              <a:off x="4128" y="2304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8" name="Text Box 23"/>
            <p:cNvSpPr txBox="1">
              <a:spLocks noChangeArrowheads="1"/>
            </p:cNvSpPr>
            <p:nvPr/>
          </p:nvSpPr>
          <p:spPr bwMode="auto">
            <a:xfrm>
              <a:off x="4416" y="2448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en-US" sz="1600" b="0" baseline="30000">
                  <a:solidFill>
                    <a:schemeClr val="tx1"/>
                  </a:solidFill>
                  <a:latin typeface="Times New Roman" panose="02020603050405020304" pitchFamily="18" charset="0"/>
                </a:rPr>
                <a:t>-</a:t>
              </a:r>
              <a:r>
                <a:rPr lang="en-US" altLang="en-US" sz="1600" b="0" i="1" baseline="3000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en-US" sz="1600" b="0" baseline="30000">
                  <a:solidFill>
                    <a:schemeClr val="tx1"/>
                  </a:solidFill>
                  <a:latin typeface="Times New Roman" panose="02020603050405020304" pitchFamily="18" charset="0"/>
                </a:rPr>
                <a:t>/2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499" name="Text Box 24"/>
            <p:cNvSpPr txBox="1">
              <a:spLocks noChangeArrowheads="1"/>
            </p:cNvSpPr>
            <p:nvPr/>
          </p:nvSpPr>
          <p:spPr bwMode="auto">
            <a:xfrm>
              <a:off x="4224" y="2064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)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487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009A1A-3A11-4B00-88BF-1559E921C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5938837"/>
            <a:ext cx="6029325" cy="87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91BA57-9820-435B-AFE6-30DC7C9EF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175" y="919162"/>
            <a:ext cx="3448050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44786" y="1146017"/>
            <a:ext cx="8293100" cy="5257800"/>
          </a:xfrm>
        </p:spPr>
        <p:txBody>
          <a:bodyPr/>
          <a:lstStyle/>
          <a:p>
            <a:pPr eaLnBrk="1" hangingPunct="1">
              <a:defRPr/>
            </a:pPr>
            <a:r>
              <a:rPr lang="en-US" b="0" dirty="0">
                <a:solidFill>
                  <a:schemeClr val="tx1"/>
                </a:solidFill>
              </a:rPr>
              <a:t>The </a:t>
            </a:r>
            <a:r>
              <a:rPr lang="en-US" b="0" dirty="0">
                <a:solidFill>
                  <a:srgbClr val="1C03D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amplitude spectrum</a:t>
            </a:r>
            <a:r>
              <a:rPr lang="en-US" b="0" dirty="0">
                <a:solidFill>
                  <a:schemeClr val="tx1"/>
                </a:solidFill>
              </a:rPr>
              <a:t> of </a:t>
            </a:r>
            <a:r>
              <a:rPr 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x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(</a:t>
            </a:r>
            <a:r>
              <a:rPr 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t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)</a:t>
            </a:r>
            <a:r>
              <a:rPr lang="en-US" b="0" dirty="0">
                <a:solidFill>
                  <a:schemeClr val="tx1"/>
                </a:solidFill>
              </a:rPr>
              <a:t> is defined as the plot of the magnitudes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|</a:t>
            </a:r>
            <a:r>
              <a:rPr 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="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b="0" dirty="0">
                <a:solidFill>
                  <a:schemeClr val="tx1"/>
                </a:solidFill>
              </a:rPr>
              <a:t>versus 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</a:t>
            </a:r>
            <a:r>
              <a:rPr lang="en-US" b="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defRPr/>
            </a:pPr>
            <a:r>
              <a:rPr lang="en-US" b="0" dirty="0">
                <a:solidFill>
                  <a:schemeClr val="tx1"/>
                </a:solidFill>
              </a:rPr>
              <a:t>The </a:t>
            </a:r>
            <a:r>
              <a:rPr lang="en-US" b="0" dirty="0">
                <a:solidFill>
                  <a:srgbClr val="1C03D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phase spectrum</a:t>
            </a:r>
            <a:r>
              <a:rPr lang="en-US" b="0" dirty="0">
                <a:solidFill>
                  <a:schemeClr val="tx1"/>
                </a:solidFill>
              </a:rPr>
              <a:t> of </a:t>
            </a:r>
            <a:r>
              <a:rPr 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x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(</a:t>
            </a:r>
            <a:r>
              <a:rPr lang="en-US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t</a:t>
            </a:r>
            <a:r>
              <a:rPr lang="en-US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)</a:t>
            </a:r>
            <a:r>
              <a:rPr lang="en-US" b="0" dirty="0">
                <a:solidFill>
                  <a:schemeClr val="tx1"/>
                </a:solidFill>
              </a:rPr>
              <a:t> is defined as the plot of the angles                          versus </a:t>
            </a:r>
            <a:r>
              <a:rPr lang="en-US" b="0" dirty="0">
                <a:solidFill>
                  <a:schemeClr val="tx1"/>
                </a:solidFill>
                <a:sym typeface="Symbol" pitchFamily="18" charset="2"/>
              </a:rPr>
              <a:t></a:t>
            </a:r>
            <a:endParaRPr lang="en-US" b="0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en-US" b="0" dirty="0">
                <a:solidFill>
                  <a:schemeClr val="tx1"/>
                </a:solidFill>
              </a:rPr>
              <a:t>This results in </a:t>
            </a:r>
            <a:r>
              <a:rPr lang="en-US" b="0" dirty="0">
                <a:solidFill>
                  <a:srgbClr val="1C03D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line spectra</a:t>
            </a:r>
          </a:p>
          <a:p>
            <a:pPr eaLnBrk="1" hangingPunct="1">
              <a:defRPr/>
            </a:pPr>
            <a:r>
              <a:rPr lang="en-US" b="0" dirty="0">
                <a:solidFill>
                  <a:srgbClr val="1C03D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Bandwidth</a:t>
            </a:r>
            <a:r>
              <a:rPr lang="en-US" b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b="0" dirty="0">
                <a:solidFill>
                  <a:schemeClr val="tx1"/>
                </a:solidFill>
              </a:rPr>
              <a:t>as the difference between the highest and lowest frequencies of the spectral components of a </a:t>
            </a:r>
            <a:r>
              <a:rPr lang="en-US" b="0">
                <a:solidFill>
                  <a:schemeClr val="tx1"/>
                </a:solidFill>
              </a:rPr>
              <a:t>signal.</a:t>
            </a:r>
            <a:endParaRPr lang="en-US" b="0" dirty="0">
              <a:solidFill>
                <a:schemeClr val="tx1"/>
              </a:solidFill>
            </a:endParaRPr>
          </a:p>
        </p:txBody>
      </p:sp>
      <p:sp>
        <p:nvSpPr>
          <p:cNvPr id="21507" name="Rectangle 17"/>
          <p:cNvSpPr>
            <a:spLocks noChangeArrowheads="1"/>
          </p:cNvSpPr>
          <p:nvPr/>
        </p:nvSpPr>
        <p:spPr bwMode="auto">
          <a:xfrm>
            <a:off x="1079500" y="88900"/>
            <a:ext cx="73914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Spectra of </a:t>
            </a:r>
            <a:r>
              <a:rPr lang="en-US" altLang="en-US" sz="3600" i="1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36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600" i="1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6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21508" name="Object 18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97742911"/>
              </p:ext>
            </p:extLst>
          </p:nvPr>
        </p:nvGraphicFramePr>
        <p:xfrm>
          <a:off x="4648451" y="2813130"/>
          <a:ext cx="24638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300" imgH="228600" progId="Equation.3">
                  <p:embed/>
                </p:oleObj>
              </mc:Choice>
              <mc:Fallback>
                <p:oleObj name="Equation" r:id="rId3" imgW="1130300" imgH="228600" progId="Equation.3">
                  <p:embed/>
                  <p:pic>
                    <p:nvPicPr>
                      <p:cNvPr id="2150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451" y="2813130"/>
                        <a:ext cx="24638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600"/>
              <a:t>Line Spectra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Object 4"/>
              <p:cNvSpPr txBox="1">
                <a:spLocks noGrp="1"/>
              </p:cNvSpPr>
              <p:nvPr>
                <p:ph sz="quarter" idx="2"/>
              </p:nvPr>
            </p:nvSpPr>
            <p:spPr bwMode="auto">
              <a:xfrm>
                <a:off x="3866832" y="914562"/>
                <a:ext cx="5184775" cy="15668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1+16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31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3866832" y="914562"/>
                <a:ext cx="5184775" cy="15668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532" name="Group 5"/>
          <p:cNvGrpSpPr>
            <a:grpSpLocks/>
          </p:cNvGrpSpPr>
          <p:nvPr/>
        </p:nvGrpSpPr>
        <p:grpSpPr bwMode="auto">
          <a:xfrm>
            <a:off x="381000" y="788988"/>
            <a:ext cx="3124200" cy="1631950"/>
            <a:chOff x="3360" y="2064"/>
            <a:chExt cx="1968" cy="1028"/>
          </a:xfrm>
        </p:grpSpPr>
        <p:sp>
          <p:nvSpPr>
            <p:cNvPr id="22574" name="Line 6"/>
            <p:cNvSpPr>
              <a:spLocks noChangeShapeType="1"/>
            </p:cNvSpPr>
            <p:nvPr/>
          </p:nvSpPr>
          <p:spPr bwMode="auto">
            <a:xfrm>
              <a:off x="4320" y="2256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5" name="Line 7"/>
            <p:cNvSpPr>
              <a:spLocks noChangeShapeType="1"/>
            </p:cNvSpPr>
            <p:nvPr/>
          </p:nvSpPr>
          <p:spPr bwMode="auto">
            <a:xfrm>
              <a:off x="3408" y="2880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576" name="Group 8"/>
            <p:cNvGrpSpPr>
              <a:grpSpLocks/>
            </p:cNvGrpSpPr>
            <p:nvPr/>
          </p:nvGrpSpPr>
          <p:grpSpPr bwMode="auto">
            <a:xfrm>
              <a:off x="3360" y="2400"/>
              <a:ext cx="1920" cy="384"/>
              <a:chOff x="3360" y="2400"/>
              <a:chExt cx="1920" cy="384"/>
            </a:xfrm>
          </p:grpSpPr>
          <p:sp>
            <p:nvSpPr>
              <p:cNvPr id="22586" name="Freeform 9"/>
              <p:cNvSpPr>
                <a:spLocks/>
              </p:cNvSpPr>
              <p:nvPr/>
            </p:nvSpPr>
            <p:spPr bwMode="auto">
              <a:xfrm>
                <a:off x="432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87" name="Freeform 10"/>
              <p:cNvSpPr>
                <a:spLocks/>
              </p:cNvSpPr>
              <p:nvPr/>
            </p:nvSpPr>
            <p:spPr bwMode="auto">
              <a:xfrm>
                <a:off x="480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88" name="Freeform 11"/>
              <p:cNvSpPr>
                <a:spLocks/>
              </p:cNvSpPr>
              <p:nvPr/>
            </p:nvSpPr>
            <p:spPr bwMode="auto">
              <a:xfrm>
                <a:off x="384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89" name="Freeform 12"/>
              <p:cNvSpPr>
                <a:spLocks/>
              </p:cNvSpPr>
              <p:nvPr/>
            </p:nvSpPr>
            <p:spPr bwMode="auto">
              <a:xfrm>
                <a:off x="3360" y="2400"/>
                <a:ext cx="480" cy="384"/>
              </a:xfrm>
              <a:custGeom>
                <a:avLst/>
                <a:gdLst>
                  <a:gd name="T0" fmla="*/ 0 w 480"/>
                  <a:gd name="T1" fmla="*/ 0 h 384"/>
                  <a:gd name="T2" fmla="*/ 144 w 480"/>
                  <a:gd name="T3" fmla="*/ 288 h 384"/>
                  <a:gd name="T4" fmla="*/ 480 w 480"/>
                  <a:gd name="T5" fmla="*/ 384 h 384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384"/>
                  <a:gd name="T11" fmla="*/ 480 w 480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384">
                    <a:moveTo>
                      <a:pt x="0" y="0"/>
                    </a:moveTo>
                    <a:cubicBezTo>
                      <a:pt x="32" y="112"/>
                      <a:pt x="64" y="224"/>
                      <a:pt x="144" y="288"/>
                    </a:cubicBezTo>
                    <a:cubicBezTo>
                      <a:pt x="224" y="352"/>
                      <a:pt x="352" y="368"/>
                      <a:pt x="480" y="38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22590" name="AutoShape 13"/>
              <p:cNvCxnSpPr>
                <a:cxnSpLocks noChangeShapeType="1"/>
                <a:stCxn id="22588" idx="0"/>
                <a:endCxn id="22589" idx="2"/>
              </p:cNvCxnSpPr>
              <p:nvPr/>
            </p:nvCxnSpPr>
            <p:spPr bwMode="auto">
              <a:xfrm>
                <a:off x="3840" y="2400"/>
                <a:ext cx="0" cy="384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1" name="AutoShape 14"/>
              <p:cNvCxnSpPr>
                <a:cxnSpLocks noChangeShapeType="1"/>
                <a:stCxn id="22587" idx="0"/>
                <a:endCxn id="22586" idx="2"/>
              </p:cNvCxnSpPr>
              <p:nvPr/>
            </p:nvCxnSpPr>
            <p:spPr bwMode="auto">
              <a:xfrm>
                <a:off x="4800" y="2400"/>
                <a:ext cx="0" cy="384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92" name="AutoShape 15"/>
              <p:cNvCxnSpPr>
                <a:cxnSpLocks noChangeShapeType="1"/>
                <a:stCxn id="22586" idx="0"/>
                <a:endCxn id="22588" idx="2"/>
              </p:cNvCxnSpPr>
              <p:nvPr/>
            </p:nvCxnSpPr>
            <p:spPr bwMode="auto">
              <a:xfrm>
                <a:off x="4320" y="2400"/>
                <a:ext cx="0" cy="384"/>
              </a:xfrm>
              <a:prstGeom prst="straightConnector1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2577" name="Text Box 16"/>
            <p:cNvSpPr txBox="1">
              <a:spLocks noChangeArrowheads="1"/>
            </p:cNvSpPr>
            <p:nvPr/>
          </p:nvSpPr>
          <p:spPr bwMode="auto">
            <a:xfrm>
              <a:off x="4320" y="288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78" name="Line 17"/>
            <p:cNvSpPr>
              <a:spLocks noChangeShapeType="1"/>
            </p:cNvSpPr>
            <p:nvPr/>
          </p:nvSpPr>
          <p:spPr bwMode="auto">
            <a:xfrm>
              <a:off x="4800" y="28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9" name="Line 18"/>
            <p:cNvSpPr>
              <a:spLocks noChangeShapeType="1"/>
            </p:cNvSpPr>
            <p:nvPr/>
          </p:nvSpPr>
          <p:spPr bwMode="auto">
            <a:xfrm>
              <a:off x="3840" y="28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0" name="Text Box 19"/>
            <p:cNvSpPr txBox="1">
              <a:spLocks noChangeArrowheads="1"/>
            </p:cNvSpPr>
            <p:nvPr/>
          </p:nvSpPr>
          <p:spPr bwMode="auto">
            <a:xfrm>
              <a:off x="4752" y="2880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Symbol" panose="05050102010706020507" pitchFamily="18" charset="2"/>
                </a:rPr>
                <a:t>p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81" name="Text Box 20"/>
            <p:cNvSpPr txBox="1">
              <a:spLocks noChangeArrowheads="1"/>
            </p:cNvSpPr>
            <p:nvPr/>
          </p:nvSpPr>
          <p:spPr bwMode="auto">
            <a:xfrm>
              <a:off x="3744" y="288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Symbol" panose="05050102010706020507" pitchFamily="18" charset="2"/>
                </a:rPr>
                <a:t>-p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82" name="Line 21"/>
            <p:cNvSpPr>
              <a:spLocks noChangeShapeType="1"/>
            </p:cNvSpPr>
            <p:nvPr/>
          </p:nvSpPr>
          <p:spPr bwMode="auto">
            <a:xfrm>
              <a:off x="4272" y="240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3" name="Text Box 22"/>
            <p:cNvSpPr txBox="1">
              <a:spLocks noChangeArrowheads="1"/>
            </p:cNvSpPr>
            <p:nvPr/>
          </p:nvSpPr>
          <p:spPr bwMode="auto">
            <a:xfrm>
              <a:off x="4128" y="2304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84" name="Text Box 23"/>
            <p:cNvSpPr txBox="1">
              <a:spLocks noChangeArrowheads="1"/>
            </p:cNvSpPr>
            <p:nvPr/>
          </p:nvSpPr>
          <p:spPr bwMode="auto">
            <a:xfrm>
              <a:off x="4416" y="2448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e</a:t>
              </a:r>
              <a:r>
                <a:rPr lang="en-US" altLang="en-US" sz="1600" b="0" baseline="30000">
                  <a:solidFill>
                    <a:schemeClr val="tx1"/>
                  </a:solidFill>
                  <a:latin typeface="Times New Roman" panose="02020603050405020304" pitchFamily="18" charset="0"/>
                </a:rPr>
                <a:t>-</a:t>
              </a:r>
              <a:r>
                <a:rPr lang="en-US" altLang="en-US" sz="1600" b="0" i="1" baseline="30000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en-US" sz="1600" b="0" baseline="30000">
                  <a:solidFill>
                    <a:schemeClr val="tx1"/>
                  </a:solidFill>
                  <a:latin typeface="Times New Roman" panose="02020603050405020304" pitchFamily="18" charset="0"/>
                </a:rPr>
                <a:t>/2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85" name="Text Box 24"/>
            <p:cNvSpPr txBox="1">
              <a:spLocks noChangeArrowheads="1"/>
            </p:cNvSpPr>
            <p:nvPr/>
          </p:nvSpPr>
          <p:spPr bwMode="auto">
            <a:xfrm>
              <a:off x="4224" y="2064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)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533" name="Object 25"/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668338" y="2451100"/>
                <a:ext cx="7099300" cy="9826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=0.5+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1+16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𝑛𝑡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p>
                                        <m:sSup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i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tan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</m:fName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func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533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668338" y="2451100"/>
                <a:ext cx="7099300" cy="982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4" name="Text Box 27"/>
          <p:cNvSpPr txBox="1">
            <a:spLocks noChangeArrowheads="1"/>
          </p:cNvSpPr>
          <p:nvPr/>
        </p:nvSpPr>
        <p:spPr bwMode="auto">
          <a:xfrm>
            <a:off x="63500" y="3551238"/>
            <a:ext cx="853951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(t)=0.5 + 0.24 cos(2t-76</a:t>
            </a:r>
            <a:r>
              <a:rPr lang="en-US" altLang="en-US" sz="2800" b="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+ 0.12 cos(4t-82.9</a:t>
            </a:r>
            <a:r>
              <a:rPr lang="en-US" altLang="en-US" sz="2800" b="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0.08 cos(6t-85.2</a:t>
            </a:r>
            <a:r>
              <a:rPr lang="en-US" altLang="en-US" sz="2800" b="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+ 0.06 cos(8t-86.2</a:t>
            </a:r>
            <a:r>
              <a:rPr lang="en-US" altLang="en-US" sz="2800" b="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…</a:t>
            </a:r>
          </a:p>
        </p:txBody>
      </p:sp>
      <p:sp>
        <p:nvSpPr>
          <p:cNvPr id="22535" name="Line 28"/>
          <p:cNvSpPr>
            <a:spLocks noChangeShapeType="1"/>
          </p:cNvSpPr>
          <p:nvPr/>
        </p:nvSpPr>
        <p:spPr bwMode="auto">
          <a:xfrm flipH="1">
            <a:off x="520700" y="4533900"/>
            <a:ext cx="12700" cy="2197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6" name="Line 29"/>
          <p:cNvSpPr>
            <a:spLocks noChangeShapeType="1"/>
          </p:cNvSpPr>
          <p:nvPr/>
        </p:nvSpPr>
        <p:spPr bwMode="auto">
          <a:xfrm>
            <a:off x="165100" y="6464300"/>
            <a:ext cx="353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7" name="Oval 31"/>
          <p:cNvSpPr>
            <a:spLocks noChangeArrowheads="1"/>
          </p:cNvSpPr>
          <p:nvPr/>
        </p:nvSpPr>
        <p:spPr bwMode="auto">
          <a:xfrm>
            <a:off x="482600" y="4889500"/>
            <a:ext cx="889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22538" name="Line 34"/>
          <p:cNvSpPr>
            <a:spLocks noChangeShapeType="1"/>
          </p:cNvSpPr>
          <p:nvPr/>
        </p:nvSpPr>
        <p:spPr bwMode="auto">
          <a:xfrm>
            <a:off x="1409700" y="6070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9" name="Line 35"/>
          <p:cNvSpPr>
            <a:spLocks noChangeShapeType="1"/>
          </p:cNvSpPr>
          <p:nvPr/>
        </p:nvSpPr>
        <p:spPr bwMode="auto">
          <a:xfrm>
            <a:off x="1879600" y="62103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37"/>
          <p:cNvSpPr>
            <a:spLocks noChangeShapeType="1"/>
          </p:cNvSpPr>
          <p:nvPr/>
        </p:nvSpPr>
        <p:spPr bwMode="auto">
          <a:xfrm>
            <a:off x="2362200" y="6299200"/>
            <a:ext cx="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Line 38"/>
          <p:cNvSpPr>
            <a:spLocks noChangeShapeType="1"/>
          </p:cNvSpPr>
          <p:nvPr/>
        </p:nvSpPr>
        <p:spPr bwMode="auto">
          <a:xfrm>
            <a:off x="2819400" y="6375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2" name="Oval 39"/>
          <p:cNvSpPr>
            <a:spLocks noChangeArrowheads="1"/>
          </p:cNvSpPr>
          <p:nvPr/>
        </p:nvSpPr>
        <p:spPr bwMode="auto">
          <a:xfrm>
            <a:off x="927100" y="5664200"/>
            <a:ext cx="889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22543" name="Oval 40"/>
          <p:cNvSpPr>
            <a:spLocks noChangeArrowheads="1"/>
          </p:cNvSpPr>
          <p:nvPr/>
        </p:nvSpPr>
        <p:spPr bwMode="auto">
          <a:xfrm>
            <a:off x="1371600" y="5994400"/>
            <a:ext cx="889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22544" name="Oval 41"/>
          <p:cNvSpPr>
            <a:spLocks noChangeArrowheads="1"/>
          </p:cNvSpPr>
          <p:nvPr/>
        </p:nvSpPr>
        <p:spPr bwMode="auto">
          <a:xfrm>
            <a:off x="1841500" y="6172200"/>
            <a:ext cx="889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22545" name="Oval 42"/>
          <p:cNvSpPr>
            <a:spLocks noChangeArrowheads="1"/>
          </p:cNvSpPr>
          <p:nvPr/>
        </p:nvSpPr>
        <p:spPr bwMode="auto">
          <a:xfrm>
            <a:off x="2324100" y="6261100"/>
            <a:ext cx="889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22546" name="Oval 43"/>
          <p:cNvSpPr>
            <a:spLocks noChangeArrowheads="1"/>
          </p:cNvSpPr>
          <p:nvPr/>
        </p:nvSpPr>
        <p:spPr bwMode="auto">
          <a:xfrm>
            <a:off x="2781300" y="6324600"/>
            <a:ext cx="889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22547" name="Text Box 45"/>
          <p:cNvSpPr txBox="1">
            <a:spLocks noChangeArrowheads="1"/>
          </p:cNvSpPr>
          <p:nvPr/>
        </p:nvSpPr>
        <p:spPr bwMode="auto">
          <a:xfrm>
            <a:off x="568325" y="4797425"/>
            <a:ext cx="470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22548" name="Text Box 46"/>
          <p:cNvSpPr txBox="1">
            <a:spLocks noChangeArrowheads="1"/>
          </p:cNvSpPr>
          <p:nvPr/>
        </p:nvSpPr>
        <p:spPr bwMode="auto">
          <a:xfrm>
            <a:off x="824865" y="5356225"/>
            <a:ext cx="5838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chemeClr val="tx1"/>
                </a:solidFill>
              </a:rPr>
              <a:t>0.24</a:t>
            </a:r>
          </a:p>
        </p:txBody>
      </p:sp>
      <p:sp>
        <p:nvSpPr>
          <p:cNvPr id="22549" name="Text Box 47"/>
          <p:cNvSpPr txBox="1">
            <a:spLocks noChangeArrowheads="1"/>
          </p:cNvSpPr>
          <p:nvPr/>
        </p:nvSpPr>
        <p:spPr bwMode="auto">
          <a:xfrm>
            <a:off x="1251585" y="5686425"/>
            <a:ext cx="5838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chemeClr val="tx1"/>
                </a:solidFill>
              </a:rPr>
              <a:t>0.12</a:t>
            </a:r>
          </a:p>
        </p:txBody>
      </p:sp>
      <p:sp>
        <p:nvSpPr>
          <p:cNvPr id="22550" name="Line 66"/>
          <p:cNvSpPr>
            <a:spLocks noChangeShapeType="1"/>
          </p:cNvSpPr>
          <p:nvPr/>
        </p:nvSpPr>
        <p:spPr bwMode="auto">
          <a:xfrm flipV="1">
            <a:off x="520700" y="4914900"/>
            <a:ext cx="0" cy="154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1" name="Line 69"/>
          <p:cNvSpPr>
            <a:spLocks noChangeShapeType="1"/>
          </p:cNvSpPr>
          <p:nvPr/>
        </p:nvSpPr>
        <p:spPr bwMode="auto">
          <a:xfrm flipV="1">
            <a:off x="965200" y="57023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2" name="Line 70"/>
          <p:cNvSpPr>
            <a:spLocks noChangeShapeType="1"/>
          </p:cNvSpPr>
          <p:nvPr/>
        </p:nvSpPr>
        <p:spPr bwMode="auto">
          <a:xfrm flipV="1">
            <a:off x="1409700" y="6070600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3" name="Text Box 72"/>
          <p:cNvSpPr txBox="1">
            <a:spLocks noChangeArrowheads="1"/>
          </p:cNvSpPr>
          <p:nvPr/>
        </p:nvSpPr>
        <p:spPr bwMode="auto">
          <a:xfrm>
            <a:off x="1762125" y="5889625"/>
            <a:ext cx="5838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chemeClr val="tx1"/>
                </a:solidFill>
              </a:rPr>
              <a:t>0.08</a:t>
            </a:r>
          </a:p>
        </p:txBody>
      </p:sp>
      <p:sp>
        <p:nvSpPr>
          <p:cNvPr id="22554" name="Text Box 73"/>
          <p:cNvSpPr txBox="1">
            <a:spLocks noChangeArrowheads="1"/>
          </p:cNvSpPr>
          <p:nvPr/>
        </p:nvSpPr>
        <p:spPr bwMode="auto">
          <a:xfrm>
            <a:off x="2254885" y="5993765"/>
            <a:ext cx="5838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 dirty="0">
                <a:solidFill>
                  <a:schemeClr val="tx1"/>
                </a:solidFill>
              </a:rPr>
              <a:t>0.06</a:t>
            </a:r>
          </a:p>
        </p:txBody>
      </p:sp>
      <p:sp>
        <p:nvSpPr>
          <p:cNvPr id="22555" name="Freeform 75"/>
          <p:cNvSpPr>
            <a:spLocks/>
          </p:cNvSpPr>
          <p:nvPr/>
        </p:nvSpPr>
        <p:spPr bwMode="auto">
          <a:xfrm>
            <a:off x="533400" y="4940300"/>
            <a:ext cx="2997200" cy="1473200"/>
          </a:xfrm>
          <a:custGeom>
            <a:avLst/>
            <a:gdLst>
              <a:gd name="T0" fmla="*/ 0 w 1888"/>
              <a:gd name="T1" fmla="*/ 0 h 928"/>
              <a:gd name="T2" fmla="*/ 2147483646 w 1888"/>
              <a:gd name="T3" fmla="*/ 2147483646 h 928"/>
              <a:gd name="T4" fmla="*/ 2147483646 w 1888"/>
              <a:gd name="T5" fmla="*/ 2147483646 h 928"/>
              <a:gd name="T6" fmla="*/ 2147483646 w 1888"/>
              <a:gd name="T7" fmla="*/ 2147483646 h 928"/>
              <a:gd name="T8" fmla="*/ 2147483646 w 1888"/>
              <a:gd name="T9" fmla="*/ 2147483646 h 928"/>
              <a:gd name="T10" fmla="*/ 2147483646 w 1888"/>
              <a:gd name="T11" fmla="*/ 2147483646 h 9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888"/>
              <a:gd name="T19" fmla="*/ 0 h 928"/>
              <a:gd name="T20" fmla="*/ 1888 w 1888"/>
              <a:gd name="T21" fmla="*/ 928 h 9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888" h="928">
                <a:moveTo>
                  <a:pt x="0" y="0"/>
                </a:moveTo>
                <a:cubicBezTo>
                  <a:pt x="93" y="189"/>
                  <a:pt x="187" y="379"/>
                  <a:pt x="280" y="496"/>
                </a:cubicBezTo>
                <a:cubicBezTo>
                  <a:pt x="373" y="613"/>
                  <a:pt x="465" y="652"/>
                  <a:pt x="560" y="704"/>
                </a:cubicBezTo>
                <a:cubicBezTo>
                  <a:pt x="655" y="756"/>
                  <a:pt x="751" y="780"/>
                  <a:pt x="848" y="808"/>
                </a:cubicBezTo>
                <a:cubicBezTo>
                  <a:pt x="945" y="836"/>
                  <a:pt x="971" y="852"/>
                  <a:pt x="1144" y="872"/>
                </a:cubicBezTo>
                <a:cubicBezTo>
                  <a:pt x="1317" y="892"/>
                  <a:pt x="1602" y="910"/>
                  <a:pt x="1888" y="92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56" name="Text Box 76"/>
          <p:cNvSpPr txBox="1">
            <a:spLocks noChangeArrowheads="1"/>
          </p:cNvSpPr>
          <p:nvPr/>
        </p:nvSpPr>
        <p:spPr bwMode="auto">
          <a:xfrm>
            <a:off x="85725" y="4252913"/>
            <a:ext cx="46672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200" b="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22557" name="Text Box 77"/>
          <p:cNvSpPr txBox="1">
            <a:spLocks noChangeArrowheads="1"/>
          </p:cNvSpPr>
          <p:nvPr/>
        </p:nvSpPr>
        <p:spPr bwMode="auto">
          <a:xfrm>
            <a:off x="3424238" y="6299200"/>
            <a:ext cx="3778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endParaRPr lang="en-US" altLang="en-US" sz="2200" b="0" i="1" baseline="-25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2558" name="Text Box 78"/>
          <p:cNvSpPr txBox="1">
            <a:spLocks noChangeArrowheads="1"/>
          </p:cNvSpPr>
          <p:nvPr/>
        </p:nvSpPr>
        <p:spPr bwMode="auto">
          <a:xfrm>
            <a:off x="365125" y="6437313"/>
            <a:ext cx="272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0     2     4     6      8     10</a:t>
            </a:r>
          </a:p>
        </p:txBody>
      </p:sp>
      <p:sp>
        <p:nvSpPr>
          <p:cNvPr id="22559" name="Line 79"/>
          <p:cNvSpPr>
            <a:spLocks noChangeShapeType="1"/>
          </p:cNvSpPr>
          <p:nvPr/>
        </p:nvSpPr>
        <p:spPr bwMode="auto">
          <a:xfrm>
            <a:off x="4978400" y="5449888"/>
            <a:ext cx="3441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0" name="Line 80"/>
          <p:cNvSpPr>
            <a:spLocks noChangeShapeType="1"/>
          </p:cNvSpPr>
          <p:nvPr/>
        </p:nvSpPr>
        <p:spPr bwMode="auto">
          <a:xfrm>
            <a:off x="5140325" y="4841875"/>
            <a:ext cx="15875" cy="1508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1" name="Line 81"/>
          <p:cNvSpPr>
            <a:spLocks noChangeShapeType="1"/>
          </p:cNvSpPr>
          <p:nvPr/>
        </p:nvSpPr>
        <p:spPr bwMode="auto">
          <a:xfrm>
            <a:off x="6057900" y="5462588"/>
            <a:ext cx="0" cy="58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2" name="Line 82"/>
          <p:cNvSpPr>
            <a:spLocks noChangeShapeType="1"/>
          </p:cNvSpPr>
          <p:nvPr/>
        </p:nvSpPr>
        <p:spPr bwMode="auto">
          <a:xfrm>
            <a:off x="5600700" y="5449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3" name="Line 84"/>
          <p:cNvSpPr>
            <a:spLocks noChangeShapeType="1"/>
          </p:cNvSpPr>
          <p:nvPr/>
        </p:nvSpPr>
        <p:spPr bwMode="auto">
          <a:xfrm>
            <a:off x="6515100" y="5462588"/>
            <a:ext cx="0" cy="63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4" name="Freeform 85"/>
          <p:cNvSpPr>
            <a:spLocks/>
          </p:cNvSpPr>
          <p:nvPr/>
        </p:nvSpPr>
        <p:spPr bwMode="auto">
          <a:xfrm>
            <a:off x="5143500" y="5449888"/>
            <a:ext cx="2959100" cy="654050"/>
          </a:xfrm>
          <a:custGeom>
            <a:avLst/>
            <a:gdLst>
              <a:gd name="T0" fmla="*/ 0 w 1864"/>
              <a:gd name="T1" fmla="*/ 0 h 412"/>
              <a:gd name="T2" fmla="*/ 2147483646 w 1864"/>
              <a:gd name="T3" fmla="*/ 2147483646 h 412"/>
              <a:gd name="T4" fmla="*/ 2147483646 w 1864"/>
              <a:gd name="T5" fmla="*/ 2147483646 h 412"/>
              <a:gd name="T6" fmla="*/ 2147483646 w 1864"/>
              <a:gd name="T7" fmla="*/ 2147483646 h 412"/>
              <a:gd name="T8" fmla="*/ 2147483646 w 1864"/>
              <a:gd name="T9" fmla="*/ 2147483646 h 4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64"/>
              <a:gd name="T16" fmla="*/ 0 h 412"/>
              <a:gd name="T17" fmla="*/ 1864 w 1864"/>
              <a:gd name="T18" fmla="*/ 412 h 4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64" h="412">
                <a:moveTo>
                  <a:pt x="0" y="0"/>
                </a:moveTo>
                <a:cubicBezTo>
                  <a:pt x="95" y="136"/>
                  <a:pt x="191" y="272"/>
                  <a:pt x="288" y="336"/>
                </a:cubicBezTo>
                <a:cubicBezTo>
                  <a:pt x="385" y="400"/>
                  <a:pt x="487" y="372"/>
                  <a:pt x="584" y="384"/>
                </a:cubicBezTo>
                <a:cubicBezTo>
                  <a:pt x="681" y="396"/>
                  <a:pt x="659" y="404"/>
                  <a:pt x="872" y="408"/>
                </a:cubicBezTo>
                <a:cubicBezTo>
                  <a:pt x="1085" y="412"/>
                  <a:pt x="1474" y="410"/>
                  <a:pt x="1864" y="40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65" name="Text Box 86"/>
          <p:cNvSpPr txBox="1">
            <a:spLocks noChangeArrowheads="1"/>
          </p:cNvSpPr>
          <p:nvPr/>
        </p:nvSpPr>
        <p:spPr bwMode="auto">
          <a:xfrm>
            <a:off x="8382000" y="5133975"/>
            <a:ext cx="3794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endParaRPr lang="en-US" altLang="en-US" sz="2200" b="0" i="1" baseline="-25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2566" name="Text Box 87"/>
          <p:cNvSpPr txBox="1">
            <a:spLocks noChangeArrowheads="1"/>
          </p:cNvSpPr>
          <p:nvPr/>
        </p:nvSpPr>
        <p:spPr bwMode="auto">
          <a:xfrm>
            <a:off x="4746625" y="4583113"/>
            <a:ext cx="4270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en-US" sz="2200" b="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</a:p>
        </p:txBody>
      </p:sp>
      <p:sp>
        <p:nvSpPr>
          <p:cNvPr id="22567" name="Oval 88"/>
          <p:cNvSpPr>
            <a:spLocks noChangeArrowheads="1"/>
          </p:cNvSpPr>
          <p:nvPr/>
        </p:nvSpPr>
        <p:spPr bwMode="auto">
          <a:xfrm>
            <a:off x="5562600" y="5932488"/>
            <a:ext cx="889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22568" name="Oval 89"/>
          <p:cNvSpPr>
            <a:spLocks noChangeArrowheads="1"/>
          </p:cNvSpPr>
          <p:nvPr/>
        </p:nvSpPr>
        <p:spPr bwMode="auto">
          <a:xfrm>
            <a:off x="6019800" y="6021388"/>
            <a:ext cx="889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22569" name="Oval 90"/>
          <p:cNvSpPr>
            <a:spLocks noChangeArrowheads="1"/>
          </p:cNvSpPr>
          <p:nvPr/>
        </p:nvSpPr>
        <p:spPr bwMode="auto">
          <a:xfrm>
            <a:off x="6489700" y="6072188"/>
            <a:ext cx="88900" cy="889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22570" name="Text Box 91"/>
          <p:cNvSpPr txBox="1">
            <a:spLocks noChangeArrowheads="1"/>
          </p:cNvSpPr>
          <p:nvPr/>
        </p:nvSpPr>
        <p:spPr bwMode="auto">
          <a:xfrm>
            <a:off x="4492625" y="5827713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-/2</a:t>
            </a:r>
            <a:endParaRPr lang="en-US" altLang="en-US" sz="2000" b="0" i="1" baseline="-25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2571" name="Line 92"/>
          <p:cNvSpPr>
            <a:spLocks noChangeShapeType="1"/>
          </p:cNvSpPr>
          <p:nvPr/>
        </p:nvSpPr>
        <p:spPr bwMode="auto">
          <a:xfrm flipH="1">
            <a:off x="5080000" y="6148388"/>
            <a:ext cx="12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73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Text Box 78"/>
          <p:cNvSpPr txBox="1">
            <a:spLocks noChangeArrowheads="1"/>
          </p:cNvSpPr>
          <p:nvPr/>
        </p:nvSpPr>
        <p:spPr bwMode="auto">
          <a:xfrm>
            <a:off x="5003710" y="5130093"/>
            <a:ext cx="16594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>
                <a:solidFill>
                  <a:schemeClr val="tx1"/>
                </a:solidFill>
              </a:rPr>
              <a:t>0     2     4     6</a:t>
            </a:r>
          </a:p>
        </p:txBody>
      </p:sp>
      <p:sp>
        <p:nvSpPr>
          <p:cNvPr id="69" name="Text Box 73">
            <a:extLst>
              <a:ext uri="{FF2B5EF4-FFF2-40B4-BE49-F238E27FC236}">
                <a16:creationId xmlns:a16="http://schemas.microsoft.com/office/drawing/2014/main" id="{A6D68135-4215-40C2-BBD4-689DB9389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7485" y="6075045"/>
            <a:ext cx="58381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chemeClr val="tx1"/>
                </a:solidFill>
              </a:rPr>
              <a:t>0.05</a:t>
            </a:r>
            <a:endParaRPr lang="en-US" altLang="en-US" sz="1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838200"/>
            <a:ext cx="8229600" cy="8509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i="1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dirty="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dirty="0">
                <a:solidFill>
                  <a:srgbClr val="1C03D7"/>
                </a:solidFill>
              </a:rPr>
              <a:t> can be expressed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5" name="Object 9"/>
              <p:cNvSpPr txBox="1">
                <a:spLocks noGrp="1"/>
              </p:cNvSpPr>
              <p:nvPr>
                <p:ph sz="quarter" idx="2"/>
              </p:nvPr>
            </p:nvSpPr>
            <p:spPr bwMode="auto">
              <a:xfrm>
                <a:off x="2538413" y="1316038"/>
                <a:ext cx="3303587" cy="1220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55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2538413" y="1316038"/>
                <a:ext cx="3303587" cy="1220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6" name="Text Box 7"/>
          <p:cNvSpPr txBox="1">
            <a:spLocks noChangeArrowheads="1"/>
          </p:cNvSpPr>
          <p:nvPr/>
        </p:nvSpPr>
        <p:spPr bwMode="auto">
          <a:xfrm>
            <a:off x="139700" y="50927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 D</a:t>
            </a:r>
            <a:r>
              <a:rPr lang="en-US" altLang="en-US" sz="2400" b="0" baseline="-25000">
                <a:solidFill>
                  <a:schemeClr val="tx1"/>
                </a:solidFill>
              </a:rPr>
              <a:t>-n</a:t>
            </a:r>
            <a:r>
              <a:rPr lang="en-US" altLang="en-US" sz="2400" b="0">
                <a:solidFill>
                  <a:schemeClr val="tx1"/>
                </a:solidFill>
              </a:rPr>
              <a:t> = D</a:t>
            </a:r>
            <a:r>
              <a:rPr lang="en-US" altLang="en-US" sz="2400" b="0" baseline="-25000">
                <a:solidFill>
                  <a:schemeClr val="tx1"/>
                </a:solidFill>
              </a:rPr>
              <a:t>n</a:t>
            </a:r>
            <a:r>
              <a:rPr lang="en-US" altLang="en-US" sz="2400" b="0">
                <a:solidFill>
                  <a:schemeClr val="tx1"/>
                </a:solidFill>
              </a:rPr>
              <a:t>*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7" name="Object 11"/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1770063" y="3414713"/>
                <a:ext cx="6288087" cy="1077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,  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=0,±1, ±2,....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55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1770063" y="3414713"/>
                <a:ext cx="6288087" cy="10779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8" name="Rectangle 17"/>
          <p:cNvSpPr>
            <a:spLocks noChangeArrowheads="1"/>
          </p:cNvSpPr>
          <p:nvPr/>
        </p:nvSpPr>
        <p:spPr bwMode="auto">
          <a:xfrm>
            <a:off x="927100" y="58738"/>
            <a:ext cx="73914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1C03D7"/>
                </a:solidFill>
              </a:rPr>
              <a:t>Exponential Form</a:t>
            </a:r>
          </a:p>
        </p:txBody>
      </p:sp>
      <p:sp>
        <p:nvSpPr>
          <p:cNvPr id="23559" name="Text Box 18"/>
          <p:cNvSpPr txBox="1">
            <a:spLocks noChangeArrowheads="1"/>
          </p:cNvSpPr>
          <p:nvPr/>
        </p:nvSpPr>
        <p:spPr bwMode="auto">
          <a:xfrm>
            <a:off x="250825" y="2378075"/>
            <a:ext cx="8659813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To find </a:t>
            </a: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b="0">
                <a:solidFill>
                  <a:schemeClr val="tx1"/>
                </a:solidFill>
              </a:rPr>
              <a:t> multiply both side by               </a:t>
            </a:r>
            <a:r>
              <a:rPr lang="en-US" altLang="en-US" sz="2400" b="0">
                <a:solidFill>
                  <a:schemeClr val="tx1"/>
                </a:solidFill>
                <a:sym typeface="Symbol" panose="05050102010706020507" pitchFamily="18" charset="2"/>
              </a:rPr>
              <a:t>   and then </a:t>
            </a:r>
            <a:r>
              <a:rPr lang="en-US" altLang="en-US" sz="2400" b="0">
                <a:solidFill>
                  <a:schemeClr val="tx1"/>
                </a:solidFill>
              </a:rPr>
              <a:t>integrate over a full period, </a:t>
            </a:r>
            <a:r>
              <a:rPr lang="en-US" altLang="en-US" sz="2400" b="0" i="1">
                <a:solidFill>
                  <a:schemeClr val="tx1"/>
                </a:solidFill>
              </a:rPr>
              <a:t>m</a:t>
            </a:r>
            <a:r>
              <a:rPr lang="en-US" altLang="en-US" sz="2400" b="0">
                <a:solidFill>
                  <a:schemeClr val="tx1"/>
                </a:solidFill>
              </a:rPr>
              <a:t> =1,2,…,</a:t>
            </a:r>
            <a:r>
              <a:rPr lang="en-US" altLang="en-US" sz="2400" b="0" i="1">
                <a:solidFill>
                  <a:schemeClr val="tx1"/>
                </a:solidFill>
              </a:rPr>
              <a:t>n</a:t>
            </a:r>
            <a:r>
              <a:rPr lang="en-US" altLang="en-US" sz="2400" b="0">
                <a:solidFill>
                  <a:schemeClr val="tx1"/>
                </a:solidFill>
              </a:rPr>
              <a:t>,…</a:t>
            </a:r>
            <a:r>
              <a:rPr lang="en-US" altLang="en-US" sz="2400" b="0">
                <a:solidFill>
                  <a:schemeClr val="tx1"/>
                </a:solidFill>
                <a:sym typeface="Symbol" panose="05050102010706020507" pitchFamily="18" charset="2"/>
              </a:rPr>
              <a:t>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60" name="Object 19"/>
              <p:cNvSpPr txBox="1"/>
              <p:nvPr/>
            </p:nvSpPr>
            <p:spPr bwMode="auto">
              <a:xfrm>
                <a:off x="4678363" y="2335213"/>
                <a:ext cx="1254125" cy="5413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560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8363" y="2335213"/>
                <a:ext cx="1254125" cy="5413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61" name="Text Box 20"/>
          <p:cNvSpPr txBox="1">
            <a:spLocks noChangeArrowheads="1"/>
          </p:cNvSpPr>
          <p:nvPr/>
        </p:nvSpPr>
        <p:spPr bwMode="auto">
          <a:xfrm>
            <a:off x="174625" y="4459288"/>
            <a:ext cx="7291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0" dirty="0">
                <a:solidFill>
                  <a:schemeClr val="tx1"/>
                </a:solidFill>
              </a:rPr>
              <a:t> is a complex quantity in general </a:t>
            </a:r>
            <a:r>
              <a:rPr lang="en-US" altLang="en-US" sz="28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=|</a:t>
            </a:r>
            <a:r>
              <a:rPr lang="en-US" altLang="en-US" sz="28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0" i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|e</a:t>
            </a:r>
            <a:r>
              <a:rPr lang="en-US" altLang="en-US" sz="2800" b="0" i="1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800" b="0" i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23562" name="Text Box 21"/>
          <p:cNvSpPr txBox="1">
            <a:spLocks noChangeArrowheads="1"/>
          </p:cNvSpPr>
          <p:nvPr/>
        </p:nvSpPr>
        <p:spPr bwMode="auto">
          <a:xfrm>
            <a:off x="3276600" y="5715000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Even </a:t>
            </a:r>
          </a:p>
        </p:txBody>
      </p:sp>
      <p:sp>
        <p:nvSpPr>
          <p:cNvPr id="23563" name="Text Box 22"/>
          <p:cNvSpPr txBox="1">
            <a:spLocks noChangeArrowheads="1"/>
          </p:cNvSpPr>
          <p:nvPr/>
        </p:nvSpPr>
        <p:spPr bwMode="auto">
          <a:xfrm>
            <a:off x="6083300" y="5626100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Odd</a:t>
            </a:r>
          </a:p>
        </p:txBody>
      </p:sp>
      <p:sp>
        <p:nvSpPr>
          <p:cNvPr id="23564" name="Text Box 23"/>
          <p:cNvSpPr txBox="1">
            <a:spLocks noChangeArrowheads="1"/>
          </p:cNvSpPr>
          <p:nvPr/>
        </p:nvSpPr>
        <p:spPr bwMode="auto">
          <a:xfrm>
            <a:off x="2917825" y="5132388"/>
            <a:ext cx="1414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>
                <a:solidFill>
                  <a:schemeClr val="tx1"/>
                </a:solidFill>
              </a:rPr>
              <a:t>|</a:t>
            </a:r>
            <a:r>
              <a:rPr lang="en-US" altLang="en-US" sz="2400" b="0" i="1">
                <a:solidFill>
                  <a:schemeClr val="tx1"/>
                </a:solidFill>
              </a:rPr>
              <a:t>D</a:t>
            </a:r>
            <a:r>
              <a:rPr lang="en-US" altLang="en-US" sz="2400" b="0" i="1" baseline="-25000">
                <a:solidFill>
                  <a:schemeClr val="tx1"/>
                </a:solidFill>
              </a:rPr>
              <a:t>n</a:t>
            </a:r>
            <a:r>
              <a:rPr lang="en-US" altLang="en-US" sz="2400" b="0">
                <a:solidFill>
                  <a:schemeClr val="tx1"/>
                </a:solidFill>
              </a:rPr>
              <a:t>|=|</a:t>
            </a:r>
            <a:r>
              <a:rPr lang="en-US" altLang="en-US" sz="2400" b="0" i="1">
                <a:solidFill>
                  <a:schemeClr val="tx1"/>
                </a:solidFill>
              </a:rPr>
              <a:t>D</a:t>
            </a:r>
            <a:r>
              <a:rPr lang="en-US" altLang="en-US" sz="2400" b="0" i="1" baseline="-25000">
                <a:solidFill>
                  <a:schemeClr val="tx1"/>
                </a:solidFill>
              </a:rPr>
              <a:t>-n</a:t>
            </a:r>
            <a:r>
              <a:rPr lang="en-US" altLang="en-US" sz="2400" b="0">
                <a:solidFill>
                  <a:schemeClr val="tx1"/>
                </a:solidFill>
              </a:rPr>
              <a:t>|</a:t>
            </a:r>
          </a:p>
        </p:txBody>
      </p:sp>
      <p:grpSp>
        <p:nvGrpSpPr>
          <p:cNvPr id="23565" name="Group 32"/>
          <p:cNvGrpSpPr>
            <a:grpSpLocks/>
          </p:cNvGrpSpPr>
          <p:nvPr/>
        </p:nvGrpSpPr>
        <p:grpSpPr bwMode="auto">
          <a:xfrm>
            <a:off x="5549900" y="5094288"/>
            <a:ext cx="1890713" cy="457200"/>
            <a:chOff x="3176" y="3657"/>
            <a:chExt cx="1191" cy="288"/>
          </a:xfrm>
        </p:grpSpPr>
        <p:sp>
          <p:nvSpPr>
            <p:cNvPr id="23570" name="Text Box 24"/>
            <p:cNvSpPr txBox="1">
              <a:spLocks noChangeArrowheads="1"/>
            </p:cNvSpPr>
            <p:nvPr/>
          </p:nvSpPr>
          <p:spPr bwMode="auto">
            <a:xfrm>
              <a:off x="3294" y="3657"/>
              <a:ext cx="107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 i="1">
                  <a:solidFill>
                    <a:schemeClr val="tx1"/>
                  </a:solidFill>
                </a:rPr>
                <a:t>D</a:t>
              </a:r>
              <a:r>
                <a:rPr lang="en-US" altLang="en-US" sz="2400" b="0" i="1" baseline="-25000">
                  <a:solidFill>
                    <a:schemeClr val="tx1"/>
                  </a:solidFill>
                </a:rPr>
                <a:t>n</a:t>
              </a:r>
              <a:r>
                <a:rPr lang="en-US" altLang="en-US" sz="2400" b="0">
                  <a:solidFill>
                    <a:schemeClr val="tx1"/>
                  </a:solidFill>
                </a:rPr>
                <a:t> = -    </a:t>
              </a:r>
              <a:r>
                <a:rPr lang="en-US" altLang="en-US" sz="2400" b="0" i="1">
                  <a:solidFill>
                    <a:schemeClr val="tx1"/>
                  </a:solidFill>
                </a:rPr>
                <a:t>D</a:t>
              </a:r>
              <a:r>
                <a:rPr lang="en-US" altLang="en-US" sz="2400" b="0" i="1" baseline="-25000">
                  <a:solidFill>
                    <a:schemeClr val="tx1"/>
                  </a:solidFill>
                </a:rPr>
                <a:t>-n</a:t>
              </a:r>
              <a:endParaRPr lang="en-US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23571" name="Group 25"/>
            <p:cNvGrpSpPr>
              <a:grpSpLocks/>
            </p:cNvGrpSpPr>
            <p:nvPr/>
          </p:nvGrpSpPr>
          <p:grpSpPr bwMode="auto">
            <a:xfrm>
              <a:off x="3176" y="3768"/>
              <a:ext cx="216" cy="144"/>
              <a:chOff x="1832" y="3520"/>
              <a:chExt cx="216" cy="144"/>
            </a:xfrm>
          </p:grpSpPr>
          <p:sp>
            <p:nvSpPr>
              <p:cNvPr id="23575" name="Line 26"/>
              <p:cNvSpPr>
                <a:spLocks noChangeShapeType="1"/>
              </p:cNvSpPr>
              <p:nvPr/>
            </p:nvSpPr>
            <p:spPr bwMode="auto">
              <a:xfrm flipH="1">
                <a:off x="1832" y="3520"/>
                <a:ext cx="96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6" name="Line 27"/>
              <p:cNvSpPr>
                <a:spLocks noChangeShapeType="1"/>
              </p:cNvSpPr>
              <p:nvPr/>
            </p:nvSpPr>
            <p:spPr bwMode="auto">
              <a:xfrm>
                <a:off x="1832" y="3664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572" name="Group 28"/>
            <p:cNvGrpSpPr>
              <a:grpSpLocks/>
            </p:cNvGrpSpPr>
            <p:nvPr/>
          </p:nvGrpSpPr>
          <p:grpSpPr bwMode="auto">
            <a:xfrm>
              <a:off x="3864" y="3760"/>
              <a:ext cx="216" cy="144"/>
              <a:chOff x="1832" y="3520"/>
              <a:chExt cx="216" cy="144"/>
            </a:xfrm>
          </p:grpSpPr>
          <p:sp>
            <p:nvSpPr>
              <p:cNvPr id="23573" name="Line 29"/>
              <p:cNvSpPr>
                <a:spLocks noChangeShapeType="1"/>
              </p:cNvSpPr>
              <p:nvPr/>
            </p:nvSpPr>
            <p:spPr bwMode="auto">
              <a:xfrm flipH="1">
                <a:off x="1832" y="3520"/>
                <a:ext cx="96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4" name="Line 30"/>
              <p:cNvSpPr>
                <a:spLocks noChangeShapeType="1"/>
              </p:cNvSpPr>
              <p:nvPr/>
            </p:nvSpPr>
            <p:spPr bwMode="auto">
              <a:xfrm>
                <a:off x="1832" y="3664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3566" name="Text Box 31"/>
          <p:cNvSpPr txBox="1">
            <a:spLocks noChangeArrowheads="1"/>
          </p:cNvSpPr>
          <p:nvPr/>
        </p:nvSpPr>
        <p:spPr bwMode="auto">
          <a:xfrm>
            <a:off x="101600" y="6221413"/>
            <a:ext cx="7761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 i="1" dirty="0">
                <a:solidFill>
                  <a:schemeClr val="tx1"/>
                </a:solidFill>
              </a:rPr>
              <a:t>D</a:t>
            </a:r>
            <a:r>
              <a:rPr lang="en-US" altLang="en-US" sz="2800" b="0" i="1" baseline="-25000" dirty="0">
                <a:solidFill>
                  <a:schemeClr val="tx1"/>
                </a:solidFill>
              </a:rPr>
              <a:t>0</a:t>
            </a:r>
            <a:r>
              <a:rPr lang="en-US" altLang="en-US" sz="2800" b="0" dirty="0">
                <a:solidFill>
                  <a:schemeClr val="tx1"/>
                </a:solidFill>
              </a:rPr>
              <a:t> is called the </a:t>
            </a:r>
            <a:r>
              <a:rPr lang="en-US" altLang="en-US" sz="2800" b="0" i="1" dirty="0">
                <a:solidFill>
                  <a:schemeClr val="tx1"/>
                </a:solidFill>
              </a:rPr>
              <a:t>constant or dc component</a:t>
            </a:r>
            <a:r>
              <a:rPr lang="en-US" altLang="en-US" sz="2800" b="0" dirty="0">
                <a:solidFill>
                  <a:schemeClr val="tx1"/>
                </a:solidFill>
              </a:rPr>
              <a:t> of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3567" name="Line 33"/>
          <p:cNvSpPr>
            <a:spLocks noChangeShapeType="1"/>
          </p:cNvSpPr>
          <p:nvPr/>
        </p:nvSpPr>
        <p:spPr bwMode="auto">
          <a:xfrm>
            <a:off x="1765300" y="5334000"/>
            <a:ext cx="10668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9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DA9DBD-779C-467D-B05D-68DB1E58499C}"/>
              </a:ext>
            </a:extLst>
          </p:cNvPr>
          <p:cNvSpPr/>
          <p:nvPr/>
        </p:nvSpPr>
        <p:spPr>
          <a:xfrm>
            <a:off x="4711704" y="5099629"/>
            <a:ext cx="4587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&amp;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01600" y="1384300"/>
            <a:ext cx="8953500" cy="16891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b="0" dirty="0">
                <a:solidFill>
                  <a:schemeClr val="tx1"/>
                </a:solidFill>
              </a:rPr>
              <a:t>The </a:t>
            </a:r>
            <a:r>
              <a:rPr lang="en-US" i="1" dirty="0">
                <a:solidFill>
                  <a:srgbClr val="1C03D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line spectra</a:t>
            </a:r>
            <a:r>
              <a:rPr lang="en-US" b="0" dirty="0">
                <a:solidFill>
                  <a:schemeClr val="tx1"/>
                </a:solidFill>
              </a:rPr>
              <a:t> for the exponential form has negative frequencies because of the mathematical nature of the complex exponent.</a:t>
            </a:r>
          </a:p>
        </p:txBody>
      </p:sp>
      <p:sp>
        <p:nvSpPr>
          <p:cNvPr id="24579" name="Rectangle 7"/>
          <p:cNvSpPr>
            <a:spLocks noChangeArrowheads="1"/>
          </p:cNvSpPr>
          <p:nvPr/>
        </p:nvSpPr>
        <p:spPr bwMode="auto">
          <a:xfrm>
            <a:off x="0" y="85725"/>
            <a:ext cx="9144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300">
                <a:solidFill>
                  <a:srgbClr val="1C03D7"/>
                </a:solidFill>
              </a:rPr>
              <a:t>Line Spectra of </a:t>
            </a:r>
            <a:r>
              <a:rPr lang="en-US" altLang="en-US" sz="3300" i="1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33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300" i="1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300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3300" i="1">
                <a:solidFill>
                  <a:srgbClr val="1C03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300">
                <a:solidFill>
                  <a:srgbClr val="1C03D7"/>
                </a:solidFill>
              </a:rPr>
              <a:t>in the Exponential  Form</a:t>
            </a:r>
          </a:p>
        </p:txBody>
      </p:sp>
      <p:sp>
        <p:nvSpPr>
          <p:cNvPr id="24580" name="Text Box 16"/>
          <p:cNvSpPr txBox="1">
            <a:spLocks noChangeArrowheads="1"/>
          </p:cNvSpPr>
          <p:nvPr/>
        </p:nvSpPr>
        <p:spPr bwMode="auto">
          <a:xfrm>
            <a:off x="2492375" y="6135688"/>
            <a:ext cx="2806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="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2|</a:t>
            </a: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endParaRPr lang="en-US" altLang="en-US" sz="2800" b="0" i="1" baseline="-25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581" name="Group 28"/>
          <p:cNvGrpSpPr>
            <a:grpSpLocks/>
          </p:cNvGrpSpPr>
          <p:nvPr/>
        </p:nvGrpSpPr>
        <p:grpSpPr bwMode="auto">
          <a:xfrm>
            <a:off x="5945188" y="6080125"/>
            <a:ext cx="1639887" cy="461963"/>
            <a:chOff x="336" y="3617"/>
            <a:chExt cx="1033" cy="291"/>
          </a:xfrm>
        </p:grpSpPr>
        <p:sp>
          <p:nvSpPr>
            <p:cNvPr id="24585" name="Text Box 17"/>
            <p:cNvSpPr txBox="1">
              <a:spLocks noChangeArrowheads="1"/>
            </p:cNvSpPr>
            <p:nvPr/>
          </p:nvSpPr>
          <p:spPr bwMode="auto">
            <a:xfrm>
              <a:off x="454" y="3617"/>
              <a:ext cx="91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en-US" sz="24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en-US" sz="2400" b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    </a:t>
              </a:r>
              <a:r>
                <a:rPr lang="en-US" altLang="en-US" sz="2400" b="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en-US" sz="24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586" name="Group 18"/>
            <p:cNvGrpSpPr>
              <a:grpSpLocks/>
            </p:cNvGrpSpPr>
            <p:nvPr/>
          </p:nvGrpSpPr>
          <p:grpSpPr bwMode="auto">
            <a:xfrm>
              <a:off x="336" y="3728"/>
              <a:ext cx="216" cy="144"/>
              <a:chOff x="1832" y="3520"/>
              <a:chExt cx="216" cy="144"/>
            </a:xfrm>
          </p:grpSpPr>
          <p:sp>
            <p:nvSpPr>
              <p:cNvPr id="24590" name="Line 19"/>
              <p:cNvSpPr>
                <a:spLocks noChangeShapeType="1"/>
              </p:cNvSpPr>
              <p:nvPr/>
            </p:nvSpPr>
            <p:spPr bwMode="auto">
              <a:xfrm flipH="1">
                <a:off x="1832" y="3520"/>
                <a:ext cx="96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1" name="Line 20"/>
              <p:cNvSpPr>
                <a:spLocks noChangeShapeType="1"/>
              </p:cNvSpPr>
              <p:nvPr/>
            </p:nvSpPr>
            <p:spPr bwMode="auto">
              <a:xfrm>
                <a:off x="1832" y="3664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587" name="Group 21"/>
            <p:cNvGrpSpPr>
              <a:grpSpLocks/>
            </p:cNvGrpSpPr>
            <p:nvPr/>
          </p:nvGrpSpPr>
          <p:grpSpPr bwMode="auto">
            <a:xfrm>
              <a:off x="1024" y="3720"/>
              <a:ext cx="216" cy="144"/>
              <a:chOff x="1832" y="3520"/>
              <a:chExt cx="216" cy="144"/>
            </a:xfrm>
          </p:grpSpPr>
          <p:sp>
            <p:nvSpPr>
              <p:cNvPr id="24588" name="Line 22"/>
              <p:cNvSpPr>
                <a:spLocks noChangeShapeType="1"/>
              </p:cNvSpPr>
              <p:nvPr/>
            </p:nvSpPr>
            <p:spPr bwMode="auto">
              <a:xfrm flipH="1">
                <a:off x="1832" y="3520"/>
                <a:ext cx="96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89" name="Line 23"/>
              <p:cNvSpPr>
                <a:spLocks noChangeShapeType="1"/>
              </p:cNvSpPr>
              <p:nvPr/>
            </p:nvSpPr>
            <p:spPr bwMode="auto">
              <a:xfrm>
                <a:off x="1832" y="3664"/>
                <a:ext cx="2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24582" name="Object 25"/>
          <p:cNvGraphicFramePr>
            <a:graphicFrameLocks noGrp="1" noChangeAspect="1"/>
          </p:cNvGraphicFramePr>
          <p:nvPr>
            <p:ph sz="half" idx="2"/>
          </p:nvPr>
        </p:nvGraphicFramePr>
        <p:xfrm>
          <a:off x="100013" y="3265488"/>
          <a:ext cx="8980487" cy="233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21100" imgH="965200" progId="Equation.3">
                  <p:embed/>
                </p:oleObj>
              </mc:Choice>
              <mc:Fallback>
                <p:oleObj name="Equation" r:id="rId3" imgW="3721100" imgH="965200" progId="Equation.3">
                  <p:embed/>
                  <p:pic>
                    <p:nvPicPr>
                      <p:cNvPr id="2458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3" y="3265488"/>
                        <a:ext cx="8980487" cy="233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Text Box 16"/>
          <p:cNvSpPr txBox="1">
            <a:spLocks noChangeArrowheads="1"/>
          </p:cNvSpPr>
          <p:nvPr/>
        </p:nvSpPr>
        <p:spPr bwMode="auto">
          <a:xfrm>
            <a:off x="341313" y="6135688"/>
            <a:ext cx="1304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="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b="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4584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80" y="4329687"/>
            <a:ext cx="4515982" cy="2551714"/>
          </a:xfrm>
          <a:prstGeom prst="rect">
            <a:avLst/>
          </a:prstGeom>
        </p:spPr>
      </p:pic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Example</a:t>
            </a:r>
          </a:p>
        </p:txBody>
      </p:sp>
      <p:grpSp>
        <p:nvGrpSpPr>
          <p:cNvPr id="25604" name="Group 5"/>
          <p:cNvGrpSpPr>
            <a:grpSpLocks/>
          </p:cNvGrpSpPr>
          <p:nvPr/>
        </p:nvGrpSpPr>
        <p:grpSpPr bwMode="auto">
          <a:xfrm>
            <a:off x="4826000" y="1391724"/>
            <a:ext cx="4254500" cy="1622425"/>
            <a:chOff x="2984" y="2064"/>
            <a:chExt cx="2680" cy="1022"/>
          </a:xfrm>
        </p:grpSpPr>
        <p:sp>
          <p:nvSpPr>
            <p:cNvPr id="25608" name="Line 6"/>
            <p:cNvSpPr>
              <a:spLocks noChangeShapeType="1"/>
            </p:cNvSpPr>
            <p:nvPr/>
          </p:nvSpPr>
          <p:spPr bwMode="auto">
            <a:xfrm>
              <a:off x="4320" y="225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9" name="Line 7"/>
            <p:cNvSpPr>
              <a:spLocks noChangeShapeType="1"/>
            </p:cNvSpPr>
            <p:nvPr/>
          </p:nvSpPr>
          <p:spPr bwMode="auto">
            <a:xfrm>
              <a:off x="3024" y="2880"/>
              <a:ext cx="25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5610" name="Group 8"/>
            <p:cNvGrpSpPr>
              <a:grpSpLocks/>
            </p:cNvGrpSpPr>
            <p:nvPr/>
          </p:nvGrpSpPr>
          <p:grpSpPr bwMode="auto">
            <a:xfrm>
              <a:off x="4346" y="2832"/>
              <a:ext cx="336" cy="250"/>
              <a:chOff x="4538" y="2832"/>
              <a:chExt cx="336" cy="250"/>
            </a:xfrm>
          </p:grpSpPr>
          <p:sp>
            <p:nvSpPr>
              <p:cNvPr id="25637" name="Line 9"/>
              <p:cNvSpPr>
                <a:spLocks noChangeShapeType="1"/>
              </p:cNvSpPr>
              <p:nvPr/>
            </p:nvSpPr>
            <p:spPr bwMode="auto">
              <a:xfrm>
                <a:off x="4651" y="28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8" name="Text Box 10"/>
              <p:cNvSpPr txBox="1">
                <a:spLocks noChangeArrowheads="1"/>
              </p:cNvSpPr>
              <p:nvPr/>
            </p:nvSpPr>
            <p:spPr bwMode="auto">
              <a:xfrm>
                <a:off x="4538" y="2888"/>
                <a:ext cx="336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400" b="0" dirty="0">
                    <a:solidFill>
                      <a:schemeClr val="tx1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</a:t>
                </a:r>
                <a:r>
                  <a:rPr lang="en-US" altLang="en-US" sz="1400" b="0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/2</a:t>
                </a:r>
                <a:endParaRPr lang="en-US" altLang="en-US" sz="1400" b="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11" name="Group 11"/>
            <p:cNvGrpSpPr>
              <a:grpSpLocks/>
            </p:cNvGrpSpPr>
            <p:nvPr/>
          </p:nvGrpSpPr>
          <p:grpSpPr bwMode="auto">
            <a:xfrm>
              <a:off x="3995" y="2832"/>
              <a:ext cx="384" cy="248"/>
              <a:chOff x="3803" y="2832"/>
              <a:chExt cx="384" cy="248"/>
            </a:xfrm>
          </p:grpSpPr>
          <p:sp>
            <p:nvSpPr>
              <p:cNvPr id="25635" name="Line 12"/>
              <p:cNvSpPr>
                <a:spLocks noChangeShapeType="1"/>
              </p:cNvSpPr>
              <p:nvPr/>
            </p:nvSpPr>
            <p:spPr bwMode="auto">
              <a:xfrm>
                <a:off x="3977" y="2832"/>
                <a:ext cx="1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6" name="Text Box 13"/>
              <p:cNvSpPr txBox="1">
                <a:spLocks noChangeArrowheads="1"/>
              </p:cNvSpPr>
              <p:nvPr/>
            </p:nvSpPr>
            <p:spPr bwMode="auto">
              <a:xfrm>
                <a:off x="3803" y="2886"/>
                <a:ext cx="384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400" b="0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-</a:t>
                </a:r>
                <a:r>
                  <a:rPr lang="en-US" altLang="en-US" sz="1400" b="0" dirty="0">
                    <a:solidFill>
                      <a:schemeClr val="tx1"/>
                    </a:solidFill>
                    <a:latin typeface="Symbol" panose="05050102010706020507" pitchFamily="18" charset="2"/>
                    <a:sym typeface="Symbol" panose="05050102010706020507" pitchFamily="18" charset="2"/>
                  </a:rPr>
                  <a:t></a:t>
                </a:r>
                <a:r>
                  <a:rPr lang="en-US" altLang="en-US" sz="1400" b="0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/2</a:t>
                </a:r>
                <a:endParaRPr lang="en-US" altLang="en-US" sz="1400" b="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12" name="Line 14"/>
            <p:cNvSpPr>
              <a:spLocks noChangeShapeType="1"/>
            </p:cNvSpPr>
            <p:nvPr/>
          </p:nvSpPr>
          <p:spPr bwMode="auto">
            <a:xfrm>
              <a:off x="4272" y="244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3" name="Text Box 15"/>
            <p:cNvSpPr txBox="1">
              <a:spLocks noChangeArrowheads="1"/>
            </p:cNvSpPr>
            <p:nvPr/>
          </p:nvSpPr>
          <p:spPr bwMode="auto">
            <a:xfrm>
              <a:off x="4128" y="2256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4" name="Text Box 16"/>
            <p:cNvSpPr txBox="1">
              <a:spLocks noChangeArrowheads="1"/>
            </p:cNvSpPr>
            <p:nvPr/>
          </p:nvSpPr>
          <p:spPr bwMode="auto">
            <a:xfrm>
              <a:off x="4224" y="2064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en-US" sz="1600" b="0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en-US" sz="1600" b="0">
                  <a:solidFill>
                    <a:schemeClr val="tx1"/>
                  </a:solidFill>
                  <a:latin typeface="Times New Roman" panose="02020603050405020304" pitchFamily="18" charset="0"/>
                </a:rPr>
                <a:t>)</a:t>
              </a:r>
              <a:endParaRPr lang="en-US" altLang="en-US" sz="2400" b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5615" name="Group 17"/>
            <p:cNvGrpSpPr>
              <a:grpSpLocks/>
            </p:cNvGrpSpPr>
            <p:nvPr/>
          </p:nvGrpSpPr>
          <p:grpSpPr bwMode="auto">
            <a:xfrm>
              <a:off x="2984" y="2832"/>
              <a:ext cx="761" cy="252"/>
              <a:chOff x="3080" y="2832"/>
              <a:chExt cx="761" cy="252"/>
            </a:xfrm>
          </p:grpSpPr>
          <p:sp>
            <p:nvSpPr>
              <p:cNvPr id="25633" name="Line 18"/>
              <p:cNvSpPr>
                <a:spLocks noChangeShapeType="1"/>
              </p:cNvSpPr>
              <p:nvPr/>
            </p:nvSpPr>
            <p:spPr bwMode="auto">
              <a:xfrm>
                <a:off x="3840" y="2832"/>
                <a:ext cx="1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4" name="Text Box 19"/>
              <p:cNvSpPr txBox="1">
                <a:spLocks noChangeArrowheads="1"/>
              </p:cNvSpPr>
              <p:nvPr/>
            </p:nvSpPr>
            <p:spPr bwMode="auto">
              <a:xfrm>
                <a:off x="3080" y="2890"/>
                <a:ext cx="384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400" b="0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-T</a:t>
                </a:r>
                <a:r>
                  <a:rPr lang="en-US" altLang="en-US" sz="1400" b="0" baseline="-25000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o</a:t>
                </a:r>
                <a:endParaRPr lang="en-US" altLang="en-US" sz="14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31" name="Line 21"/>
            <p:cNvSpPr>
              <a:spLocks noChangeShapeType="1"/>
            </p:cNvSpPr>
            <p:nvPr/>
          </p:nvSpPr>
          <p:spPr bwMode="auto">
            <a:xfrm>
              <a:off x="4896" y="28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5617" name="Group 23"/>
            <p:cNvGrpSpPr>
              <a:grpSpLocks/>
            </p:cNvGrpSpPr>
            <p:nvPr/>
          </p:nvGrpSpPr>
          <p:grpSpPr bwMode="auto">
            <a:xfrm>
              <a:off x="5328" y="2832"/>
              <a:ext cx="336" cy="254"/>
              <a:chOff x="4656" y="2832"/>
              <a:chExt cx="336" cy="254"/>
            </a:xfrm>
          </p:grpSpPr>
          <p:sp>
            <p:nvSpPr>
              <p:cNvPr id="25629" name="Line 24"/>
              <p:cNvSpPr>
                <a:spLocks noChangeShapeType="1"/>
              </p:cNvSpPr>
              <p:nvPr/>
            </p:nvSpPr>
            <p:spPr bwMode="auto">
              <a:xfrm>
                <a:off x="4800" y="28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0" name="Text Box 25"/>
              <p:cNvSpPr txBox="1">
                <a:spLocks noChangeArrowheads="1"/>
              </p:cNvSpPr>
              <p:nvPr/>
            </p:nvSpPr>
            <p:spPr bwMode="auto">
              <a:xfrm>
                <a:off x="4656" y="2892"/>
                <a:ext cx="336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en-US" sz="1400" b="0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T</a:t>
                </a:r>
                <a:r>
                  <a:rPr lang="en-US" altLang="en-US" sz="1400" b="0" baseline="-25000" dirty="0">
                    <a:solidFill>
                      <a:schemeClr val="tx1"/>
                    </a:solidFill>
                    <a:latin typeface="Symbol" panose="05050102010706020507" pitchFamily="18" charset="2"/>
                  </a:rPr>
                  <a:t>o</a:t>
                </a:r>
                <a:endParaRPr lang="en-US" altLang="en-US" sz="1400" b="0" baseline="-25000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27" name="Line 27"/>
            <p:cNvSpPr>
              <a:spLocks noChangeShapeType="1"/>
            </p:cNvSpPr>
            <p:nvPr/>
          </p:nvSpPr>
          <p:spPr bwMode="auto">
            <a:xfrm>
              <a:off x="3168" y="2832"/>
              <a:ext cx="1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5619" name="Group 29"/>
            <p:cNvGrpSpPr>
              <a:grpSpLocks/>
            </p:cNvGrpSpPr>
            <p:nvPr/>
          </p:nvGrpSpPr>
          <p:grpSpPr bwMode="auto">
            <a:xfrm>
              <a:off x="4169" y="2448"/>
              <a:ext cx="294" cy="432"/>
              <a:chOff x="4169" y="2448"/>
              <a:chExt cx="294" cy="432"/>
            </a:xfrm>
          </p:grpSpPr>
          <p:sp>
            <p:nvSpPr>
              <p:cNvPr id="25620" name="Line 30"/>
              <p:cNvSpPr>
                <a:spLocks noChangeShapeType="1"/>
              </p:cNvSpPr>
              <p:nvPr/>
            </p:nvSpPr>
            <p:spPr bwMode="auto">
              <a:xfrm flipV="1">
                <a:off x="4172" y="2448"/>
                <a:ext cx="0" cy="4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1" name="Line 31"/>
              <p:cNvSpPr>
                <a:spLocks noChangeShapeType="1"/>
              </p:cNvSpPr>
              <p:nvPr/>
            </p:nvSpPr>
            <p:spPr bwMode="auto">
              <a:xfrm flipV="1">
                <a:off x="4169" y="2448"/>
                <a:ext cx="29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22" name="Line 32"/>
              <p:cNvSpPr>
                <a:spLocks noChangeShapeType="1"/>
              </p:cNvSpPr>
              <p:nvPr/>
            </p:nvSpPr>
            <p:spPr bwMode="auto">
              <a:xfrm flipV="1">
                <a:off x="4463" y="2448"/>
                <a:ext cx="0" cy="43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5605" name="Text Box 37"/>
          <p:cNvSpPr txBox="1">
            <a:spLocks noChangeArrowheads="1"/>
          </p:cNvSpPr>
          <p:nvPr/>
        </p:nvSpPr>
        <p:spPr bwMode="auto">
          <a:xfrm>
            <a:off x="125413" y="888999"/>
            <a:ext cx="89550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dirty="0">
                <a:solidFill>
                  <a:schemeClr val="tx1"/>
                </a:solidFill>
              </a:rPr>
              <a:t>Find the exponential Fourier Series for the square-pulse periodic signal.</a:t>
            </a:r>
          </a:p>
        </p:txBody>
      </p:sp>
      <p:sp>
        <p:nvSpPr>
          <p:cNvPr id="25607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30"/>
          <p:cNvSpPr>
            <a:spLocks noChangeShapeType="1"/>
          </p:cNvSpPr>
          <p:nvPr/>
        </p:nvSpPr>
        <p:spPr bwMode="auto">
          <a:xfrm flipV="1">
            <a:off x="8535343" y="2134782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31"/>
          <p:cNvSpPr>
            <a:spLocks noChangeShapeType="1"/>
          </p:cNvSpPr>
          <p:nvPr/>
        </p:nvSpPr>
        <p:spPr bwMode="auto">
          <a:xfrm flipV="1">
            <a:off x="8530581" y="2134782"/>
            <a:ext cx="466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32"/>
          <p:cNvSpPr>
            <a:spLocks noChangeShapeType="1"/>
          </p:cNvSpPr>
          <p:nvPr/>
        </p:nvSpPr>
        <p:spPr bwMode="auto">
          <a:xfrm flipV="1">
            <a:off x="8997306" y="2134782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0"/>
          <p:cNvSpPr>
            <a:spLocks noChangeShapeType="1"/>
          </p:cNvSpPr>
          <p:nvPr/>
        </p:nvSpPr>
        <p:spPr bwMode="auto">
          <a:xfrm flipV="1">
            <a:off x="4881642" y="2144307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Line 31"/>
          <p:cNvSpPr>
            <a:spLocks noChangeShapeType="1"/>
          </p:cNvSpPr>
          <p:nvPr/>
        </p:nvSpPr>
        <p:spPr bwMode="auto">
          <a:xfrm flipV="1">
            <a:off x="4876879" y="2144307"/>
            <a:ext cx="466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Line 32"/>
          <p:cNvSpPr>
            <a:spLocks noChangeShapeType="1"/>
          </p:cNvSpPr>
          <p:nvPr/>
        </p:nvSpPr>
        <p:spPr bwMode="auto">
          <a:xfrm flipV="1">
            <a:off x="5343604" y="2144307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Text Box 25"/>
          <p:cNvSpPr txBox="1">
            <a:spLocks noChangeArrowheads="1"/>
          </p:cNvSpPr>
          <p:nvPr/>
        </p:nvSpPr>
        <p:spPr bwMode="auto">
          <a:xfrm>
            <a:off x="7675563" y="2855412"/>
            <a:ext cx="5667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400" b="0" dirty="0">
                <a:solidFill>
                  <a:schemeClr val="tx1"/>
                </a:solidFill>
                <a:latin typeface="Symbol" panose="05050102010706020507" pitchFamily="18" charset="2"/>
              </a:rPr>
              <a:t>T</a:t>
            </a:r>
            <a:r>
              <a:rPr lang="en-US" altLang="en-US" sz="1400" b="0" baseline="-25000" dirty="0">
                <a:solidFill>
                  <a:schemeClr val="tx1"/>
                </a:solidFill>
                <a:latin typeface="Symbol" panose="05050102010706020507" pitchFamily="18" charset="2"/>
              </a:rPr>
              <a:t>o</a:t>
            </a:r>
            <a:r>
              <a:rPr lang="en-US" altLang="en-US" sz="1400" b="0" dirty="0">
                <a:solidFill>
                  <a:schemeClr val="tx1"/>
                </a:solidFill>
                <a:latin typeface="Symbol" panose="05050102010706020507" pitchFamily="18" charset="2"/>
              </a:rPr>
              <a:t>/2</a:t>
            </a:r>
            <a:endParaRPr lang="en-US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5763242" y="2771564"/>
            <a:ext cx="6147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400" b="0" dirty="0">
                <a:solidFill>
                  <a:schemeClr val="tx1"/>
                </a:solidFill>
                <a:latin typeface="Symbol" panose="05050102010706020507" pitchFamily="18" charset="2"/>
              </a:rPr>
              <a:t>-T</a:t>
            </a:r>
            <a:r>
              <a:rPr lang="en-US" altLang="en-US" sz="1400" b="0" baseline="-25000" dirty="0">
                <a:solidFill>
                  <a:schemeClr val="tx1"/>
                </a:solidFill>
                <a:latin typeface="Symbol" panose="05050102010706020507" pitchFamily="18" charset="2"/>
              </a:rPr>
              <a:t>o</a:t>
            </a:r>
            <a:r>
              <a:rPr lang="en-US" altLang="en-US" sz="1400" b="0" dirty="0">
                <a:solidFill>
                  <a:schemeClr val="tx1"/>
                </a:solidFill>
                <a:latin typeface="Symbol" panose="05050102010706020507" pitchFamily="18" charset="2"/>
              </a:rPr>
              <a:t>/2</a:t>
            </a:r>
            <a:endParaRPr lang="en-US" altLang="en-US" sz="1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9261" y="1906584"/>
                <a:ext cx="3828740" cy="11727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𝑛𝑡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61" y="1906584"/>
                <a:ext cx="3828740" cy="11727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00441" y="3163189"/>
                <a:ext cx="2792559" cy="695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𝑠𝑖𝑛𝑐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41" y="3163189"/>
                <a:ext cx="2792559" cy="69525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47940" y="3860772"/>
            <a:ext cx="3970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 and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   then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229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52393" y="1067754"/>
            <a:ext cx="4254500" cy="1771465"/>
            <a:chOff x="4889500" y="0"/>
            <a:chExt cx="4254500" cy="1771465"/>
          </a:xfrm>
        </p:grpSpPr>
        <p:grpSp>
          <p:nvGrpSpPr>
            <p:cNvPr id="25604" name="Group 5"/>
            <p:cNvGrpSpPr>
              <a:grpSpLocks/>
            </p:cNvGrpSpPr>
            <p:nvPr/>
          </p:nvGrpSpPr>
          <p:grpSpPr bwMode="auto">
            <a:xfrm>
              <a:off x="4889500" y="0"/>
              <a:ext cx="4254500" cy="1622425"/>
              <a:chOff x="2984" y="2064"/>
              <a:chExt cx="2680" cy="1022"/>
            </a:xfrm>
          </p:grpSpPr>
          <p:sp>
            <p:nvSpPr>
              <p:cNvPr id="25608" name="Line 6"/>
              <p:cNvSpPr>
                <a:spLocks noChangeShapeType="1"/>
              </p:cNvSpPr>
              <p:nvPr/>
            </p:nvSpPr>
            <p:spPr bwMode="auto">
              <a:xfrm>
                <a:off x="4320" y="2256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" name="Line 7"/>
              <p:cNvSpPr>
                <a:spLocks noChangeShapeType="1"/>
              </p:cNvSpPr>
              <p:nvPr/>
            </p:nvSpPr>
            <p:spPr bwMode="auto">
              <a:xfrm>
                <a:off x="3024" y="2880"/>
                <a:ext cx="25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5610" name="Group 8"/>
              <p:cNvGrpSpPr>
                <a:grpSpLocks/>
              </p:cNvGrpSpPr>
              <p:nvPr/>
            </p:nvGrpSpPr>
            <p:grpSpPr bwMode="auto">
              <a:xfrm>
                <a:off x="4346" y="2832"/>
                <a:ext cx="336" cy="250"/>
                <a:chOff x="4538" y="2832"/>
                <a:chExt cx="336" cy="250"/>
              </a:xfrm>
            </p:grpSpPr>
            <p:sp>
              <p:nvSpPr>
                <p:cNvPr id="25637" name="Line 9"/>
                <p:cNvSpPr>
                  <a:spLocks noChangeShapeType="1"/>
                </p:cNvSpPr>
                <p:nvPr/>
              </p:nvSpPr>
              <p:spPr bwMode="auto">
                <a:xfrm>
                  <a:off x="4651" y="283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3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538" y="2888"/>
                  <a:ext cx="336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folHlin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 b="1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folHlin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Symbol" panose="05050102010706020507" pitchFamily="18" charset="2"/>
                      <a:sym typeface="Symbol" panose="05050102010706020507" pitchFamily="18" charset="2"/>
                    </a:rPr>
                    <a:t></a:t>
                  </a:r>
                  <a:r>
                    <a:rPr lang="en-US" altLang="en-US" sz="1400" b="0" dirty="0"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/2</a:t>
                  </a:r>
                  <a:endParaRPr lang="en-US" altLang="en-US" sz="1400" b="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5611" name="Group 11"/>
              <p:cNvGrpSpPr>
                <a:grpSpLocks/>
              </p:cNvGrpSpPr>
              <p:nvPr/>
            </p:nvGrpSpPr>
            <p:grpSpPr bwMode="auto">
              <a:xfrm>
                <a:off x="3995" y="2832"/>
                <a:ext cx="384" cy="248"/>
                <a:chOff x="3803" y="2832"/>
                <a:chExt cx="384" cy="248"/>
              </a:xfrm>
            </p:grpSpPr>
            <p:sp>
              <p:nvSpPr>
                <p:cNvPr id="25635" name="Line 12"/>
                <p:cNvSpPr>
                  <a:spLocks noChangeShapeType="1"/>
                </p:cNvSpPr>
                <p:nvPr/>
              </p:nvSpPr>
              <p:spPr bwMode="auto">
                <a:xfrm>
                  <a:off x="3977" y="2832"/>
                  <a:ext cx="1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3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803" y="2886"/>
                  <a:ext cx="384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folHlin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 b="1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folHlin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-</a:t>
                  </a:r>
                  <a:r>
                    <a:rPr lang="en-US" altLang="en-US" sz="1400" b="0" dirty="0">
                      <a:solidFill>
                        <a:schemeClr val="tx1"/>
                      </a:solidFill>
                      <a:latin typeface="Symbol" panose="05050102010706020507" pitchFamily="18" charset="2"/>
                      <a:sym typeface="Symbol" panose="05050102010706020507" pitchFamily="18" charset="2"/>
                    </a:rPr>
                    <a:t></a:t>
                  </a:r>
                  <a:r>
                    <a:rPr lang="en-US" altLang="en-US" sz="1400" b="0" dirty="0"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/2</a:t>
                  </a:r>
                  <a:endParaRPr lang="en-US" altLang="en-US" sz="1400" b="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5612" name="Line 14"/>
              <p:cNvSpPr>
                <a:spLocks noChangeShapeType="1"/>
              </p:cNvSpPr>
              <p:nvPr/>
            </p:nvSpPr>
            <p:spPr bwMode="auto">
              <a:xfrm>
                <a:off x="4272" y="244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13" name="Text Box 15"/>
              <p:cNvSpPr txBox="1">
                <a:spLocks noChangeArrowheads="1"/>
              </p:cNvSpPr>
              <p:nvPr/>
            </p:nvSpPr>
            <p:spPr bwMode="auto">
              <a:xfrm>
                <a:off x="4128" y="2256"/>
                <a:ext cx="19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en-US" sz="2400" b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14" name="Text Box 16"/>
              <p:cNvSpPr txBox="1">
                <a:spLocks noChangeArrowheads="1"/>
              </p:cNvSpPr>
              <p:nvPr/>
            </p:nvSpPr>
            <p:spPr bwMode="auto">
              <a:xfrm>
                <a:off x="4224" y="2064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 b="1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 b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folHlink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0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(</a:t>
                </a:r>
                <a:r>
                  <a:rPr lang="en-US" altLang="en-US" sz="1600" b="0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en-US" altLang="en-US" sz="1600" b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)</a:t>
                </a:r>
                <a:endParaRPr lang="en-US" altLang="en-US" sz="2400" b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5615" name="Group 17"/>
              <p:cNvGrpSpPr>
                <a:grpSpLocks/>
              </p:cNvGrpSpPr>
              <p:nvPr/>
            </p:nvGrpSpPr>
            <p:grpSpPr bwMode="auto">
              <a:xfrm>
                <a:off x="2984" y="2832"/>
                <a:ext cx="761" cy="252"/>
                <a:chOff x="3080" y="2832"/>
                <a:chExt cx="761" cy="252"/>
              </a:xfrm>
            </p:grpSpPr>
            <p:sp>
              <p:nvSpPr>
                <p:cNvPr id="25633" name="Line 18"/>
                <p:cNvSpPr>
                  <a:spLocks noChangeShapeType="1"/>
                </p:cNvSpPr>
                <p:nvPr/>
              </p:nvSpPr>
              <p:spPr bwMode="auto">
                <a:xfrm>
                  <a:off x="3840" y="2832"/>
                  <a:ext cx="1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34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3080" y="2890"/>
                  <a:ext cx="384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folHlin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 b="1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folHlin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-T</a:t>
                  </a:r>
                  <a:r>
                    <a:rPr lang="en-US" altLang="en-US" sz="1400" b="0" baseline="-25000" dirty="0"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o</a:t>
                  </a:r>
                  <a:endParaRPr lang="en-US" altLang="en-US" sz="1400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5631" name="Line 21"/>
              <p:cNvSpPr>
                <a:spLocks noChangeShapeType="1"/>
              </p:cNvSpPr>
              <p:nvPr/>
            </p:nvSpPr>
            <p:spPr bwMode="auto">
              <a:xfrm>
                <a:off x="4896" y="283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5617" name="Group 23"/>
              <p:cNvGrpSpPr>
                <a:grpSpLocks/>
              </p:cNvGrpSpPr>
              <p:nvPr/>
            </p:nvGrpSpPr>
            <p:grpSpPr bwMode="auto">
              <a:xfrm>
                <a:off x="5328" y="2832"/>
                <a:ext cx="336" cy="254"/>
                <a:chOff x="4656" y="2832"/>
                <a:chExt cx="336" cy="254"/>
              </a:xfrm>
            </p:grpSpPr>
            <p:sp>
              <p:nvSpPr>
                <p:cNvPr id="25629" name="Line 24"/>
                <p:cNvSpPr>
                  <a:spLocks noChangeShapeType="1"/>
                </p:cNvSpPr>
                <p:nvPr/>
              </p:nvSpPr>
              <p:spPr bwMode="auto">
                <a:xfrm>
                  <a:off x="4800" y="283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3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656" y="2892"/>
                  <a:ext cx="336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 b="1">
                      <a:solidFill>
                        <a:schemeClr val="folHlin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 b="1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folHlin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T</a:t>
                  </a:r>
                  <a:r>
                    <a:rPr lang="en-US" altLang="en-US" sz="1400" b="0" baseline="-25000" dirty="0"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o</a:t>
                  </a:r>
                  <a:endParaRPr lang="en-US" altLang="en-US" sz="1400" b="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5627" name="Line 27"/>
              <p:cNvSpPr>
                <a:spLocks noChangeShapeType="1"/>
              </p:cNvSpPr>
              <p:nvPr/>
            </p:nvSpPr>
            <p:spPr bwMode="auto">
              <a:xfrm>
                <a:off x="3168" y="2832"/>
                <a:ext cx="1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5619" name="Group 29"/>
              <p:cNvGrpSpPr>
                <a:grpSpLocks/>
              </p:cNvGrpSpPr>
              <p:nvPr/>
            </p:nvGrpSpPr>
            <p:grpSpPr bwMode="auto">
              <a:xfrm>
                <a:off x="4169" y="2448"/>
                <a:ext cx="294" cy="432"/>
                <a:chOff x="4169" y="2448"/>
                <a:chExt cx="294" cy="432"/>
              </a:xfrm>
            </p:grpSpPr>
            <p:sp>
              <p:nvSpPr>
                <p:cNvPr id="25620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4172" y="2448"/>
                  <a:ext cx="0" cy="43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21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4169" y="2448"/>
                  <a:ext cx="29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22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4463" y="2448"/>
                  <a:ext cx="0" cy="43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39" name="Line 30"/>
            <p:cNvSpPr>
              <a:spLocks noChangeShapeType="1"/>
            </p:cNvSpPr>
            <p:nvPr/>
          </p:nvSpPr>
          <p:spPr bwMode="auto">
            <a:xfrm flipV="1">
              <a:off x="8598843" y="743058"/>
              <a:ext cx="0" cy="685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31"/>
            <p:cNvSpPr>
              <a:spLocks noChangeShapeType="1"/>
            </p:cNvSpPr>
            <p:nvPr/>
          </p:nvSpPr>
          <p:spPr bwMode="auto">
            <a:xfrm flipV="1">
              <a:off x="8594081" y="743058"/>
              <a:ext cx="4667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32"/>
            <p:cNvSpPr>
              <a:spLocks noChangeShapeType="1"/>
            </p:cNvSpPr>
            <p:nvPr/>
          </p:nvSpPr>
          <p:spPr bwMode="auto">
            <a:xfrm flipV="1">
              <a:off x="9060806" y="743058"/>
              <a:ext cx="0" cy="685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 flipV="1">
              <a:off x="4945142" y="752583"/>
              <a:ext cx="0" cy="685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31"/>
            <p:cNvSpPr>
              <a:spLocks noChangeShapeType="1"/>
            </p:cNvSpPr>
            <p:nvPr/>
          </p:nvSpPr>
          <p:spPr bwMode="auto">
            <a:xfrm flipV="1">
              <a:off x="4940379" y="752583"/>
              <a:ext cx="4667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32"/>
            <p:cNvSpPr>
              <a:spLocks noChangeShapeType="1"/>
            </p:cNvSpPr>
            <p:nvPr/>
          </p:nvSpPr>
          <p:spPr bwMode="auto">
            <a:xfrm flipV="1">
              <a:off x="5407104" y="752583"/>
              <a:ext cx="0" cy="685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Text Box 25"/>
            <p:cNvSpPr txBox="1">
              <a:spLocks noChangeArrowheads="1"/>
            </p:cNvSpPr>
            <p:nvPr/>
          </p:nvSpPr>
          <p:spPr bwMode="auto">
            <a:xfrm>
              <a:off x="7739063" y="1463688"/>
              <a:ext cx="56673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dirty="0">
                  <a:solidFill>
                    <a:schemeClr val="tx1"/>
                  </a:solidFill>
                  <a:latin typeface="Symbol" panose="05050102010706020507" pitchFamily="18" charset="2"/>
                </a:rPr>
                <a:t>T</a:t>
              </a:r>
              <a:r>
                <a:rPr lang="en-US" altLang="en-US" sz="1400" b="0" baseline="-25000" dirty="0">
                  <a:solidFill>
                    <a:schemeClr val="tx1"/>
                  </a:solidFill>
                  <a:latin typeface="Symbol" panose="05050102010706020507" pitchFamily="18" charset="2"/>
                </a:rPr>
                <a:t>o</a:t>
              </a:r>
              <a:r>
                <a:rPr lang="en-US" altLang="en-US" sz="1400" b="0" dirty="0">
                  <a:solidFill>
                    <a:schemeClr val="tx1"/>
                  </a:solidFill>
                  <a:latin typeface="Symbol" panose="05050102010706020507" pitchFamily="18" charset="2"/>
                </a:rPr>
                <a:t>/2</a:t>
              </a:r>
              <a:endParaRPr lang="en-US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Text Box 25"/>
            <p:cNvSpPr txBox="1">
              <a:spLocks noChangeArrowheads="1"/>
            </p:cNvSpPr>
            <p:nvPr/>
          </p:nvSpPr>
          <p:spPr bwMode="auto">
            <a:xfrm>
              <a:off x="5826742" y="1379840"/>
              <a:ext cx="61471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folHlink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1400" b="0" dirty="0">
                  <a:solidFill>
                    <a:schemeClr val="tx1"/>
                  </a:solidFill>
                  <a:latin typeface="Symbol" panose="05050102010706020507" pitchFamily="18" charset="2"/>
                </a:rPr>
                <a:t>-T</a:t>
              </a:r>
              <a:r>
                <a:rPr lang="en-US" altLang="en-US" sz="1400" b="0" baseline="-25000" dirty="0">
                  <a:solidFill>
                    <a:schemeClr val="tx1"/>
                  </a:solidFill>
                  <a:latin typeface="Symbol" panose="05050102010706020507" pitchFamily="18" charset="2"/>
                </a:rPr>
                <a:t>o</a:t>
              </a:r>
              <a:r>
                <a:rPr lang="en-US" altLang="en-US" sz="1400" b="0" dirty="0">
                  <a:solidFill>
                    <a:schemeClr val="tx1"/>
                  </a:solidFill>
                  <a:latin typeface="Symbol" panose="05050102010706020507" pitchFamily="18" charset="2"/>
                </a:rPr>
                <a:t>/2</a:t>
              </a:r>
              <a:endParaRPr lang="en-US" altLang="en-US" sz="1400" b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87596" y="261272"/>
                <a:ext cx="2792559" cy="695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𝑠𝑖𝑛𝑐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96" y="261272"/>
                <a:ext cx="2792559" cy="6952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4718962" y="3509107"/>
            <a:ext cx="4345446" cy="3321416"/>
            <a:chOff x="4718962" y="3509107"/>
            <a:chExt cx="4345446" cy="332141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18962" y="3509107"/>
              <a:ext cx="4345446" cy="332141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>
                <a:xfrm>
                  <a:off x="5333505" y="3923031"/>
                  <a:ext cx="89966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=0.2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1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3505" y="3923031"/>
                  <a:ext cx="899669" cy="30777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5333505" y="3621599"/>
                  <a:ext cx="75155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14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1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3505" y="3621599"/>
                  <a:ext cx="751551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4698482" y="-29155"/>
            <a:ext cx="4454001" cy="3476518"/>
            <a:chOff x="52892" y="3301321"/>
            <a:chExt cx="4454001" cy="347651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892" y="3301321"/>
              <a:ext cx="4454001" cy="347651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750434" y="3777641"/>
                  <a:ext cx="899670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=0.1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1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434" y="3777641"/>
                  <a:ext cx="899670" cy="30777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/>
                <p:cNvSpPr/>
                <p:nvPr/>
              </p:nvSpPr>
              <p:spPr>
                <a:xfrm>
                  <a:off x="758348" y="3471709"/>
                  <a:ext cx="75155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1400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1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" name="Rectangle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348" y="3471709"/>
                  <a:ext cx="751552" cy="30777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46180" y="3287630"/>
            <a:ext cx="4524042" cy="3559288"/>
            <a:chOff x="0" y="3287630"/>
            <a:chExt cx="4524042" cy="355928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3287630"/>
              <a:ext cx="4524042" cy="355928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/>
                <p:cNvSpPr/>
                <p:nvPr/>
              </p:nvSpPr>
              <p:spPr>
                <a:xfrm>
                  <a:off x="559224" y="3923031"/>
                  <a:ext cx="89966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=0.1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1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6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24" y="3923031"/>
                  <a:ext cx="899669" cy="307777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515463" y="3525502"/>
                  <a:ext cx="987193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1400" i="1" baseline="-25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</m:t>
                        </m:r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1400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463" y="3525502"/>
                  <a:ext cx="987193" cy="307777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55791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4" name="Rectangle 36"/>
          <p:cNvSpPr>
            <a:spLocks noChangeArrowheads="1"/>
          </p:cNvSpPr>
          <p:nvPr/>
        </p:nvSpPr>
        <p:spPr bwMode="auto">
          <a:xfrm>
            <a:off x="279400" y="127000"/>
            <a:ext cx="87249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1C03D7"/>
                </a:solidFill>
              </a:rPr>
              <a:t>Exponential Line Spectra</a:t>
            </a:r>
          </a:p>
        </p:txBody>
      </p:sp>
      <p:sp>
        <p:nvSpPr>
          <p:cNvPr id="26655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1232686"/>
            <a:ext cx="6953250" cy="49720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 descr="fig4_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8" y="1676400"/>
            <a:ext cx="4191000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4" descr="fig4_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088" y="1676400"/>
            <a:ext cx="4267200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676" name="Object 5"/>
          <p:cNvGraphicFramePr>
            <a:graphicFrameLocks noChangeAspect="1"/>
          </p:cNvGraphicFramePr>
          <p:nvPr/>
        </p:nvGraphicFramePr>
        <p:xfrm>
          <a:off x="1893888" y="1109663"/>
          <a:ext cx="83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200" imgH="508000" progId="Equation.DSMT4">
                  <p:embed/>
                </p:oleObj>
              </mc:Choice>
              <mc:Fallback>
                <p:oleObj name="Equation" r:id="rId5" imgW="838200" imgH="508000" progId="Equation.DSMT4">
                  <p:embed/>
                  <p:pic>
                    <p:nvPicPr>
                      <p:cNvPr id="2867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1109663"/>
                        <a:ext cx="838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6"/>
          <p:cNvGraphicFramePr>
            <a:graphicFrameLocks noChangeAspect="1"/>
          </p:cNvGraphicFramePr>
          <p:nvPr/>
        </p:nvGraphicFramePr>
        <p:xfrm>
          <a:off x="6211888" y="1157288"/>
          <a:ext cx="850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50900" imgH="508000" progId="Equation.DSMT4">
                  <p:embed/>
                </p:oleObj>
              </mc:Choice>
              <mc:Fallback>
                <p:oleObj name="Equation" r:id="rId7" imgW="850900" imgH="508000" progId="Equation.DSMT4">
                  <p:embed/>
                  <p:pic>
                    <p:nvPicPr>
                      <p:cNvPr id="2867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888" y="1157288"/>
                        <a:ext cx="850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Rectangle 7"/>
          <p:cNvSpPr>
            <a:spLocks noChangeArrowheads="1"/>
          </p:cNvSpPr>
          <p:nvPr/>
        </p:nvSpPr>
        <p:spPr bwMode="auto">
          <a:xfrm>
            <a:off x="139700" y="53975"/>
            <a:ext cx="89535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1C03D7"/>
                </a:solidFill>
              </a:rPr>
              <a:t>Gibbs Phenomenon</a:t>
            </a:r>
          </a:p>
        </p:txBody>
      </p:sp>
      <p:sp>
        <p:nvSpPr>
          <p:cNvPr id="28679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3" descr="fig4_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1524000"/>
            <a:ext cx="4284663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4" descr="fig4_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5" y="1539875"/>
            <a:ext cx="4184650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9700" name="Object 5"/>
          <p:cNvGraphicFramePr>
            <a:graphicFrameLocks noChangeAspect="1"/>
          </p:cNvGraphicFramePr>
          <p:nvPr/>
        </p:nvGraphicFramePr>
        <p:xfrm>
          <a:off x="1736725" y="914400"/>
          <a:ext cx="965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200" imgH="508000" progId="Equation.DSMT4">
                  <p:embed/>
                </p:oleObj>
              </mc:Choice>
              <mc:Fallback>
                <p:oleObj name="Equation" r:id="rId5" imgW="965200" imgH="508000" progId="Equation.DSMT4">
                  <p:embed/>
                  <p:pic>
                    <p:nvPicPr>
                      <p:cNvPr id="2970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914400"/>
                        <a:ext cx="965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6"/>
          <p:cNvGraphicFramePr>
            <a:graphicFrameLocks noChangeAspect="1"/>
          </p:cNvGraphicFramePr>
          <p:nvPr/>
        </p:nvGraphicFramePr>
        <p:xfrm>
          <a:off x="6367463" y="939800"/>
          <a:ext cx="977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77900" imgH="508000" progId="Equation.DSMT4">
                  <p:embed/>
                </p:oleObj>
              </mc:Choice>
              <mc:Fallback>
                <p:oleObj name="Equation" r:id="rId7" imgW="977900" imgH="508000" progId="Equation.DSMT4">
                  <p:embed/>
                  <p:pic>
                    <p:nvPicPr>
                      <p:cNvPr id="2970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463" y="939800"/>
                        <a:ext cx="977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838200" y="5181600"/>
            <a:ext cx="72390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sz="28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overshoot</a:t>
            </a:r>
            <a:r>
              <a:rPr lang="en-US" sz="2800">
                <a:latin typeface="Times New Roman" pitchFamily="18" charset="0"/>
              </a:rPr>
              <a:t>: about 9 % of the signal magnitude 	        (present even if               )</a:t>
            </a:r>
          </a:p>
        </p:txBody>
      </p:sp>
      <p:graphicFrame>
        <p:nvGraphicFramePr>
          <p:cNvPr id="29703" name="Object 8"/>
          <p:cNvGraphicFramePr>
            <a:graphicFrameLocks noChangeAspect="1"/>
          </p:cNvGraphicFramePr>
          <p:nvPr/>
        </p:nvGraphicFramePr>
        <p:xfrm>
          <a:off x="4830763" y="5686425"/>
          <a:ext cx="1308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07532" imgH="355446" progId="Equation.DSMT4">
                  <p:embed/>
                </p:oleObj>
              </mc:Choice>
              <mc:Fallback>
                <p:oleObj name="Equation" r:id="rId9" imgW="1307532" imgH="355446" progId="Equation.DSMT4">
                  <p:embed/>
                  <p:pic>
                    <p:nvPicPr>
                      <p:cNvPr id="2970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0763" y="5686425"/>
                        <a:ext cx="1308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Rectangle 10"/>
          <p:cNvSpPr>
            <a:spLocks noChangeArrowheads="1"/>
          </p:cNvSpPr>
          <p:nvPr/>
        </p:nvSpPr>
        <p:spPr bwMode="auto">
          <a:xfrm>
            <a:off x="101600" y="79375"/>
            <a:ext cx="89535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1C03D7"/>
                </a:solidFill>
              </a:rPr>
              <a:t>Gibbs Phenomenon – Cont’d</a:t>
            </a:r>
          </a:p>
        </p:txBody>
      </p:sp>
      <p:sp>
        <p:nvSpPr>
          <p:cNvPr id="29705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Example</a:t>
            </a:r>
          </a:p>
        </p:txBody>
      </p:sp>
      <p:sp>
        <p:nvSpPr>
          <p:cNvPr id="30723" name="Text Box 26"/>
          <p:cNvSpPr txBox="1">
            <a:spLocks noChangeArrowheads="1"/>
          </p:cNvSpPr>
          <p:nvPr/>
        </p:nvSpPr>
        <p:spPr bwMode="auto">
          <a:xfrm>
            <a:off x="187325" y="857250"/>
            <a:ext cx="88169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dirty="0">
                <a:solidFill>
                  <a:schemeClr val="tx1"/>
                </a:solidFill>
              </a:rPr>
              <a:t>Find the exponential Fourier Series and sketch the corresponding spectra for the impulse train shown below. From this result sketch the trigonometric spectrum and write the trigonometric Fourier Series.</a:t>
            </a:r>
          </a:p>
        </p:txBody>
      </p:sp>
      <p:sp>
        <p:nvSpPr>
          <p:cNvPr id="30724" name="Line 27"/>
          <p:cNvSpPr>
            <a:spLocks noChangeShapeType="1"/>
          </p:cNvSpPr>
          <p:nvPr/>
        </p:nvSpPr>
        <p:spPr bwMode="auto">
          <a:xfrm>
            <a:off x="5880100" y="4000500"/>
            <a:ext cx="254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28"/>
          <p:cNvSpPr>
            <a:spLocks noChangeShapeType="1"/>
          </p:cNvSpPr>
          <p:nvPr/>
        </p:nvSpPr>
        <p:spPr bwMode="auto">
          <a:xfrm>
            <a:off x="7048500" y="3340100"/>
            <a:ext cx="0" cy="96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29"/>
          <p:cNvSpPr>
            <a:spLocks noChangeShapeType="1"/>
          </p:cNvSpPr>
          <p:nvPr/>
        </p:nvSpPr>
        <p:spPr bwMode="auto">
          <a:xfrm flipV="1">
            <a:off x="6083300" y="35433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30"/>
          <p:cNvSpPr>
            <a:spLocks noChangeShapeType="1"/>
          </p:cNvSpPr>
          <p:nvPr/>
        </p:nvSpPr>
        <p:spPr bwMode="auto">
          <a:xfrm flipV="1">
            <a:off x="6565900" y="35433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33"/>
          <p:cNvSpPr>
            <a:spLocks noChangeShapeType="1"/>
          </p:cNvSpPr>
          <p:nvPr/>
        </p:nvSpPr>
        <p:spPr bwMode="auto">
          <a:xfrm flipV="1">
            <a:off x="7048500" y="35433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35"/>
          <p:cNvSpPr>
            <a:spLocks noChangeShapeType="1"/>
          </p:cNvSpPr>
          <p:nvPr/>
        </p:nvSpPr>
        <p:spPr bwMode="auto">
          <a:xfrm flipV="1">
            <a:off x="7543800" y="35433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37"/>
          <p:cNvSpPr>
            <a:spLocks noChangeShapeType="1"/>
          </p:cNvSpPr>
          <p:nvPr/>
        </p:nvSpPr>
        <p:spPr bwMode="auto">
          <a:xfrm flipV="1">
            <a:off x="8026400" y="35433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Text Box 41"/>
          <p:cNvSpPr txBox="1">
            <a:spLocks noChangeArrowheads="1"/>
          </p:cNvSpPr>
          <p:nvPr/>
        </p:nvSpPr>
        <p:spPr bwMode="auto">
          <a:xfrm>
            <a:off x="7832725" y="3986213"/>
            <a:ext cx="5349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2T</a:t>
            </a:r>
            <a:r>
              <a:rPr lang="en-US" altLang="en-US" sz="1800" b="0" baseline="-250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732" name="Text Box 42"/>
          <p:cNvSpPr txBox="1">
            <a:spLocks noChangeArrowheads="1"/>
          </p:cNvSpPr>
          <p:nvPr/>
        </p:nvSpPr>
        <p:spPr bwMode="auto">
          <a:xfrm>
            <a:off x="7362825" y="3986213"/>
            <a:ext cx="4079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T</a:t>
            </a:r>
            <a:r>
              <a:rPr lang="en-US" altLang="en-US" sz="1800" b="0" baseline="-250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733" name="Text Box 43"/>
          <p:cNvSpPr txBox="1">
            <a:spLocks noChangeArrowheads="1"/>
          </p:cNvSpPr>
          <p:nvPr/>
        </p:nvSpPr>
        <p:spPr bwMode="auto">
          <a:xfrm>
            <a:off x="6334125" y="3986213"/>
            <a:ext cx="484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-T</a:t>
            </a:r>
            <a:r>
              <a:rPr lang="en-US" altLang="en-US" sz="1800" b="0" baseline="-250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734" name="Text Box 44"/>
          <p:cNvSpPr txBox="1">
            <a:spLocks noChangeArrowheads="1"/>
          </p:cNvSpPr>
          <p:nvPr/>
        </p:nvSpPr>
        <p:spPr bwMode="auto">
          <a:xfrm>
            <a:off x="5800725" y="3986213"/>
            <a:ext cx="611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</a:rPr>
              <a:t>-2T</a:t>
            </a:r>
            <a:r>
              <a:rPr lang="en-US" altLang="en-US" sz="1800" b="0" baseline="-250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735" name="Text Box 45"/>
          <p:cNvSpPr txBox="1">
            <a:spLocks noChangeArrowheads="1"/>
          </p:cNvSpPr>
          <p:nvPr/>
        </p:nvSpPr>
        <p:spPr bwMode="auto">
          <a:xfrm>
            <a:off x="339725" y="2746375"/>
            <a:ext cx="165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0" dirty="0">
                <a:solidFill>
                  <a:srgbClr val="1C03D7"/>
                </a:solidFill>
              </a:rPr>
              <a:t>Solution</a:t>
            </a:r>
          </a:p>
        </p:txBody>
      </p:sp>
      <p:graphicFrame>
        <p:nvGraphicFramePr>
          <p:cNvPr id="30736" name="Object 46"/>
          <p:cNvGraphicFramePr>
            <a:graphicFrameLocks noGrp="1" noChangeAspect="1"/>
          </p:cNvGraphicFramePr>
          <p:nvPr>
            <p:ph idx="1"/>
          </p:nvPr>
        </p:nvGraphicFramePr>
        <p:xfrm>
          <a:off x="557213" y="3359150"/>
          <a:ext cx="4002087" cy="345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66900" imgH="1612900" progId="Equation.3">
                  <p:embed/>
                </p:oleObj>
              </mc:Choice>
              <mc:Fallback>
                <p:oleObj name="Equation" r:id="rId3" imgW="1866900" imgH="1612900" progId="Equation.3">
                  <p:embed/>
                  <p:pic>
                    <p:nvPicPr>
                      <p:cNvPr id="30736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3359150"/>
                        <a:ext cx="4002087" cy="345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7" name="Object 48"/>
          <p:cNvGraphicFramePr>
            <a:graphicFrameLocks noChangeAspect="1"/>
          </p:cNvGraphicFramePr>
          <p:nvPr/>
        </p:nvGraphicFramePr>
        <p:xfrm>
          <a:off x="6696075" y="2784475"/>
          <a:ext cx="8159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0835" imgH="241195" progId="Equation.3">
                  <p:embed/>
                </p:oleObj>
              </mc:Choice>
              <mc:Fallback>
                <p:oleObj name="Equation" r:id="rId5" imgW="380835" imgH="241195" progId="Equation.3">
                  <p:embed/>
                  <p:pic>
                    <p:nvPicPr>
                      <p:cNvPr id="30737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2784475"/>
                        <a:ext cx="8159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8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46" name="Object 10"/>
          <p:cNvGraphicFramePr>
            <a:graphicFrameLocks noGrp="1" noChangeAspect="1"/>
          </p:cNvGraphicFramePr>
          <p:nvPr>
            <p:ph idx="1"/>
          </p:nvPr>
        </p:nvGraphicFramePr>
        <p:xfrm>
          <a:off x="165100" y="1371600"/>
          <a:ext cx="4286250" cy="243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01800" imgH="965200" progId="Equation.3">
                  <p:embed/>
                </p:oleObj>
              </mc:Choice>
              <mc:Fallback>
                <p:oleObj name="Equation" r:id="rId3" imgW="1701800" imgH="965200" progId="Equation.3">
                  <p:embed/>
                  <p:pic>
                    <p:nvPicPr>
                      <p:cNvPr id="317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" y="1371600"/>
                        <a:ext cx="4286250" cy="2430463"/>
                      </a:xfrm>
                      <a:prstGeom prst="rect">
                        <a:avLst/>
                      </a:prstGeom>
                      <a:noFill/>
                      <a:ln w="38100" cmpd="sng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13"/>
          <p:cNvSpPr>
            <a:spLocks noChangeArrowheads="1"/>
          </p:cNvSpPr>
          <p:nvPr/>
        </p:nvSpPr>
        <p:spPr bwMode="auto">
          <a:xfrm>
            <a:off x="76200" y="88900"/>
            <a:ext cx="895350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1C03D7"/>
                </a:solidFill>
              </a:rPr>
              <a:t>Relationships between the Coefficients of the Different Forms</a:t>
            </a:r>
          </a:p>
        </p:txBody>
      </p:sp>
      <p:graphicFrame>
        <p:nvGraphicFramePr>
          <p:cNvPr id="31748" name="Object 3"/>
          <p:cNvGraphicFramePr>
            <a:graphicFrameLocks noChangeAspect="1"/>
          </p:cNvGraphicFramePr>
          <p:nvPr/>
        </p:nvGraphicFramePr>
        <p:xfrm>
          <a:off x="92075" y="4003675"/>
          <a:ext cx="4375150" cy="277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03400" imgH="1143000" progId="Equation.3">
                  <p:embed/>
                </p:oleObj>
              </mc:Choice>
              <mc:Fallback>
                <p:oleObj name="Equation" r:id="rId5" imgW="1803400" imgH="1143000" progId="Equation.3">
                  <p:embed/>
                  <p:pic>
                    <p:nvPicPr>
                      <p:cNvPr id="3174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" y="4003675"/>
                        <a:ext cx="4375150" cy="2773363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3"/>
          <p:cNvGraphicFramePr>
            <a:graphicFrameLocks noChangeAspect="1"/>
          </p:cNvGraphicFramePr>
          <p:nvPr/>
        </p:nvGraphicFramePr>
        <p:xfrm>
          <a:off x="5394325" y="1787525"/>
          <a:ext cx="3282950" cy="470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54100" imgH="1511300" progId="Equation.3">
                  <p:embed/>
                </p:oleObj>
              </mc:Choice>
              <mc:Fallback>
                <p:oleObj name="Equation" r:id="rId7" imgW="1054100" imgH="1511300" progId="Equation.3">
                  <p:embed/>
                  <p:pic>
                    <p:nvPicPr>
                      <p:cNvPr id="3174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325" y="1787525"/>
                        <a:ext cx="3282950" cy="47085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838200"/>
            <a:ext cx="8153400" cy="5257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chemeClr val="tx1"/>
                </a:solidFill>
              </a:rPr>
              <a:t>Let </a:t>
            </a:r>
            <a:r>
              <a:rPr lang="en-US" sz="2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>
                <a:solidFill>
                  <a:schemeClr val="tx1"/>
                </a:solidFill>
              </a:rPr>
              <a:t> be a periodic signal with period </a:t>
            </a:r>
            <a:r>
              <a:rPr lang="en-US" sz="2400" i="1" dirty="0">
                <a:solidFill>
                  <a:schemeClr val="tx1"/>
                </a:solidFill>
              </a:rPr>
              <a:t>T</a:t>
            </a:r>
          </a:p>
          <a:p>
            <a:pPr eaLnBrk="1" hangingPunct="1">
              <a:defRPr/>
            </a:pPr>
            <a:r>
              <a:rPr lang="en-US" sz="2400" dirty="0">
                <a:solidFill>
                  <a:schemeClr val="tx1"/>
                </a:solidFill>
              </a:rPr>
              <a:t>The </a:t>
            </a:r>
            <a:r>
              <a:rPr lang="en-US" sz="2400" i="1" dirty="0">
                <a:solidFill>
                  <a:srgbClr val="1C03D7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average power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i="1" dirty="0">
                <a:solidFill>
                  <a:schemeClr val="tx1"/>
                </a:solidFill>
              </a:rPr>
              <a:t>P</a:t>
            </a:r>
            <a:r>
              <a:rPr lang="en-US" sz="2400" dirty="0">
                <a:solidFill>
                  <a:schemeClr val="tx1"/>
                </a:solidFill>
              </a:rPr>
              <a:t> of the signal is defined as</a:t>
            </a:r>
          </a:p>
          <a:p>
            <a:pPr eaLnBrk="1" hangingPunct="1"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en-US" sz="2400" dirty="0">
                <a:solidFill>
                  <a:schemeClr val="tx1"/>
                </a:solidFill>
              </a:rPr>
              <a:t>Expressing the signal as</a:t>
            </a:r>
          </a:p>
          <a:p>
            <a:pPr eaLnBrk="1" hangingPunct="1">
              <a:buFontTx/>
              <a:buNone/>
              <a:defRPr/>
            </a:pPr>
            <a:r>
              <a:rPr lang="en-US" sz="2400" dirty="0">
                <a:solidFill>
                  <a:schemeClr val="tx1"/>
                </a:solidFill>
              </a:rPr>
              <a:t>    </a:t>
            </a:r>
          </a:p>
          <a:p>
            <a:pPr eaLnBrk="1" hangingPunct="1">
              <a:buFontTx/>
              <a:buNone/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eaLnBrk="1" hangingPunct="1">
              <a:buFontTx/>
              <a:buNone/>
              <a:defRPr/>
            </a:pPr>
            <a:r>
              <a:rPr lang="en-US" sz="2400" dirty="0">
                <a:solidFill>
                  <a:schemeClr val="tx1"/>
                </a:solidFill>
              </a:rPr>
              <a:t>	it is also</a:t>
            </a:r>
          </a:p>
        </p:txBody>
      </p:sp>
      <p:graphicFrame>
        <p:nvGraphicFramePr>
          <p:cNvPr id="32771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501900" y="3429000"/>
          <a:ext cx="46513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43100" imgH="431800" progId="Equation.3">
                  <p:embed/>
                </p:oleObj>
              </mc:Choice>
              <mc:Fallback>
                <p:oleObj name="Equation" r:id="rId3" imgW="1943100" imgH="431800" progId="Equation.3">
                  <p:embed/>
                  <p:pic>
                    <p:nvPicPr>
                      <p:cNvPr id="327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429000"/>
                        <a:ext cx="465137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153025" y="4978400"/>
          <a:ext cx="35083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67893" imgH="431613" progId="Equation.3">
                  <p:embed/>
                </p:oleObj>
              </mc:Choice>
              <mc:Fallback>
                <p:oleObj name="Equation" r:id="rId5" imgW="1167893" imgH="431613" progId="Equation.3">
                  <p:embed/>
                  <p:pic>
                    <p:nvPicPr>
                      <p:cNvPr id="3277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3025" y="4978400"/>
                        <a:ext cx="3508375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11"/>
          <p:cNvGraphicFramePr>
            <a:graphicFrameLocks noChangeAspect="1"/>
          </p:cNvGraphicFramePr>
          <p:nvPr/>
        </p:nvGraphicFramePr>
        <p:xfrm>
          <a:off x="436563" y="4926013"/>
          <a:ext cx="380365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31366" imgH="431613" progId="Equation.3">
                  <p:embed/>
                </p:oleObj>
              </mc:Choice>
              <mc:Fallback>
                <p:oleObj name="Equation" r:id="rId7" imgW="1231366" imgH="431613" progId="Equation.3">
                  <p:embed/>
                  <p:pic>
                    <p:nvPicPr>
                      <p:cNvPr id="3277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4926013"/>
                        <a:ext cx="380365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Rectangle 12"/>
          <p:cNvSpPr>
            <a:spLocks noChangeArrowheads="1"/>
          </p:cNvSpPr>
          <p:nvPr/>
        </p:nvSpPr>
        <p:spPr bwMode="auto">
          <a:xfrm>
            <a:off x="114300" y="71438"/>
            <a:ext cx="89535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rgbClr val="1C03D7"/>
                </a:solidFill>
              </a:rPr>
              <a:t>Parseval’s Theorem</a:t>
            </a:r>
          </a:p>
        </p:txBody>
      </p:sp>
      <p:graphicFrame>
        <p:nvGraphicFramePr>
          <p:cNvPr id="32775" name="Object 8"/>
          <p:cNvGraphicFramePr>
            <a:graphicFrameLocks noChangeAspect="1"/>
          </p:cNvGraphicFramePr>
          <p:nvPr/>
        </p:nvGraphicFramePr>
        <p:xfrm>
          <a:off x="2563813" y="1879600"/>
          <a:ext cx="3252787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93800" imgH="393700" progId="Equation.3">
                  <p:embed/>
                </p:oleObj>
              </mc:Choice>
              <mc:Fallback>
                <p:oleObj name="Equation" r:id="rId9" imgW="1193800" imgH="393700" progId="Equation.3">
                  <p:embed/>
                  <p:pic>
                    <p:nvPicPr>
                      <p:cNvPr id="3277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3813" y="1879600"/>
                        <a:ext cx="3252787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" y="107950"/>
            <a:ext cx="8953500" cy="642938"/>
          </a:xfrm>
        </p:spPr>
        <p:txBody>
          <a:bodyPr/>
          <a:lstStyle/>
          <a:p>
            <a:pPr eaLnBrk="1" hangingPunct="1"/>
            <a:r>
              <a:rPr lang="en-US" altLang="en-US" sz="3400"/>
              <a:t>LTIC System Response to Periodic Inputs</a:t>
            </a:r>
          </a:p>
        </p:txBody>
      </p:sp>
      <p:sp>
        <p:nvSpPr>
          <p:cNvPr id="34819" name="Text Box 24"/>
          <p:cNvSpPr txBox="1">
            <a:spLocks noChangeArrowheads="1"/>
          </p:cNvSpPr>
          <p:nvPr/>
        </p:nvSpPr>
        <p:spPr bwMode="auto">
          <a:xfrm>
            <a:off x="3806825" y="1589088"/>
            <a:ext cx="10302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</a:t>
            </a: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4820" name="Rectangle 25"/>
          <p:cNvSpPr>
            <a:spLocks noChangeArrowheads="1"/>
          </p:cNvSpPr>
          <p:nvPr/>
        </p:nvSpPr>
        <p:spPr bwMode="auto">
          <a:xfrm>
            <a:off x="3340100" y="1498600"/>
            <a:ext cx="1892300" cy="107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34821" name="Line 26"/>
          <p:cNvSpPr>
            <a:spLocks noChangeShapeType="1"/>
          </p:cNvSpPr>
          <p:nvPr/>
        </p:nvSpPr>
        <p:spPr bwMode="auto">
          <a:xfrm>
            <a:off x="2730500" y="2095500"/>
            <a:ext cx="596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822" name="Object 27"/>
          <p:cNvGraphicFramePr>
            <a:graphicFrameLocks noGrp="1" noChangeAspect="1"/>
          </p:cNvGraphicFramePr>
          <p:nvPr>
            <p:ph idx="1"/>
          </p:nvPr>
        </p:nvGraphicFramePr>
        <p:xfrm>
          <a:off x="1600200" y="1754188"/>
          <a:ext cx="10033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1973" imgH="203112" progId="Equation.3">
                  <p:embed/>
                </p:oleObj>
              </mc:Choice>
              <mc:Fallback>
                <p:oleObj name="Equation" r:id="rId3" imgW="291973" imgH="203112" progId="Equation.3">
                  <p:embed/>
                  <p:pic>
                    <p:nvPicPr>
                      <p:cNvPr id="3482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754188"/>
                        <a:ext cx="1003300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Line 29"/>
          <p:cNvSpPr>
            <a:spLocks noChangeShapeType="1"/>
          </p:cNvSpPr>
          <p:nvPr/>
        </p:nvSpPr>
        <p:spPr bwMode="auto">
          <a:xfrm>
            <a:off x="5232400" y="2120900"/>
            <a:ext cx="723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824" name="Object 32"/>
          <p:cNvGraphicFramePr>
            <a:graphicFrameLocks noChangeAspect="1"/>
          </p:cNvGraphicFramePr>
          <p:nvPr/>
        </p:nvGraphicFramePr>
        <p:xfrm>
          <a:off x="5992813" y="1817688"/>
          <a:ext cx="1839912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4" imgH="241195" progId="Equation.3">
                  <p:embed/>
                </p:oleObj>
              </mc:Choice>
              <mc:Fallback>
                <p:oleObj name="Equation" r:id="rId5" imgW="774364" imgH="241195" progId="Equation.3">
                  <p:embed/>
                  <p:pic>
                    <p:nvPicPr>
                      <p:cNvPr id="3482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813" y="1817688"/>
                        <a:ext cx="1839912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Text Box 33"/>
          <p:cNvSpPr txBox="1">
            <a:spLocks noChangeArrowheads="1"/>
          </p:cNvSpPr>
          <p:nvPr/>
        </p:nvSpPr>
        <p:spPr bwMode="auto">
          <a:xfrm>
            <a:off x="0" y="279717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A periodic signal </a:t>
            </a: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0">
                <a:solidFill>
                  <a:schemeClr val="tx1"/>
                </a:solidFill>
              </a:rPr>
              <a:t> with period </a:t>
            </a: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i="1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b="0">
                <a:solidFill>
                  <a:schemeClr val="tx1"/>
                </a:solidFill>
              </a:rPr>
              <a:t> can be expressed as</a:t>
            </a:r>
          </a:p>
        </p:txBody>
      </p:sp>
      <p:graphicFrame>
        <p:nvGraphicFramePr>
          <p:cNvPr id="34826" name="Object 34"/>
          <p:cNvGraphicFramePr>
            <a:graphicFrameLocks noChangeAspect="1"/>
          </p:cNvGraphicFramePr>
          <p:nvPr/>
        </p:nvGraphicFramePr>
        <p:xfrm>
          <a:off x="573088" y="3357563"/>
          <a:ext cx="258921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04900" imgH="431800" progId="Equation.3">
                  <p:embed/>
                </p:oleObj>
              </mc:Choice>
              <mc:Fallback>
                <p:oleObj name="Equation" r:id="rId7" imgW="1104900" imgH="431800" progId="Equation.3">
                  <p:embed/>
                  <p:pic>
                    <p:nvPicPr>
                      <p:cNvPr id="3482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3357563"/>
                        <a:ext cx="258921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7" name="Text Box 35"/>
          <p:cNvSpPr txBox="1">
            <a:spLocks noChangeArrowheads="1"/>
          </p:cNvSpPr>
          <p:nvPr/>
        </p:nvSpPr>
        <p:spPr bwMode="auto">
          <a:xfrm>
            <a:off x="200025" y="4281488"/>
            <a:ext cx="321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For a linear system</a:t>
            </a:r>
          </a:p>
        </p:txBody>
      </p:sp>
      <p:sp>
        <p:nvSpPr>
          <p:cNvPr id="34828" name="Text Box 36"/>
          <p:cNvSpPr txBox="1">
            <a:spLocks noChangeArrowheads="1"/>
          </p:cNvSpPr>
          <p:nvPr/>
        </p:nvSpPr>
        <p:spPr bwMode="auto">
          <a:xfrm>
            <a:off x="3438525" y="5246688"/>
            <a:ext cx="10302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</a:t>
            </a:r>
            <a:r>
              <a:rPr lang="en-US" altLang="en-US" sz="2800" b="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altLang="en-US" sz="28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4829" name="Rectangle 37"/>
          <p:cNvSpPr>
            <a:spLocks noChangeArrowheads="1"/>
          </p:cNvSpPr>
          <p:nvPr/>
        </p:nvSpPr>
        <p:spPr bwMode="auto">
          <a:xfrm>
            <a:off x="3149600" y="5156200"/>
            <a:ext cx="1485900" cy="107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34830" name="Line 38"/>
          <p:cNvSpPr>
            <a:spLocks noChangeShapeType="1"/>
          </p:cNvSpPr>
          <p:nvPr/>
        </p:nvSpPr>
        <p:spPr bwMode="auto">
          <a:xfrm>
            <a:off x="2667000" y="5753100"/>
            <a:ext cx="469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1" name="Line 40"/>
          <p:cNvSpPr>
            <a:spLocks noChangeShapeType="1"/>
          </p:cNvSpPr>
          <p:nvPr/>
        </p:nvSpPr>
        <p:spPr bwMode="auto">
          <a:xfrm>
            <a:off x="4648200" y="5740400"/>
            <a:ext cx="41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832" name="Object 42"/>
          <p:cNvGraphicFramePr>
            <a:graphicFrameLocks noChangeAspect="1"/>
          </p:cNvGraphicFramePr>
          <p:nvPr/>
        </p:nvGraphicFramePr>
        <p:xfrm>
          <a:off x="128588" y="5186363"/>
          <a:ext cx="258921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04900" imgH="431800" progId="Equation.3">
                  <p:embed/>
                </p:oleObj>
              </mc:Choice>
              <mc:Fallback>
                <p:oleObj name="Equation" r:id="rId9" imgW="1104900" imgH="431800" progId="Equation.3">
                  <p:embed/>
                  <p:pic>
                    <p:nvPicPr>
                      <p:cNvPr id="34832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8" y="5186363"/>
                        <a:ext cx="258921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3" name="Object 43"/>
          <p:cNvGraphicFramePr>
            <a:graphicFrameLocks noChangeAspect="1"/>
          </p:cNvGraphicFramePr>
          <p:nvPr/>
        </p:nvGraphicFramePr>
        <p:xfrm>
          <a:off x="5122863" y="5199063"/>
          <a:ext cx="395763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88367" imgH="431613" progId="Equation.3">
                  <p:embed/>
                </p:oleObj>
              </mc:Choice>
              <mc:Fallback>
                <p:oleObj name="Equation" r:id="rId10" imgW="1688367" imgH="431613" progId="Equation.3">
                  <p:embed/>
                  <p:pic>
                    <p:nvPicPr>
                      <p:cNvPr id="34833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863" y="5199063"/>
                        <a:ext cx="3957637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4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" y="76200"/>
            <a:ext cx="9093200" cy="631825"/>
          </a:xfrm>
        </p:spPr>
        <p:txBody>
          <a:bodyPr/>
          <a:lstStyle/>
          <a:p>
            <a:pPr eaLnBrk="1" hangingPunct="1"/>
            <a:r>
              <a:rPr lang="en-US" altLang="en-US" sz="3300"/>
              <a:t>Fourier Series Analysis of DC Power Supply</a:t>
            </a:r>
          </a:p>
        </p:txBody>
      </p:sp>
      <p:sp>
        <p:nvSpPr>
          <p:cNvPr id="35843" name="Text Box 9"/>
          <p:cNvSpPr txBox="1">
            <a:spLocks noChangeArrowheads="1"/>
          </p:cNvSpPr>
          <p:nvPr/>
        </p:nvSpPr>
        <p:spPr bwMode="auto">
          <a:xfrm>
            <a:off x="50800" y="1450975"/>
            <a:ext cx="8953500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0" dirty="0">
                <a:solidFill>
                  <a:schemeClr val="tx1"/>
                </a:solidFill>
              </a:rPr>
              <a:t>A full-wave rectifier is used to obtain a dc signal from a sinusoid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800" b="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0" dirty="0">
                <a:solidFill>
                  <a:schemeClr val="tx1"/>
                </a:solidFill>
              </a:rPr>
              <a:t>. The rectified signal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0" dirty="0">
                <a:solidFill>
                  <a:schemeClr val="tx1"/>
                </a:solidFill>
              </a:rPr>
              <a:t>is applied to the input of a </a:t>
            </a:r>
            <a:r>
              <a:rPr lang="en-US" altLang="en-US" sz="2800" b="0" dirty="0" err="1">
                <a:solidFill>
                  <a:schemeClr val="tx1"/>
                </a:solidFill>
              </a:rPr>
              <a:t>lowpass</a:t>
            </a:r>
            <a:r>
              <a:rPr lang="en-US" altLang="en-US" sz="2800" b="0" dirty="0">
                <a:solidFill>
                  <a:schemeClr val="tx1"/>
                </a:solidFill>
              </a:rPr>
              <a:t> RC filter, which suppress the time-varying component and yields a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r>
              <a:rPr lang="en-US" altLang="en-US" sz="2800" b="0" dirty="0">
                <a:solidFill>
                  <a:schemeClr val="tx1"/>
                </a:solidFill>
              </a:rPr>
              <a:t> component with some residual ripple. Find the filter output 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 b="0" dirty="0">
                <a:solidFill>
                  <a:schemeClr val="tx1"/>
                </a:solidFill>
              </a:rPr>
              <a:t>. Find also the dc output and the </a:t>
            </a:r>
            <a:r>
              <a:rPr lang="en-US" altLang="en-US" sz="2800" b="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</a:t>
            </a:r>
            <a:r>
              <a:rPr lang="en-US" altLang="en-US" sz="2800" b="0" dirty="0">
                <a:solidFill>
                  <a:schemeClr val="tx1"/>
                </a:solidFill>
              </a:rPr>
              <a:t> value of the ripple voltage.</a:t>
            </a:r>
          </a:p>
        </p:txBody>
      </p:sp>
      <p:sp>
        <p:nvSpPr>
          <p:cNvPr id="35871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5830692"/>
            <a:ext cx="4211371" cy="5651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FF3ED8-6151-4847-888F-95F66D61E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323" y="4156374"/>
            <a:ext cx="5553977" cy="1814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75B14D-BFE3-4D7D-8C46-7D11CE9C0C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1365" y="5943456"/>
            <a:ext cx="3072417" cy="87687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6866" name="Object 41"/>
              <p:cNvSpPr txBox="1"/>
              <p:nvPr/>
            </p:nvSpPr>
            <p:spPr bwMode="auto">
              <a:xfrm>
                <a:off x="5361622" y="1796414"/>
                <a:ext cx="3712210" cy="37093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𝑟𝑖𝑝𝑝𝑙𝑒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(1−4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𝑟𝑖𝑝𝑝𝑙𝑒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=0.0025</m:t>
                    </m:r>
                  </m:oMath>
                </a14:m>
                <a: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for </a:t>
                </a:r>
                <a:r>
                  <a:rPr lang="el-GR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ω</a:t>
                </a:r>
                <a:r>
                  <a:rPr lang="en-US" baseline="-250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0</a:t>
                </a:r>
                <a:r>
                  <a:rPr lang="en-US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= 2</a:t>
                </a:r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ripple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rms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𝑟𝑖𝑝𝑝𝑙𝑒</m:t>
                              </m:r>
                            </m:sub>
                          </m:sSub>
                        </m:e>
                      </m:ra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866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61622" y="1796414"/>
                <a:ext cx="3712210" cy="3709353"/>
              </a:xfrm>
              <a:prstGeom prst="rect">
                <a:avLst/>
              </a:prstGeom>
              <a:blipFill>
                <a:blip r:embed="rId3"/>
                <a:stretch>
                  <a:fillRect l="-8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67" name="Text Box 43"/>
          <p:cNvSpPr txBox="1">
            <a:spLocks noChangeArrowheads="1"/>
          </p:cNvSpPr>
          <p:nvPr/>
        </p:nvSpPr>
        <p:spPr bwMode="auto">
          <a:xfrm>
            <a:off x="5416550" y="5505770"/>
            <a:ext cx="32686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0" dirty="0">
                <a:solidFill>
                  <a:schemeClr val="tx1"/>
                </a:solidFill>
              </a:rPr>
              <a:t>Ripple  </a:t>
            </a:r>
            <a:r>
              <a:rPr lang="en-US" altLang="en-US" sz="2400" b="0" dirty="0" err="1">
                <a:solidFill>
                  <a:schemeClr val="tx1"/>
                </a:solidFill>
              </a:rPr>
              <a:t>rms</a:t>
            </a:r>
            <a:r>
              <a:rPr lang="en-US" altLang="en-US" sz="2400" b="0" dirty="0">
                <a:solidFill>
                  <a:schemeClr val="tx1"/>
                </a:solidFill>
              </a:rPr>
              <a:t> is only 5% of the input amplitude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68" name="Object 44"/>
              <p:cNvSpPr txBox="1"/>
              <p:nvPr/>
            </p:nvSpPr>
            <p:spPr bwMode="auto">
              <a:xfrm>
                <a:off x="5350511" y="1143955"/>
                <a:ext cx="3712210" cy="557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=2/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=4/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868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50511" y="1143955"/>
                <a:ext cx="3712210" cy="5572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869" name="Object 45"/>
              <p:cNvSpPr txBox="1"/>
              <p:nvPr/>
            </p:nvSpPr>
            <p:spPr bwMode="auto">
              <a:xfrm>
                <a:off x="25399" y="912812"/>
                <a:ext cx="5339081" cy="5528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(1−4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(1−4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𝑗𝑛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𝑗𝑛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br>
                  <a:rPr 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(1−4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𝑗𝑛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869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99" y="912812"/>
                <a:ext cx="5339081" cy="55286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70" name="Line 46"/>
          <p:cNvSpPr>
            <a:spLocks noChangeShapeType="1"/>
          </p:cNvSpPr>
          <p:nvPr/>
        </p:nvSpPr>
        <p:spPr bwMode="auto">
          <a:xfrm>
            <a:off x="5330348" y="1249680"/>
            <a:ext cx="12700" cy="4940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00" y="76200"/>
            <a:ext cx="909320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3300" kern="0"/>
              <a:t>Fourier Series Analysis of DC Power Supply</a:t>
            </a:r>
            <a:endParaRPr lang="en-US" altLang="en-US" sz="3300" kern="0" dirty="0"/>
          </a:p>
        </p:txBody>
      </p:sp>
      <p:sp>
        <p:nvSpPr>
          <p:cNvPr id="36872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6"/>
          <p:cNvSpPr txBox="1">
            <a:spLocks noChangeArrowheads="1"/>
          </p:cNvSpPr>
          <p:nvPr/>
        </p:nvSpPr>
        <p:spPr bwMode="auto">
          <a:xfrm>
            <a:off x="250825" y="976313"/>
            <a:ext cx="8610600" cy="588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clear all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t=0:1/1000:3*pi;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for i=1:100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    n=i;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    yp=(2*exp(j*2*n*t))/(pi*(1-4*n^2)*(j*6*n+1));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    n=-i;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    yn=(2*exp(j*2*n*t))/(pi*(1-4*n^2)*(j*6*n+1));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    y(i,:)=yp+yn;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yf = 2/pi + sum(y);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plot(t,yf, t, (2/pi)*ones(1,length(yf)))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axis([0 3*pi 0 1]);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Power=0;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for n=1:50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    Power(n) = abs(2/(pi*(1-4*n^2)*(j*6*n+1)));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TotalPower = 2*sum((Power.^2));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figure; stem( Power(1,1:20));</a:t>
            </a:r>
          </a:p>
        </p:txBody>
      </p:sp>
      <p:sp>
        <p:nvSpPr>
          <p:cNvPr id="37891" name="Text Box 7"/>
          <p:cNvSpPr txBox="1">
            <a:spLocks noChangeArrowheads="1"/>
          </p:cNvSpPr>
          <p:nvPr/>
        </p:nvSpPr>
        <p:spPr bwMode="auto">
          <a:xfrm>
            <a:off x="6334125" y="2289175"/>
            <a:ext cx="2809875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rgbClr val="1C03D7"/>
                </a:solidFill>
              </a:rPr>
              <a:t>This Matlab code will plot y(t) for -100 </a:t>
            </a:r>
            <a:r>
              <a:rPr lang="en-US" altLang="en-US" sz="2000" b="0">
                <a:solidFill>
                  <a:srgbClr val="1C03D7"/>
                </a:solidFill>
                <a:sym typeface="Symbol" panose="05050102010706020507" pitchFamily="18" charset="2"/>
              </a:rPr>
              <a:t> n  1</a:t>
            </a:r>
            <a:r>
              <a:rPr lang="en-US" altLang="en-US" sz="2000" b="0">
                <a:solidFill>
                  <a:srgbClr val="1C03D7"/>
                </a:solidFill>
              </a:rPr>
              <a:t>00 and find the ripple power according to the equations below</a:t>
            </a:r>
          </a:p>
        </p:txBody>
      </p:sp>
      <p:graphicFrame>
        <p:nvGraphicFramePr>
          <p:cNvPr id="37892" name="Object 8"/>
          <p:cNvGraphicFramePr>
            <a:graphicFrameLocks noChangeAspect="1"/>
          </p:cNvGraphicFramePr>
          <p:nvPr/>
        </p:nvGraphicFramePr>
        <p:xfrm>
          <a:off x="5132388" y="3802063"/>
          <a:ext cx="4011612" cy="167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33600" imgH="889000" progId="Equation.3">
                  <p:embed/>
                </p:oleObj>
              </mc:Choice>
              <mc:Fallback>
                <p:oleObj name="Equation" r:id="rId3" imgW="2133600" imgH="889000" progId="Equation.3">
                  <p:embed/>
                  <p:pic>
                    <p:nvPicPr>
                      <p:cNvPr id="378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388" y="3802063"/>
                        <a:ext cx="4011612" cy="167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00" y="76200"/>
            <a:ext cx="9093200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C03D7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3300" kern="0"/>
              <a:t>Fourier Series Analysis of DC Power Supply</a:t>
            </a:r>
            <a:endParaRPr lang="en-US" altLang="en-US" sz="3300" kern="0" dirty="0"/>
          </a:p>
        </p:txBody>
      </p:sp>
      <p:sp>
        <p:nvSpPr>
          <p:cNvPr id="37894" name="Line 10"/>
          <p:cNvSpPr>
            <a:spLocks noChangeShapeType="1"/>
          </p:cNvSpPr>
          <p:nvPr/>
        </p:nvSpPr>
        <p:spPr bwMode="auto">
          <a:xfrm>
            <a:off x="0" y="817563"/>
            <a:ext cx="9144000" cy="0"/>
          </a:xfrm>
          <a:prstGeom prst="line">
            <a:avLst/>
          </a:prstGeom>
          <a:noFill/>
          <a:ln w="7620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2903</TotalTime>
  <Words>1828</Words>
  <Application>Microsoft Office PowerPoint</Application>
  <PresentationFormat>On-screen Show (4:3)</PresentationFormat>
  <Paragraphs>300</Paragraphs>
  <Slides>35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Cambria Math</vt:lpstr>
      <vt:lpstr>Comic Sans MS</vt:lpstr>
      <vt:lpstr>Symbol</vt:lpstr>
      <vt:lpstr>Times New Roman</vt:lpstr>
      <vt:lpstr>Crayons</vt:lpstr>
      <vt:lpstr>Equation</vt:lpstr>
      <vt:lpstr>PowerPoint Presentation</vt:lpstr>
      <vt:lpstr>Outline</vt:lpstr>
      <vt:lpstr>Sinusoidal Wave and phase</vt:lpstr>
      <vt:lpstr>Representation of Quantity using Basis</vt:lpstr>
      <vt:lpstr>Basis Functions for Time Signal</vt:lpstr>
      <vt:lpstr>PowerPoint Presentation</vt:lpstr>
      <vt:lpstr>Purpose of the Fourier Series (FS)</vt:lpstr>
      <vt:lpstr>The Three forms of Fourier Series</vt:lpstr>
      <vt:lpstr>Trigonometric Form</vt:lpstr>
      <vt:lpstr>Trigonometric Form</vt:lpstr>
      <vt:lpstr>Trigonometric Form</vt:lpstr>
      <vt:lpstr>Example</vt:lpstr>
      <vt:lpstr>Simplifications Through Signal Symmetry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Compact Trigonometric</vt:lpstr>
      <vt:lpstr>PowerPoint Presentation</vt:lpstr>
      <vt:lpstr>Line Spectra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LTIC System Response to Periodic Inputs</vt:lpstr>
      <vt:lpstr>Fourier Series Analysis of DC Power Supply</vt:lpstr>
      <vt:lpstr>PowerPoint Presentation</vt:lpstr>
      <vt:lpstr>PowerPoint Presentation</vt:lpstr>
    </vt:vector>
  </TitlesOfParts>
  <Company>UAE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 360: Signals and Systems</dc:title>
  <dc:creator>Valued Person</dc:creator>
  <cp:lastModifiedBy>Mohamed Bingabr</cp:lastModifiedBy>
  <cp:revision>190</cp:revision>
  <cp:lastPrinted>2020-03-25T20:59:31Z</cp:lastPrinted>
  <dcterms:created xsi:type="dcterms:W3CDTF">2004-08-21T10:04:46Z</dcterms:created>
  <dcterms:modified xsi:type="dcterms:W3CDTF">2022-04-15T04:03:44Z</dcterms:modified>
</cp:coreProperties>
</file>